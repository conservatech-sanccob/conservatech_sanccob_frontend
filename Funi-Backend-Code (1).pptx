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2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837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Four areas: signing in, security, self-service, admin + delivery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Middleware order matters: CORS, then authentication, then authorization
- Hub and controllers come last
- Stack: .NET 8, EF Core, JWT, Azure email, SignalR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Controller -&gt; service -&gt; repository -&gt; database
- Exceptions mapped to status codes
- Identity always from JWT claims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Look up by email
- Same vague error for both failures
- Hash comparison with PasswordHasher
- Unactivated accounts refused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Admin invites with a code, no password
- Code emailed (48 h)
- Volunteer sets their own password, hashed
- Code cleared: single 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[PasswordComplexity] on the DTO
- 8+ chars, upper, lower, digit
- 400 before the service runs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Header.payload.signature
- Claims: id, role, jti, name, email
- 8-hour lifetime, HMAC-SHA256, key in config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JWTs can't be deleted, so logout stores the jti
- Expiry matches the token
- Honest: the check needs the two event handlers merged to run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No password from the admin
- 6-digit code instead
- Emailed by Azure Communication Services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- 21 valid slots
- One invalid slot rejects the whole request
- Then replace the whole 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Six gates: exists, room, skills, 40h, 5 days, 4 in a row
- Each failure has a clear message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Approve -&gt; assignment Vacant (soft delete)
- Notify volunteer, qualified volunteers, admins live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·  ACCOUNTS, SECURITY AND BOOKINGS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7830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926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API signs people in, keeps accounts secure, and lets volunteers manage their own shifts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3A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ASP.NET Core 8  ·  EF Core 8  ·  PostgreSQL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10A732-C038-11F0-ED61-E75902E62674}"/>
              </a:ext>
            </a:extLst>
          </p:cNvPr>
          <p:cNvSpPr txBox="1"/>
          <p:nvPr/>
        </p:nvSpPr>
        <p:spPr>
          <a:xfrm>
            <a:off x="650810" y="4316151"/>
            <a:ext cx="6172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FUNI MAPUNDA (ST10438308)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D3C6"/>
          </a:solidFill>
          <a:ln w="12700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I set for the whole project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567864" cy="91440"/>
          </a:xfrm>
          <a:prstGeom prst="rect">
            <a:avLst/>
          </a:prstGeom>
          <a:solidFill>
            <a:srgbClr val="5ED3C6"/>
          </a:solidFill>
          <a:ln w="12700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 txBox="1"/>
          <p:nvPr/>
        </p:nvSpPr>
        <p:spPr>
          <a:xfrm>
            <a:off x="822960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2156384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834" y="2137410"/>
            <a:ext cx="342900" cy="3429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API, not two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mobile app and the admin dashboard both talk to one ASP.NET Core API, I decided early that duplicating business rules across two backends wasn't worth the risk.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90824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9"/>
          <p:cNvSpPr/>
          <p:nvPr/>
        </p:nvSpPr>
        <p:spPr>
          <a:xfrm>
            <a:off x="3390824" y="1600200"/>
            <a:ext cx="2567864" cy="91440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0"/>
          <p:cNvSpPr txBox="1"/>
          <p:nvPr/>
        </p:nvSpPr>
        <p:spPr>
          <a:xfrm>
            <a:off x="3665144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Shape 11"/>
          <p:cNvSpPr/>
          <p:nvPr/>
        </p:nvSpPr>
        <p:spPr>
          <a:xfrm>
            <a:off x="4998568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018" y="2137410"/>
            <a:ext cx="342900" cy="3429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665144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tiers, one direction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call the API; the API is the only thing that ever touches the database. No client queries Postgres directly.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33008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4"/>
          <p:cNvSpPr/>
          <p:nvPr/>
        </p:nvSpPr>
        <p:spPr>
          <a:xfrm>
            <a:off x="6233008" y="1600200"/>
            <a:ext cx="2567864" cy="91440"/>
          </a:xfrm>
          <a:prstGeom prst="rect">
            <a:avLst/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5"/>
          <p:cNvSpPr txBox="1"/>
          <p:nvPr/>
        </p:nvSpPr>
        <p:spPr>
          <a:xfrm>
            <a:off x="6507328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F07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20" name="Shape 16"/>
          <p:cNvSpPr/>
          <p:nvPr/>
        </p:nvSpPr>
        <p:spPr>
          <a:xfrm>
            <a:off x="7840751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201" y="2137410"/>
            <a:ext cx="342900" cy="3429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07328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from day one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Controllers, services, repositories, a pattern I set before the first endpoint existed, so every feature since has followed the same shape.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9075191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Shape 19"/>
          <p:cNvSpPr/>
          <p:nvPr/>
        </p:nvSpPr>
        <p:spPr>
          <a:xfrm>
            <a:off x="9075191" y="1600200"/>
            <a:ext cx="2567864" cy="91440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0"/>
          <p:cNvSpPr txBox="1"/>
          <p:nvPr/>
        </p:nvSpPr>
        <p:spPr>
          <a:xfrm>
            <a:off x="9349511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26" name="Shape 21"/>
          <p:cNvSpPr/>
          <p:nvPr/>
        </p:nvSpPr>
        <p:spPr>
          <a:xfrm>
            <a:off x="10682935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4385" y="2137410"/>
            <a:ext cx="342900" cy="3429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349511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Azure, not Vercel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has no .NET runtime. The API needed a host that actually runs ASP.NET Core, so it's on Azure App Service while the dashboard stays on Vercel.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D3C6"/>
          </a:solidFill>
          <a:ln w="12700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part of the API does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567864" cy="91440"/>
          </a:xfrm>
          <a:prstGeom prst="rect">
            <a:avLst/>
          </a:prstGeom>
          <a:solidFill>
            <a:srgbClr val="5ED3C6"/>
          </a:solidFill>
          <a:ln w="12700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 txBox="1"/>
          <p:nvPr/>
        </p:nvSpPr>
        <p:spPr>
          <a:xfrm>
            <a:off x="822960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2156384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834" y="2137410"/>
            <a:ext cx="342900" cy="3429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in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account activation and strong password rules.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90824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9"/>
          <p:cNvSpPr/>
          <p:nvPr/>
        </p:nvSpPr>
        <p:spPr>
          <a:xfrm>
            <a:off x="3390824" y="1600200"/>
            <a:ext cx="2567864" cy="91440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0"/>
          <p:cNvSpPr txBox="1"/>
          <p:nvPr/>
        </p:nvSpPr>
        <p:spPr>
          <a:xfrm>
            <a:off x="3665144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Shape 11"/>
          <p:cNvSpPr/>
          <p:nvPr/>
        </p:nvSpPr>
        <p:spPr>
          <a:xfrm>
            <a:off x="4998568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0018" y="2137410"/>
            <a:ext cx="342900" cy="3429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665144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JWTs, logging out, and the request pipeline.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33008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4"/>
          <p:cNvSpPr/>
          <p:nvPr/>
        </p:nvSpPr>
        <p:spPr>
          <a:xfrm>
            <a:off x="6233008" y="1600200"/>
            <a:ext cx="2567864" cy="91440"/>
          </a:xfrm>
          <a:prstGeom prst="rect">
            <a:avLst/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5"/>
          <p:cNvSpPr txBox="1"/>
          <p:nvPr/>
        </p:nvSpPr>
        <p:spPr>
          <a:xfrm>
            <a:off x="6507328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F07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20" name="Shape 16"/>
          <p:cNvSpPr/>
          <p:nvPr/>
        </p:nvSpPr>
        <p:spPr>
          <a:xfrm>
            <a:off x="7840751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2201" y="2137410"/>
            <a:ext cx="342900" cy="3429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07328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self-service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Availability, booking rules and cancellations.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9075191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Shape 19"/>
          <p:cNvSpPr/>
          <p:nvPr/>
        </p:nvSpPr>
        <p:spPr>
          <a:xfrm>
            <a:off x="9075191" y="1600200"/>
            <a:ext cx="2567864" cy="91440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0"/>
          <p:cNvSpPr txBox="1"/>
          <p:nvPr/>
        </p:nvSpPr>
        <p:spPr>
          <a:xfrm>
            <a:off x="9349511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26" name="Shape 21"/>
          <p:cNvSpPr/>
          <p:nvPr/>
        </p:nvSpPr>
        <p:spPr>
          <a:xfrm>
            <a:off x="10682935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4385" y="2137410"/>
            <a:ext cx="342900" cy="3429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349511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tools and delivery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volunteers, live alerts, and CI/CD to Azure.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6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9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2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AA9E6"/>
          </a:solidFill>
          <a:ln w="12700">
            <a:solidFill>
              <a:srgbClr val="5AA9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AA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passes the same checks, in order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949440" cy="640080"/>
          </a:xfrm>
          <a:prstGeom prst="roundRect">
            <a:avLst>
              <a:gd name="adj" fmla="val 1428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713232" y="1627632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 txBox="1"/>
          <p:nvPr/>
        </p:nvSpPr>
        <p:spPr>
          <a:xfrm>
            <a:off x="713232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88720" y="1581912"/>
            <a:ext cx="4572000" cy="422148"/>
          </a:xfrm>
          <a:prstGeom prst="roundRect">
            <a:avLst>
              <a:gd name="adj" fmla="val 12996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 txBox="1"/>
          <p:nvPr/>
        </p:nvSpPr>
        <p:spPr>
          <a:xfrm>
            <a:off x="1353312" y="1581912"/>
            <a:ext cx="4297680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UseHttpsRedirection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14630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HTTPS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2103120"/>
            <a:ext cx="914" cy="146304"/>
          </a:xfrm>
          <a:prstGeom prst="line">
            <a:avLst/>
          </a:prstGeom>
          <a:noFill/>
          <a:ln w="19050">
            <a:solidFill>
              <a:srgbClr val="5AA9E6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548640" y="2249424"/>
            <a:ext cx="6949440" cy="640080"/>
          </a:xfrm>
          <a:prstGeom prst="roundRect">
            <a:avLst>
              <a:gd name="adj" fmla="val 1428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713232" y="2414016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 txBox="1"/>
          <p:nvPr/>
        </p:nvSpPr>
        <p:spPr>
          <a:xfrm>
            <a:off x="713232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88720" y="2368296"/>
            <a:ext cx="4572000" cy="422148"/>
          </a:xfrm>
          <a:prstGeom prst="roundRect">
            <a:avLst>
              <a:gd name="adj" fmla="val 12996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 txBox="1"/>
          <p:nvPr/>
        </p:nvSpPr>
        <p:spPr>
          <a:xfrm>
            <a:off x="1353312" y="2368296"/>
            <a:ext cx="4297680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UseCors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"FrontendPolicy"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897880" y="2249424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our web app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2889504"/>
            <a:ext cx="914" cy="146304"/>
          </a:xfrm>
          <a:prstGeom prst="line">
            <a:avLst/>
          </a:prstGeom>
          <a:noFill/>
          <a:ln w="19050">
            <a:solidFill>
              <a:srgbClr val="5AA9E6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548640" y="3035808"/>
            <a:ext cx="6949440" cy="640080"/>
          </a:xfrm>
          <a:prstGeom prst="roundRect">
            <a:avLst>
              <a:gd name="adj" fmla="val 14286"/>
            </a:avLst>
          </a:prstGeom>
          <a:solidFill>
            <a:srgbClr val="1A3D63"/>
          </a:solidFill>
          <a:ln w="15875">
            <a:solidFill>
              <a:srgbClr val="5AA9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713232" y="3200400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 txBox="1"/>
          <p:nvPr/>
        </p:nvSpPr>
        <p:spPr>
          <a:xfrm>
            <a:off x="713232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188720" y="3154680"/>
            <a:ext cx="4572000" cy="422148"/>
          </a:xfrm>
          <a:prstGeom prst="roundRect">
            <a:avLst>
              <a:gd name="adj" fmla="val 12996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 txBox="1"/>
          <p:nvPr/>
        </p:nvSpPr>
        <p:spPr>
          <a:xfrm>
            <a:off x="1353312" y="3154680"/>
            <a:ext cx="4297680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UseAuthentication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897880" y="303580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you?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68680" y="3675888"/>
            <a:ext cx="914" cy="146304"/>
          </a:xfrm>
          <a:prstGeom prst="line">
            <a:avLst/>
          </a:prstGeom>
          <a:noFill/>
          <a:ln w="19050">
            <a:solidFill>
              <a:srgbClr val="5AA9E6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548640" y="3822192"/>
            <a:ext cx="6949440" cy="640080"/>
          </a:xfrm>
          <a:prstGeom prst="roundRect">
            <a:avLst>
              <a:gd name="adj" fmla="val 14286"/>
            </a:avLst>
          </a:prstGeom>
          <a:solidFill>
            <a:srgbClr val="1A3D63"/>
          </a:solidFill>
          <a:ln w="15875">
            <a:solidFill>
              <a:srgbClr val="5AA9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713232" y="3986784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 txBox="1"/>
          <p:nvPr/>
        </p:nvSpPr>
        <p:spPr>
          <a:xfrm>
            <a:off x="713232" y="3986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188720" y="3941064"/>
            <a:ext cx="4572000" cy="422148"/>
          </a:xfrm>
          <a:prstGeom prst="roundRect">
            <a:avLst>
              <a:gd name="adj" fmla="val 12996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 txBox="1"/>
          <p:nvPr/>
        </p:nvSpPr>
        <p:spPr>
          <a:xfrm>
            <a:off x="1353312" y="3941064"/>
            <a:ext cx="4297680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UseAuthorization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897880" y="382219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allowed?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68680" y="4462272"/>
            <a:ext cx="914" cy="146304"/>
          </a:xfrm>
          <a:prstGeom prst="line">
            <a:avLst/>
          </a:prstGeom>
          <a:noFill/>
          <a:ln w="19050">
            <a:solidFill>
              <a:srgbClr val="5AA9E6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33" name="Shape 31"/>
          <p:cNvSpPr/>
          <p:nvPr/>
        </p:nvSpPr>
        <p:spPr>
          <a:xfrm>
            <a:off x="548640" y="4608576"/>
            <a:ext cx="6949440" cy="640080"/>
          </a:xfrm>
          <a:prstGeom prst="roundRect">
            <a:avLst>
              <a:gd name="adj" fmla="val 1428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Shape 32"/>
          <p:cNvSpPr/>
          <p:nvPr/>
        </p:nvSpPr>
        <p:spPr>
          <a:xfrm>
            <a:off x="713232" y="4773168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 txBox="1"/>
          <p:nvPr/>
        </p:nvSpPr>
        <p:spPr>
          <a:xfrm>
            <a:off x="713232" y="4773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188720" y="4727448"/>
            <a:ext cx="4572000" cy="375209"/>
          </a:xfrm>
          <a:prstGeom prst="roundRect">
            <a:avLst>
              <a:gd name="adj" fmla="val 14622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 txBox="1"/>
          <p:nvPr/>
        </p:nvSpPr>
        <p:spPr>
          <a:xfrm>
            <a:off x="1353312" y="4727448"/>
            <a:ext cx="4297680" cy="375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r>
              <a:rPr lang="en-US" sz="8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82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MapHub</a:t>
            </a:r>
            <a:r>
              <a:rPr lang="en-US" sz="8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82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AdminNotificationHub</a:t>
            </a:r>
            <a:r>
              <a:rPr lang="en-US" sz="8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r>
              <a:rPr lang="en-US" sz="82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"/hubs/admin-notifications"</a:t>
            </a:r>
            <a:r>
              <a:rPr lang="en-US" sz="82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20" dirty="0"/>
          </a:p>
        </p:txBody>
      </p:sp>
      <p:sp>
        <p:nvSpPr>
          <p:cNvPr id="38" name="Text 36"/>
          <p:cNvSpPr txBox="1"/>
          <p:nvPr/>
        </p:nvSpPr>
        <p:spPr>
          <a:xfrm>
            <a:off x="5897880" y="4608576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admin alerts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68680" y="5248656"/>
            <a:ext cx="914" cy="146304"/>
          </a:xfrm>
          <a:prstGeom prst="line">
            <a:avLst/>
          </a:prstGeom>
          <a:noFill/>
          <a:ln w="19050">
            <a:solidFill>
              <a:srgbClr val="5AA9E6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40" name="Shape 38"/>
          <p:cNvSpPr/>
          <p:nvPr/>
        </p:nvSpPr>
        <p:spPr>
          <a:xfrm>
            <a:off x="548640" y="5394960"/>
            <a:ext cx="6949440" cy="640080"/>
          </a:xfrm>
          <a:prstGeom prst="roundRect">
            <a:avLst>
              <a:gd name="adj" fmla="val 1428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Shape 39"/>
          <p:cNvSpPr/>
          <p:nvPr/>
        </p:nvSpPr>
        <p:spPr>
          <a:xfrm>
            <a:off x="713232" y="5559552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 txBox="1"/>
          <p:nvPr/>
        </p:nvSpPr>
        <p:spPr>
          <a:xfrm>
            <a:off x="713232" y="5559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188720" y="5513832"/>
            <a:ext cx="4572000" cy="422148"/>
          </a:xfrm>
          <a:prstGeom prst="roundRect">
            <a:avLst>
              <a:gd name="adj" fmla="val 12996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4" name="Text 42"/>
          <p:cNvSpPr txBox="1"/>
          <p:nvPr/>
        </p:nvSpPr>
        <p:spPr>
          <a:xfrm>
            <a:off x="1353312" y="5513832"/>
            <a:ext cx="4297680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MapControllers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897880" y="53949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endpoint runs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2636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Program.cs, in this order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818120" y="1463040"/>
            <a:ext cx="3822192" cy="1078992"/>
          </a:xfrm>
          <a:prstGeom prst="roundRect">
            <a:avLst>
              <a:gd name="adj" fmla="val 8475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8" name="Shape 46"/>
          <p:cNvSpPr/>
          <p:nvPr/>
        </p:nvSpPr>
        <p:spPr>
          <a:xfrm>
            <a:off x="7973568" y="1709928"/>
            <a:ext cx="566928" cy="566928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4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1851660"/>
            <a:ext cx="283464" cy="283464"/>
          </a:xfrm>
          <a:prstGeom prst="rect">
            <a:avLst/>
          </a:prstGeom>
        </p:spPr>
      </p:pic>
      <p:sp>
        <p:nvSpPr>
          <p:cNvPr id="50" name="Text 47"/>
          <p:cNvSpPr txBox="1"/>
          <p:nvPr/>
        </p:nvSpPr>
        <p:spPr>
          <a:xfrm>
            <a:off x="8686800" y="157276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Web API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Controllers, services and repositories, wired up with dependency injection.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7818120" y="2679192"/>
            <a:ext cx="3822192" cy="1078992"/>
          </a:xfrm>
          <a:prstGeom prst="roundRect">
            <a:avLst>
              <a:gd name="adj" fmla="val 8475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2" name="Shape 49"/>
          <p:cNvSpPr/>
          <p:nvPr/>
        </p:nvSpPr>
        <p:spPr>
          <a:xfrm>
            <a:off x="7973568" y="2926080"/>
            <a:ext cx="566928" cy="566928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5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0" y="3067812"/>
            <a:ext cx="283464" cy="283464"/>
          </a:xfrm>
          <a:prstGeom prst="rect">
            <a:avLst/>
          </a:prstGeom>
        </p:spPr>
      </p:pic>
      <p:sp>
        <p:nvSpPr>
          <p:cNvPr id="54" name="Text 50"/>
          <p:cNvSpPr txBox="1"/>
          <p:nvPr/>
        </p:nvSpPr>
        <p:spPr>
          <a:xfrm>
            <a:off x="8686800" y="27889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8 + Npgsql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queries to PostgreSQL. No raw SQL anywhere.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7818120" y="3895344"/>
            <a:ext cx="3822192" cy="1078992"/>
          </a:xfrm>
          <a:prstGeom prst="roundRect">
            <a:avLst>
              <a:gd name="adj" fmla="val 8475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6" name="Shape 52"/>
          <p:cNvSpPr/>
          <p:nvPr/>
        </p:nvSpPr>
        <p:spPr>
          <a:xfrm>
            <a:off x="7973568" y="4142232"/>
            <a:ext cx="566928" cy="566928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5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0" y="4283964"/>
            <a:ext cx="283464" cy="283464"/>
          </a:xfrm>
          <a:prstGeom prst="rect">
            <a:avLst/>
          </a:prstGeom>
        </p:spPr>
      </p:pic>
      <p:sp>
        <p:nvSpPr>
          <p:cNvPr id="58" name="Text 53"/>
          <p:cNvSpPr txBox="1"/>
          <p:nvPr/>
        </p:nvSpPr>
        <p:spPr>
          <a:xfrm>
            <a:off x="8686800" y="400507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PasswordHasher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tokens, and salted password hashes.</a:t>
            </a:r>
            <a:endParaRPr lang="en-US" sz="1300" dirty="0"/>
          </a:p>
        </p:txBody>
      </p:sp>
      <p:sp>
        <p:nvSpPr>
          <p:cNvPr id="59" name="Shape 54"/>
          <p:cNvSpPr/>
          <p:nvPr/>
        </p:nvSpPr>
        <p:spPr>
          <a:xfrm>
            <a:off x="7818120" y="5111496"/>
            <a:ext cx="3822192" cy="1078992"/>
          </a:xfrm>
          <a:prstGeom prst="roundRect">
            <a:avLst>
              <a:gd name="adj" fmla="val 8475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0" name="Shape 55"/>
          <p:cNvSpPr/>
          <p:nvPr/>
        </p:nvSpPr>
        <p:spPr>
          <a:xfrm>
            <a:off x="7973568" y="5358384"/>
            <a:ext cx="566928" cy="566928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6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5300" y="5500116"/>
            <a:ext cx="283464" cy="283464"/>
          </a:xfrm>
          <a:prstGeom prst="rect">
            <a:avLst/>
          </a:prstGeom>
        </p:spPr>
      </p:pic>
      <p:sp>
        <p:nvSpPr>
          <p:cNvPr id="62" name="Text 56"/>
          <p:cNvSpPr txBox="1"/>
          <p:nvPr/>
        </p:nvSpPr>
        <p:spPr>
          <a:xfrm>
            <a:off x="8686800" y="5221224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email + SignalR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codes by email; live alerts for admins.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 tmFilter="0, 0; .2, .5; .8, .5; 1, 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9" dur="250" autoRev="1" fill="hold"/>
                                        <p:tgtEl>
                                          <p:spTgt spid="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2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4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0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4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4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5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2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8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4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1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2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6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5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6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50" grpId="0" animBg="1"/>
      <p:bldP spid="51" grpId="0" animBg="1"/>
      <p:bldP spid="52" grpId="0" animBg="1"/>
      <p:bldP spid="54" grpId="0" animBg="1"/>
      <p:bldP spid="55" grpId="0" animBg="1"/>
      <p:bldP spid="56" grpId="0" animBg="1"/>
      <p:bldP spid="58" grpId="0" animBg="1"/>
      <p:bldP spid="59" grpId="0" animBg="1"/>
      <p:bldP spid="60" grpId="0" animBg="1"/>
      <p:bldP spid="6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5897" y="66979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request, four layers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731520" y="1664208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01368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331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AuthController.Login receives the request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072384" y="2354580"/>
            <a:ext cx="296570" cy="914"/>
          </a:xfrm>
          <a:prstGeom prst="line">
            <a:avLst/>
          </a:prstGeom>
          <a:noFill/>
          <a:ln w="25400">
            <a:solidFill>
              <a:srgbClr val="B39DDB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7"/>
          <p:cNvSpPr/>
          <p:nvPr/>
        </p:nvSpPr>
        <p:spPr>
          <a:xfrm>
            <a:off x="3423818" y="146304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13304F"/>
          </a:solidFill>
          <a:ln w="15875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8"/>
          <p:cNvSpPr/>
          <p:nvPr/>
        </p:nvSpPr>
        <p:spPr>
          <a:xfrm>
            <a:off x="3606698" y="1664208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3858" y="180136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06698" y="2331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AuthService.LoginAsync applies the rules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947562" y="2354580"/>
            <a:ext cx="296570" cy="914"/>
          </a:xfrm>
          <a:prstGeom prst="line">
            <a:avLst/>
          </a:prstGeom>
          <a:noFill/>
          <a:ln w="25400">
            <a:solidFill>
              <a:srgbClr val="B39DDB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5" name="Shape 11"/>
          <p:cNvSpPr/>
          <p:nvPr/>
        </p:nvSpPr>
        <p:spPr>
          <a:xfrm>
            <a:off x="6298997" y="146304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2"/>
          <p:cNvSpPr/>
          <p:nvPr/>
        </p:nvSpPr>
        <p:spPr>
          <a:xfrm>
            <a:off x="6481877" y="1664208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9037" y="180136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81877" y="2331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UserRepository.GetByEmailAsync queries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822741" y="2354580"/>
            <a:ext cx="296570" cy="914"/>
          </a:xfrm>
          <a:prstGeom prst="line">
            <a:avLst/>
          </a:prstGeom>
          <a:noFill/>
          <a:ln w="25400">
            <a:solidFill>
              <a:srgbClr val="B39DDB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20" name="Shape 15"/>
          <p:cNvSpPr/>
          <p:nvPr/>
        </p:nvSpPr>
        <p:spPr>
          <a:xfrm>
            <a:off x="9174175" y="1463040"/>
            <a:ext cx="2468880" cy="1783080"/>
          </a:xfrm>
          <a:prstGeom prst="roundRect">
            <a:avLst>
              <a:gd name="adj" fmla="val 5128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Shape 16"/>
          <p:cNvSpPr/>
          <p:nvPr/>
        </p:nvSpPr>
        <p:spPr>
          <a:xfrm>
            <a:off x="9357055" y="1664208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4215" y="180136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357055" y="2331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through EF Core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41132" y="3406607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become HTTP status codes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548640" y="3977640"/>
            <a:ext cx="4023360" cy="430530"/>
          </a:xfrm>
          <a:prstGeom prst="roundRect">
            <a:avLst>
              <a:gd name="adj" fmla="val 12743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0"/>
          <p:cNvSpPr txBox="1"/>
          <p:nvPr/>
        </p:nvSpPr>
        <p:spPr>
          <a:xfrm>
            <a:off x="713232" y="3977640"/>
            <a:ext cx="3749040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UnauthorizedAccessException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663440" y="4187952"/>
            <a:ext cx="685800" cy="914"/>
          </a:xfrm>
          <a:prstGeom prst="line">
            <a:avLst/>
          </a:prstGeom>
          <a:noFill/>
          <a:ln w="19050">
            <a:solidFill>
              <a:srgbClr val="93ACC6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28" name="Shape 22"/>
          <p:cNvSpPr/>
          <p:nvPr/>
        </p:nvSpPr>
        <p:spPr>
          <a:xfrm>
            <a:off x="5440680" y="400507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3"/>
          <p:cNvSpPr txBox="1"/>
          <p:nvPr/>
        </p:nvSpPr>
        <p:spPr>
          <a:xfrm>
            <a:off x="5440680" y="40050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548640" y="4544568"/>
            <a:ext cx="4023360" cy="430530"/>
          </a:xfrm>
          <a:prstGeom prst="roundRect">
            <a:avLst>
              <a:gd name="adj" fmla="val 12743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5"/>
          <p:cNvSpPr txBox="1"/>
          <p:nvPr/>
        </p:nvSpPr>
        <p:spPr>
          <a:xfrm>
            <a:off x="713232" y="4544568"/>
            <a:ext cx="3749040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KeyNotFoundException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4663440" y="4754880"/>
            <a:ext cx="685800" cy="914"/>
          </a:xfrm>
          <a:prstGeom prst="line">
            <a:avLst/>
          </a:prstGeom>
          <a:noFill/>
          <a:ln w="19050">
            <a:solidFill>
              <a:srgbClr val="93ACC6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33" name="Shape 27"/>
          <p:cNvSpPr/>
          <p:nvPr/>
        </p:nvSpPr>
        <p:spPr>
          <a:xfrm>
            <a:off x="5440680" y="45720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Text 28"/>
          <p:cNvSpPr txBox="1"/>
          <p:nvPr/>
        </p:nvSpPr>
        <p:spPr>
          <a:xfrm>
            <a:off x="5440680" y="4572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548640" y="5111496"/>
            <a:ext cx="4023360" cy="430530"/>
          </a:xfrm>
          <a:prstGeom prst="roundRect">
            <a:avLst>
              <a:gd name="adj" fmla="val 12743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Text 30"/>
          <p:cNvSpPr txBox="1"/>
          <p:nvPr/>
        </p:nvSpPr>
        <p:spPr>
          <a:xfrm>
            <a:off x="713232" y="5111496"/>
            <a:ext cx="3749040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InvalidOperationException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4663440" y="5321808"/>
            <a:ext cx="685800" cy="914"/>
          </a:xfrm>
          <a:prstGeom prst="line">
            <a:avLst/>
          </a:prstGeom>
          <a:noFill/>
          <a:ln w="19050">
            <a:solidFill>
              <a:srgbClr val="93ACC6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38" name="Shape 32"/>
          <p:cNvSpPr/>
          <p:nvPr/>
        </p:nvSpPr>
        <p:spPr>
          <a:xfrm>
            <a:off x="5440680" y="513892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5AA9E6"/>
          </a:solidFill>
          <a:ln w="12700">
            <a:solidFill>
              <a:srgbClr val="5AA9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Text 33"/>
          <p:cNvSpPr txBox="1"/>
          <p:nvPr/>
        </p:nvSpPr>
        <p:spPr>
          <a:xfrm>
            <a:off x="5440680" y="51389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 / 400</a:t>
            </a:r>
            <a:endParaRPr lang="en-US" sz="1300" dirty="0"/>
          </a:p>
        </p:txBody>
      </p:sp>
      <p:sp>
        <p:nvSpPr>
          <p:cNvPr id="40" name="Shape 34"/>
          <p:cNvSpPr/>
          <p:nvPr/>
        </p:nvSpPr>
        <p:spPr>
          <a:xfrm>
            <a:off x="548640" y="5678424"/>
            <a:ext cx="4023360" cy="430530"/>
          </a:xfrm>
          <a:prstGeom prst="roundRect">
            <a:avLst>
              <a:gd name="adj" fmla="val 12743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Text 35"/>
          <p:cNvSpPr txBox="1"/>
          <p:nvPr/>
        </p:nvSpPr>
        <p:spPr>
          <a:xfrm>
            <a:off x="713232" y="5678424"/>
            <a:ext cx="3749040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ArgumentException</a:t>
            </a:r>
            <a:endParaRPr lang="en-US" sz="1150" dirty="0"/>
          </a:p>
        </p:txBody>
      </p:sp>
      <p:sp>
        <p:nvSpPr>
          <p:cNvPr id="42" name="Shape 36"/>
          <p:cNvSpPr/>
          <p:nvPr/>
        </p:nvSpPr>
        <p:spPr>
          <a:xfrm>
            <a:off x="4663440" y="5888736"/>
            <a:ext cx="685800" cy="914"/>
          </a:xfrm>
          <a:prstGeom prst="line">
            <a:avLst/>
          </a:prstGeom>
          <a:noFill/>
          <a:ln w="19050">
            <a:solidFill>
              <a:srgbClr val="93ACC6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43" name="Shape 37"/>
          <p:cNvSpPr/>
          <p:nvPr/>
        </p:nvSpPr>
        <p:spPr>
          <a:xfrm>
            <a:off x="5440680" y="5705856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7BD389"/>
          </a:solidFill>
          <a:ln w="12700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4" name="Text 38"/>
          <p:cNvSpPr txBox="1"/>
          <p:nvPr/>
        </p:nvSpPr>
        <p:spPr>
          <a:xfrm>
            <a:off x="5440680" y="57058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300" dirty="0"/>
          </a:p>
        </p:txBody>
      </p:sp>
      <p:sp>
        <p:nvSpPr>
          <p:cNvPr id="45" name="Shape 39"/>
          <p:cNvSpPr/>
          <p:nvPr/>
        </p:nvSpPr>
        <p:spPr>
          <a:xfrm>
            <a:off x="7315200" y="3520440"/>
            <a:ext cx="4325112" cy="2697480"/>
          </a:xfrm>
          <a:prstGeom prst="roundRect">
            <a:avLst>
              <a:gd name="adj" fmla="val 3390"/>
            </a:avLst>
          </a:prstGeom>
          <a:solidFill>
            <a:srgbClr val="1A3D63"/>
          </a:solidFill>
          <a:ln w="15875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6" name="Shape 40"/>
          <p:cNvSpPr/>
          <p:nvPr/>
        </p:nvSpPr>
        <p:spPr>
          <a:xfrm>
            <a:off x="7543800" y="3749040"/>
            <a:ext cx="566928" cy="566928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5532" y="3890772"/>
            <a:ext cx="283464" cy="283464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7543800" y="443484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comes from the token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read the user's ID from the JWT's claims, never from the request body, so nobody can act as someone else.</a:t>
            </a:r>
            <a:endParaRPr lang="en-US" sz="1300" dirty="0"/>
          </a:p>
        </p:txBody>
      </p:sp>
      <p:sp>
        <p:nvSpPr>
          <p:cNvPr id="49" name="Shape 42"/>
          <p:cNvSpPr/>
          <p:nvPr/>
        </p:nvSpPr>
        <p:spPr>
          <a:xfrm>
            <a:off x="7543800" y="5623560"/>
            <a:ext cx="3886200" cy="430530"/>
          </a:xfrm>
          <a:prstGeom prst="roundRect">
            <a:avLst>
              <a:gd name="adj" fmla="val 12743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0" name="Text 43"/>
          <p:cNvSpPr txBox="1"/>
          <p:nvPr/>
        </p:nvSpPr>
        <p:spPr>
          <a:xfrm>
            <a:off x="7708392" y="5623560"/>
            <a:ext cx="3611880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</a:t>
            </a: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GetUserId</a:t>
            </a: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 tmFilter="0, 0; .2, .5; .8, .5; 1, 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25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28" grpId="0" animBg="1"/>
      <p:bldP spid="29" grpId="0" animBg="1"/>
      <p:bldP spid="33" grpId="0" animBg="1"/>
      <p:bldP spid="34" grpId="0" animBg="1"/>
      <p:bldP spid="38" grpId="0" animBg="1"/>
      <p:bldP spid="39" grpId="0" animBg="1"/>
      <p:bldP spid="43" grpId="0" animBg="1"/>
      <p:bldP spid="44" grpId="0" animBg="1"/>
      <p:bldP spid="45" grpId="0" animBg="1"/>
      <p:bldP spid="46" grpId="0" animBg="1"/>
      <p:bldP spid="48" grpId="0" animBg="1"/>
      <p:bldP spid="49" grpId="0" animBg="1"/>
      <p:bldP spid="5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7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IN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vague message, one hashed password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7315200" cy="2395728"/>
          </a:xfrm>
          <a:prstGeom prst="roundRect">
            <a:avLst>
              <a:gd name="adj" fmla="val 3053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7315200" cy="329184"/>
          </a:xfrm>
          <a:prstGeom prst="roundRect">
            <a:avLst>
              <a:gd name="adj" fmla="val 22222"/>
            </a:avLst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548640" y="1719072"/>
            <a:ext cx="7315200" cy="164592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 txBox="1"/>
          <p:nvPr/>
        </p:nvSpPr>
        <p:spPr>
          <a:xfrm>
            <a:off x="713232" y="1554480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AuthService.cs</a:t>
            </a:r>
            <a:r>
              <a:rPr lang="en-US" sz="10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LoginAsync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5216" y="2011680"/>
            <a:ext cx="7242048" cy="150876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585216" y="2615184"/>
            <a:ext cx="7242048" cy="150876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585216" y="3067812"/>
            <a:ext cx="7242048" cy="150876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 txBox="1"/>
          <p:nvPr/>
        </p:nvSpPr>
        <p:spPr>
          <a:xfrm>
            <a:off x="594360" y="2011680"/>
            <a:ext cx="3657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900" dirty="0"/>
          </a:p>
          <a:p>
            <a:pPr marL="0" indent="0" algn="r">
              <a:lnSpc>
                <a:spcPts val="1188"/>
              </a:lnSpc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011680"/>
            <a:ext cx="6583680" cy="1810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_userRepository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GetByEmailAsync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== 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UnauthorizedAccessException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"Invalid email or password."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_passwordHasher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VerifyHashedPassword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PasswordHash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</a:t>
            </a: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== 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PasswordVerificationResult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UnauthorizedAccessException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"Invalid email or password."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marL="0" indent="0">
              <a:lnSpc>
                <a:spcPts val="1188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949958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 txBox="1"/>
          <p:nvPr/>
        </p:nvSpPr>
        <p:spPr>
          <a:xfrm>
            <a:off x="411480" y="194995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553462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 txBox="1"/>
          <p:nvPr/>
        </p:nvSpPr>
        <p:spPr>
          <a:xfrm>
            <a:off x="411480" y="255346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006090"/>
            <a:ext cx="274320" cy="274320"/>
          </a:xfrm>
          <a:prstGeom prst="ellipse">
            <a:avLst/>
          </a:prstGeom>
          <a:solidFill>
            <a:srgbClr val="F6AE2D"/>
          </a:solidFill>
          <a:ln w="1905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 txBox="1"/>
          <p:nvPr/>
        </p:nvSpPr>
        <p:spPr>
          <a:xfrm>
            <a:off x="411480" y="300609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63840" y="2087118"/>
            <a:ext cx="594360" cy="38862"/>
          </a:xfrm>
          <a:prstGeom prst="line">
            <a:avLst/>
          </a:prstGeom>
          <a:noFill/>
          <a:ln w="15875">
            <a:solidFill>
              <a:srgbClr val="F6AE2D"/>
            </a:solidFill>
            <a:prstDash val="dash"/>
          </a:ln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8458200" y="1554480"/>
            <a:ext cx="3182112" cy="1143000"/>
          </a:xfrm>
          <a:prstGeom prst="roundRect">
            <a:avLst>
              <a:gd name="adj" fmla="val 8000"/>
            </a:avLst>
          </a:prstGeom>
          <a:solidFill>
            <a:srgbClr val="13304F"/>
          </a:solidFill>
          <a:ln w="15875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8622792" y="1709928"/>
            <a:ext cx="274320" cy="274320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 txBox="1"/>
          <p:nvPr/>
        </p:nvSpPr>
        <p:spPr>
          <a:xfrm>
            <a:off x="8622792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006840" y="1664208"/>
            <a:ext cx="2496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account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Looked up by email through the repository.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863840" y="2690622"/>
            <a:ext cx="594360" cy="761238"/>
          </a:xfrm>
          <a:prstGeom prst="line">
            <a:avLst/>
          </a:prstGeom>
          <a:noFill/>
          <a:ln w="15875">
            <a:solidFill>
              <a:srgbClr val="F6AE2D"/>
            </a:solidFill>
            <a:prstDash val="dash"/>
          </a:ln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8458200" y="2880360"/>
            <a:ext cx="3182112" cy="1143000"/>
          </a:xfrm>
          <a:prstGeom prst="roundRect">
            <a:avLst>
              <a:gd name="adj" fmla="val 8000"/>
            </a:avLst>
          </a:prstGeom>
          <a:solidFill>
            <a:srgbClr val="13304F"/>
          </a:solidFill>
          <a:ln w="15875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8622792" y="3035808"/>
            <a:ext cx="274320" cy="274320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 txBox="1"/>
          <p:nvPr/>
        </p:nvSpPr>
        <p:spPr>
          <a:xfrm>
            <a:off x="8622792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006840" y="2990088"/>
            <a:ext cx="2496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hints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email and wrong password give the same message.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863840" y="3143250"/>
            <a:ext cx="594360" cy="1634490"/>
          </a:xfrm>
          <a:prstGeom prst="line">
            <a:avLst/>
          </a:prstGeom>
          <a:noFill/>
          <a:ln w="15875">
            <a:solidFill>
              <a:srgbClr val="F6AE2D"/>
            </a:solidFill>
            <a:prstDash val="dash"/>
          </a:ln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8458200" y="4206240"/>
            <a:ext cx="3182112" cy="1143000"/>
          </a:xfrm>
          <a:prstGeom prst="roundRect">
            <a:avLst>
              <a:gd name="adj" fmla="val 8000"/>
            </a:avLst>
          </a:prstGeom>
          <a:solidFill>
            <a:srgbClr val="13304F"/>
          </a:solidFill>
          <a:ln w="15875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Shape 30"/>
          <p:cNvSpPr/>
          <p:nvPr/>
        </p:nvSpPr>
        <p:spPr>
          <a:xfrm>
            <a:off x="8622792" y="4361688"/>
            <a:ext cx="274320" cy="274320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 txBox="1"/>
          <p:nvPr/>
        </p:nvSpPr>
        <p:spPr>
          <a:xfrm>
            <a:off x="8622792" y="4361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006840" y="4315968"/>
            <a:ext cx="2496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hashes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salted hash is checked; passwords are never stored.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4846320"/>
            <a:ext cx="7315200" cy="1325880"/>
          </a:xfrm>
          <a:prstGeom prst="roundRect">
            <a:avLst>
              <a:gd name="adj" fmla="val 6897"/>
            </a:avLst>
          </a:prstGeom>
          <a:solidFill>
            <a:srgbClr val="1A3D63"/>
          </a:solidFill>
          <a:ln w="12700">
            <a:solidFill>
              <a:srgbClr val="1A3D6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 txBox="1"/>
          <p:nvPr/>
        </p:nvSpPr>
        <p:spPr>
          <a:xfrm>
            <a:off x="822960" y="4846320"/>
            <a:ext cx="676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activated yet? </a:t>
            </a:r>
            <a:r>
              <a:rPr lang="en-US" sz="14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still waiting on their emailed code are refused before the password is even checked.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ACTIVATION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invite to first login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88720" y="2331720"/>
            <a:ext cx="9784080" cy="0"/>
          </a:xfrm>
          <a:prstGeom prst="line">
            <a:avLst/>
          </a:prstGeom>
          <a:noFill/>
          <a:ln w="381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804672" y="1947672"/>
            <a:ext cx="768096" cy="768096"/>
          </a:xfrm>
          <a:prstGeom prst="ellipse">
            <a:avLst/>
          </a:prstGeom>
          <a:solidFill>
            <a:srgbClr val="1A3D63"/>
          </a:solidFill>
          <a:ln w="12700">
            <a:solidFill>
              <a:srgbClr val="1A3D6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139696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7432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2514600" cy="1600200"/>
          </a:xfrm>
          <a:prstGeom prst="roundRect">
            <a:avLst>
              <a:gd name="adj" fmla="val 5714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7"/>
          <p:cNvSpPr txBox="1"/>
          <p:nvPr/>
        </p:nvSpPr>
        <p:spPr>
          <a:xfrm>
            <a:off x="731520" y="32004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creates the account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 is set, just a one-time code.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066032" y="1947672"/>
            <a:ext cx="768096" cy="768096"/>
          </a:xfrm>
          <a:prstGeom prst="ellipse">
            <a:avLst/>
          </a:prstGeom>
          <a:solidFill>
            <a:srgbClr val="1A3D63"/>
          </a:solidFill>
          <a:ln w="12700">
            <a:solidFill>
              <a:srgbClr val="1A3D6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8056" y="213969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3568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192780" y="3063240"/>
            <a:ext cx="2514600" cy="1600200"/>
          </a:xfrm>
          <a:prstGeom prst="roundRect">
            <a:avLst>
              <a:gd name="adj" fmla="val 5714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1"/>
          <p:cNvSpPr txBox="1"/>
          <p:nvPr/>
        </p:nvSpPr>
        <p:spPr>
          <a:xfrm>
            <a:off x="3375660" y="32004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emailed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digits, valid for 48 hours, sent through Azure.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327392" y="1947672"/>
            <a:ext cx="768096" cy="768096"/>
          </a:xfrm>
          <a:prstGeom prst="ellipse">
            <a:avLst/>
          </a:prstGeom>
          <a:solidFill>
            <a:srgbClr val="1A3D63"/>
          </a:solidFill>
          <a:ln w="12700">
            <a:solidFill>
              <a:srgbClr val="1A3D6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9416" y="213969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79704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54140" y="3063240"/>
            <a:ext cx="2514600" cy="1600200"/>
          </a:xfrm>
          <a:prstGeom prst="roundRect">
            <a:avLst>
              <a:gd name="adj" fmla="val 5714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5"/>
          <p:cNvSpPr txBox="1"/>
          <p:nvPr/>
        </p:nvSpPr>
        <p:spPr>
          <a:xfrm>
            <a:off x="6637020" y="32004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activates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checked, then their chosen password is hashed.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10588752" y="1947672"/>
            <a:ext cx="768096" cy="768096"/>
          </a:xfrm>
          <a:prstGeom prst="ellipse">
            <a:avLst/>
          </a:prstGeom>
          <a:solidFill>
            <a:srgbClr val="1A3D63"/>
          </a:solidFill>
          <a:ln w="12700">
            <a:solidFill>
              <a:srgbClr val="1A3D6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0776" y="213969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05840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128455" y="3063240"/>
            <a:ext cx="2514600" cy="1600200"/>
          </a:xfrm>
          <a:prstGeom prst="roundRect">
            <a:avLst>
              <a:gd name="adj" fmla="val 5714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19"/>
          <p:cNvSpPr txBox="1"/>
          <p:nvPr/>
        </p:nvSpPr>
        <p:spPr>
          <a:xfrm>
            <a:off x="9311335" y="32004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cleared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use. They're signed in straight away.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5074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 at step 3, in AuthService.ActivateAsync: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48640" y="5440680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2"/>
          <p:cNvSpPr txBox="1"/>
          <p:nvPr/>
        </p:nvSpPr>
        <p:spPr>
          <a:xfrm>
            <a:off x="713232" y="54406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</a:t>
            </a: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Otp</a:t>
            </a: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!= </a:t>
            </a: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Otp</a:t>
            </a: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|| </a:t>
            </a: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OtpExpiry</a:t>
            </a: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&lt; </a:t>
            </a: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UtcNow</a:t>
            </a: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7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passwords are rejected before any service runs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669280" cy="1021080"/>
          </a:xfrm>
          <a:prstGeom prst="roundRect">
            <a:avLst>
              <a:gd name="adj" fmla="val 7164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669280" cy="329184"/>
          </a:xfrm>
          <a:prstGeom prst="roundRect">
            <a:avLst>
              <a:gd name="adj" fmla="val 22222"/>
            </a:avLst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548640" y="1581912"/>
            <a:ext cx="5669280" cy="164592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 txBox="1"/>
          <p:nvPr/>
        </p:nvSpPr>
        <p:spPr>
          <a:xfrm>
            <a:off x="713232" y="141732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ActivateRequestDto.cs</a:t>
            </a:r>
            <a:r>
              <a:rPr lang="en-US" sz="10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DTOs/Authentication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5216" y="1874520"/>
            <a:ext cx="5596128" cy="217932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 txBox="1"/>
          <p:nvPr/>
        </p:nvSpPr>
        <p:spPr>
          <a:xfrm>
            <a:off x="594360" y="1874520"/>
            <a:ext cx="36576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16"/>
              </a:lnSpc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300" dirty="0"/>
          </a:p>
          <a:p>
            <a:pPr marL="0" indent="0" algn="r">
              <a:lnSpc>
                <a:spcPts val="1716"/>
              </a:lnSpc>
              <a:buNone/>
            </a:pPr>
            <a:r>
              <a:rPr lang="en-US" sz="13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874520"/>
            <a:ext cx="4937760" cy="435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716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PasswordComplexity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00" dirty="0"/>
          </a:p>
          <a:p>
            <a:pPr marL="0" indent="0">
              <a:lnSpc>
                <a:spcPts val="1716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3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NewPassword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{ 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 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 } = </a:t>
            </a:r>
            <a:r>
              <a:rPr lang="en-US" sz="13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!;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4630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attribute. </a:t>
            </a:r>
            <a:r>
              <a:rPr lang="en-US" sz="14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[PasswordComplexity] runs during model validation, so a weak password gets a 400 before AuthService is ever called.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5410048" cy="1645920"/>
          </a:xfrm>
          <a:prstGeom prst="roundRect">
            <a:avLst>
              <a:gd name="adj" fmla="val 555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 txBox="1"/>
          <p:nvPr/>
        </p:nvSpPr>
        <p:spPr>
          <a:xfrm>
            <a:off x="777240" y="28803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F07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2971800"/>
            <a:ext cx="3489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8 characters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77240" y="3822192"/>
            <a:ext cx="4952848" cy="413766"/>
          </a:xfrm>
          <a:prstGeom prst="roundRect">
            <a:avLst>
              <a:gd name="adj" fmla="val 13260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 txBox="1"/>
          <p:nvPr/>
        </p:nvSpPr>
        <p:spPr>
          <a:xfrm>
            <a:off x="941832" y="3822192"/>
            <a:ext cx="4678528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&lt; 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33008" y="2743200"/>
            <a:ext cx="5410048" cy="1645920"/>
          </a:xfrm>
          <a:prstGeom prst="roundRect">
            <a:avLst>
              <a:gd name="adj" fmla="val 555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 txBox="1"/>
          <p:nvPr/>
        </p:nvSpPr>
        <p:spPr>
          <a:xfrm>
            <a:off x="6461608" y="28803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A–Z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016088" y="2971800"/>
            <a:ext cx="3489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uppercase letter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61608" y="3822192"/>
            <a:ext cx="4952848" cy="413766"/>
          </a:xfrm>
          <a:prstGeom prst="roundRect">
            <a:avLst>
              <a:gd name="adj" fmla="val 13260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 txBox="1"/>
          <p:nvPr/>
        </p:nvSpPr>
        <p:spPr>
          <a:xfrm>
            <a:off x="6626200" y="3822192"/>
            <a:ext cx="4678528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(!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IsMatch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@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"[A-Z]"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 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5410048" cy="1645920"/>
          </a:xfrm>
          <a:prstGeom prst="roundRect">
            <a:avLst>
              <a:gd name="adj" fmla="val 555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 txBox="1"/>
          <p:nvPr/>
        </p:nvSpPr>
        <p:spPr>
          <a:xfrm>
            <a:off x="777240" y="4709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a–z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2331720" y="4800600"/>
            <a:ext cx="3489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lowercase letter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77240" y="5650992"/>
            <a:ext cx="4952848" cy="413766"/>
          </a:xfrm>
          <a:prstGeom prst="roundRect">
            <a:avLst>
              <a:gd name="adj" fmla="val 13260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 txBox="1"/>
          <p:nvPr/>
        </p:nvSpPr>
        <p:spPr>
          <a:xfrm>
            <a:off x="941832" y="5650992"/>
            <a:ext cx="4678528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(!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IsMatch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@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"[a-z]"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 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33008" y="4572000"/>
            <a:ext cx="5410048" cy="1645920"/>
          </a:xfrm>
          <a:prstGeom prst="roundRect">
            <a:avLst>
              <a:gd name="adj" fmla="val 555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 txBox="1"/>
          <p:nvPr/>
        </p:nvSpPr>
        <p:spPr>
          <a:xfrm>
            <a:off x="6461608" y="4709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0–9</a:t>
            </a:r>
            <a:endParaRPr lang="en-US" sz="4000" dirty="0"/>
          </a:p>
        </p:txBody>
      </p:sp>
      <p:sp>
        <p:nvSpPr>
          <p:cNvPr id="30" name="Text 28"/>
          <p:cNvSpPr txBox="1"/>
          <p:nvPr/>
        </p:nvSpPr>
        <p:spPr>
          <a:xfrm>
            <a:off x="8016088" y="4800600"/>
            <a:ext cx="3489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6461608" y="5650992"/>
            <a:ext cx="4952848" cy="413766"/>
          </a:xfrm>
          <a:prstGeom prst="roundRect">
            <a:avLst>
              <a:gd name="adj" fmla="val 13260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 txBox="1"/>
          <p:nvPr/>
        </p:nvSpPr>
        <p:spPr>
          <a:xfrm>
            <a:off x="6626200" y="5650992"/>
            <a:ext cx="4678528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(!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IsMatch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@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"[0-9]"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 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 a SANCCOB token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13304F"/>
          </a:solidFill>
          <a:ln w="15875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kern="0" spc="300" dirty="0">
                <a:solidFill>
                  <a:srgbClr val="F07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alg: HS256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14630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4937760" cy="914400"/>
          </a:xfrm>
          <a:prstGeom prst="roundRect">
            <a:avLst>
              <a:gd name="adj" fmla="val 10000"/>
            </a:avLst>
          </a:prstGeom>
          <a:solidFill>
            <a:srgbClr val="13304F"/>
          </a:solidFill>
          <a:ln w="15875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 txBox="1"/>
          <p:nvPr/>
        </p:nvSpPr>
        <p:spPr>
          <a:xfrm>
            <a:off x="3520440" y="1508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kern="0" spc="300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claims below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14630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8595360" y="1463040"/>
            <a:ext cx="3044952" cy="914400"/>
          </a:xfrm>
          <a:prstGeom prst="roundRect">
            <a:avLst>
              <a:gd name="adj" fmla="val 10000"/>
            </a:avLst>
          </a:prstGeom>
          <a:solidFill>
            <a:srgbClr val="13304F"/>
          </a:solidFill>
          <a:ln w="15875">
            <a:solidFill>
              <a:srgbClr val="5AA9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 txBox="1"/>
          <p:nvPr/>
        </p:nvSpPr>
        <p:spPr>
          <a:xfrm>
            <a:off x="8823960" y="1508760"/>
            <a:ext cx="2679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kern="0" spc="300" dirty="0">
                <a:solidFill>
                  <a:srgbClr val="5AA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E3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made with Jwt:Key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in the payload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3657600" cy="430530"/>
          </a:xfrm>
          <a:prstGeom prst="roundRect">
            <a:avLst>
              <a:gd name="adj" fmla="val 12743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 txBox="1"/>
          <p:nvPr/>
        </p:nvSpPr>
        <p:spPr>
          <a:xfrm>
            <a:off x="713232" y="3154680"/>
            <a:ext cx="3383280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ClaimTypes</a:t>
            </a: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NameIdentifier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3154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user's ID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58184"/>
            <a:ext cx="3657600" cy="430530"/>
          </a:xfrm>
          <a:prstGeom prst="roundRect">
            <a:avLst>
              <a:gd name="adj" fmla="val 12743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 txBox="1"/>
          <p:nvPr/>
        </p:nvSpPr>
        <p:spPr>
          <a:xfrm>
            <a:off x="713232" y="3758184"/>
            <a:ext cx="3383280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ClaimTypes</a:t>
            </a: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37581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or Volunteer, read by [Authorize]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361688"/>
            <a:ext cx="3657600" cy="430530"/>
          </a:xfrm>
          <a:prstGeom prst="roundRect">
            <a:avLst>
              <a:gd name="adj" fmla="val 12743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 txBox="1"/>
          <p:nvPr/>
        </p:nvSpPr>
        <p:spPr>
          <a:xfrm>
            <a:off x="713232" y="4361688"/>
            <a:ext cx="3383280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JwtRegisteredClaimNames</a:t>
            </a: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Jti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389120" y="43616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ID, so one token can be revoked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965192"/>
            <a:ext cx="3657600" cy="430530"/>
          </a:xfrm>
          <a:prstGeom prst="roundRect">
            <a:avLst>
              <a:gd name="adj" fmla="val 12743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 txBox="1"/>
          <p:nvPr/>
        </p:nvSpPr>
        <p:spPr>
          <a:xfrm>
            <a:off x="713232" y="4965192"/>
            <a:ext cx="3383280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389120" y="49651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name, shown in the apps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568696"/>
            <a:ext cx="3657600" cy="430530"/>
          </a:xfrm>
          <a:prstGeom prst="roundRect">
            <a:avLst>
              <a:gd name="adj" fmla="val 12743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 txBox="1"/>
          <p:nvPr/>
        </p:nvSpPr>
        <p:spPr>
          <a:xfrm>
            <a:off x="713232" y="5568696"/>
            <a:ext cx="3383280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ClaimTypes</a:t>
            </a: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389120" y="55686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email address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680960" y="2697480"/>
            <a:ext cx="1874520" cy="2057400"/>
          </a:xfrm>
          <a:prstGeom prst="roundRect">
            <a:avLst>
              <a:gd name="adj" fmla="val 4878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7909560" y="2953512"/>
            <a:ext cx="457200" cy="54864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 txBox="1"/>
          <p:nvPr/>
        </p:nvSpPr>
        <p:spPr>
          <a:xfrm>
            <a:off x="7909560" y="3081528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40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</a:t>
            </a:r>
            <a:endParaRPr lang="en-US" sz="4400" dirty="0"/>
          </a:p>
        </p:txBody>
      </p:sp>
      <p:sp>
        <p:nvSpPr>
          <p:cNvPr id="32" name="Text 30"/>
          <p:cNvSpPr txBox="1"/>
          <p:nvPr/>
        </p:nvSpPr>
        <p:spPr>
          <a:xfrm>
            <a:off x="7909560" y="3931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sign in again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765792" y="2697480"/>
            <a:ext cx="1874520" cy="2057400"/>
          </a:xfrm>
          <a:prstGeom prst="roundRect">
            <a:avLst>
              <a:gd name="adj" fmla="val 4878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Shape 32"/>
          <p:cNvSpPr/>
          <p:nvPr/>
        </p:nvSpPr>
        <p:spPr>
          <a:xfrm>
            <a:off x="9994392" y="2953512"/>
            <a:ext cx="457200" cy="54864"/>
          </a:xfrm>
          <a:prstGeom prst="rect">
            <a:avLst/>
          </a:prstGeom>
          <a:solidFill>
            <a:srgbClr val="5AA9E6"/>
          </a:solidFill>
          <a:ln w="12700">
            <a:solidFill>
              <a:srgbClr val="5AA9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 txBox="1"/>
          <p:nvPr/>
        </p:nvSpPr>
        <p:spPr>
          <a:xfrm>
            <a:off x="9994392" y="3081528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400" b="1" dirty="0">
                <a:solidFill>
                  <a:srgbClr val="5AA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4400" dirty="0"/>
          </a:p>
        </p:txBody>
      </p:sp>
      <p:sp>
        <p:nvSpPr>
          <p:cNvPr id="36" name="Text 34"/>
          <p:cNvSpPr txBox="1"/>
          <p:nvPr/>
        </p:nvSpPr>
        <p:spPr>
          <a:xfrm>
            <a:off x="9994392" y="3931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680960" y="4983480"/>
            <a:ext cx="3959352" cy="430530"/>
          </a:xfrm>
          <a:prstGeom prst="roundRect">
            <a:avLst>
              <a:gd name="adj" fmla="val 12743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 txBox="1"/>
          <p:nvPr/>
        </p:nvSpPr>
        <p:spPr>
          <a:xfrm>
            <a:off x="7845552" y="4983480"/>
            <a:ext cx="3685032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expires</a:t>
            </a: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UtcNow</a:t>
            </a: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AddHours</a:t>
            </a: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r>
              <a:rPr lang="en-US" sz="11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7680960" y="5486400"/>
            <a:ext cx="3959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signing key lives in configuration, never in the code.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D3C6"/>
          </a:solidFill>
          <a:ln w="12700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OUT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 stateless token stop working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246120" cy="1691640"/>
          </a:xfrm>
          <a:prstGeom prst="roundRect">
            <a:avLst>
              <a:gd name="adj" fmla="val 5405"/>
            </a:avLst>
          </a:prstGeom>
          <a:solidFill>
            <a:srgbClr val="13304F"/>
          </a:solidFill>
          <a:ln w="15875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731520" y="1664208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01368"/>
            <a:ext cx="274320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37560" y="1627632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6"/>
          <p:cNvSpPr txBox="1"/>
          <p:nvPr/>
        </p:nvSpPr>
        <p:spPr>
          <a:xfrm>
            <a:off x="3337560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3317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out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/api/Auth/logout reads the token's own jti.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849624" y="2308860"/>
            <a:ext cx="568300" cy="914"/>
          </a:xfrm>
          <a:prstGeom prst="line">
            <a:avLst/>
          </a:prstGeom>
          <a:noFill/>
          <a:ln w="25400">
            <a:solidFill>
              <a:srgbClr val="5ED3C6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9"/>
          <p:cNvSpPr/>
          <p:nvPr/>
        </p:nvSpPr>
        <p:spPr>
          <a:xfrm>
            <a:off x="4472788" y="1463040"/>
            <a:ext cx="3246120" cy="1691640"/>
          </a:xfrm>
          <a:prstGeom prst="roundRect">
            <a:avLst>
              <a:gd name="adj" fmla="val 5405"/>
            </a:avLst>
          </a:prstGeom>
          <a:solidFill>
            <a:srgbClr val="13304F"/>
          </a:solidFill>
          <a:ln w="15875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0"/>
          <p:cNvSpPr/>
          <p:nvPr/>
        </p:nvSpPr>
        <p:spPr>
          <a:xfrm>
            <a:off x="4655668" y="1664208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2828" y="1801368"/>
            <a:ext cx="274320" cy="2743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261708" y="1627632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2"/>
          <p:cNvSpPr txBox="1"/>
          <p:nvPr/>
        </p:nvSpPr>
        <p:spPr>
          <a:xfrm>
            <a:off x="7261708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655668" y="23317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jti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in revoked_token with an 8-hour expiry.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773772" y="2308860"/>
            <a:ext cx="568300" cy="914"/>
          </a:xfrm>
          <a:prstGeom prst="line">
            <a:avLst/>
          </a:prstGeom>
          <a:noFill/>
          <a:ln w="25400">
            <a:solidFill>
              <a:srgbClr val="5ED3C6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9" name="Shape 15"/>
          <p:cNvSpPr/>
          <p:nvPr/>
        </p:nvSpPr>
        <p:spPr>
          <a:xfrm>
            <a:off x="8396935" y="1463040"/>
            <a:ext cx="3246120" cy="1691640"/>
          </a:xfrm>
          <a:prstGeom prst="roundRect">
            <a:avLst>
              <a:gd name="adj" fmla="val 5405"/>
            </a:avLst>
          </a:prstGeom>
          <a:solidFill>
            <a:srgbClr val="13304F"/>
          </a:solidFill>
          <a:ln w="15875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Shape 16"/>
          <p:cNvSpPr/>
          <p:nvPr/>
        </p:nvSpPr>
        <p:spPr>
          <a:xfrm>
            <a:off x="8579815" y="1664208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6975" y="1801368"/>
            <a:ext cx="274320" cy="27432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1185855" y="1627632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18"/>
          <p:cNvSpPr txBox="1"/>
          <p:nvPr/>
        </p:nvSpPr>
        <p:spPr>
          <a:xfrm>
            <a:off x="11185855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8579815" y="23317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it next time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primary-key lookup says whether a token was revoked.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548640" y="3483864"/>
            <a:ext cx="292608" cy="292608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1"/>
          <p:cNvSpPr txBox="1"/>
          <p:nvPr/>
        </p:nvSpPr>
        <p:spPr>
          <a:xfrm>
            <a:off x="548640" y="3483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1005840" y="3429000"/>
            <a:ext cx="10637215" cy="438912"/>
          </a:xfrm>
          <a:prstGeom prst="roundRect">
            <a:avLst>
              <a:gd name="adj" fmla="val 12500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3"/>
          <p:cNvSpPr txBox="1"/>
          <p:nvPr/>
        </p:nvSpPr>
        <p:spPr>
          <a:xfrm>
            <a:off x="1170432" y="3429000"/>
            <a:ext cx="103628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jti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GetJti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548640" y="4032504"/>
            <a:ext cx="292608" cy="292608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5"/>
          <p:cNvSpPr txBox="1"/>
          <p:nvPr/>
        </p:nvSpPr>
        <p:spPr>
          <a:xfrm>
            <a:off x="548640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1005840" y="3977640"/>
            <a:ext cx="10637215" cy="438912"/>
          </a:xfrm>
          <a:prstGeom prst="roundRect">
            <a:avLst>
              <a:gd name="adj" fmla="val 12500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27"/>
          <p:cNvSpPr txBox="1"/>
          <p:nvPr/>
        </p:nvSpPr>
        <p:spPr>
          <a:xfrm>
            <a:off x="1170432" y="3977640"/>
            <a:ext cx="103628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ExpiresAt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UtcNow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AddHours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 </a:t>
            </a:r>
            <a:r>
              <a:rPr lang="en-US" sz="12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 matches the token's own lifetime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548640" y="4581144"/>
            <a:ext cx="292608" cy="292608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Text 29"/>
          <p:cNvSpPr txBox="1"/>
          <p:nvPr/>
        </p:nvSpPr>
        <p:spPr>
          <a:xfrm>
            <a:off x="548640" y="4581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1005840" y="4526280"/>
            <a:ext cx="10637215" cy="438912"/>
          </a:xfrm>
          <a:prstGeom prst="roundRect">
            <a:avLst>
              <a:gd name="adj" fmla="val 12500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Text 31"/>
          <p:cNvSpPr txBox="1"/>
          <p:nvPr/>
        </p:nvSpPr>
        <p:spPr>
          <a:xfrm>
            <a:off x="1170432" y="4526280"/>
            <a:ext cx="103628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_context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RevokedTokens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AnyAsync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=&gt; </a:t>
            </a: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Jti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== </a:t>
            </a: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jti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548640" y="525780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1A3D63"/>
          </a:solidFill>
          <a:ln w="15875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Text 33"/>
          <p:cNvSpPr txBox="1"/>
          <p:nvPr/>
        </p:nvSpPr>
        <p:spPr>
          <a:xfrm>
            <a:off x="822960" y="52578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and fixed: </a:t>
            </a:r>
            <a:r>
              <a:rPr lang="en-US" sz="135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 set JwtBearerEvents twice, so the SignalR handler silently replaced this check. Merged into one handler — step 3 now runs on every request.</a:t>
            </a:r>
            <a:endParaRPr lang="en-US" sz="1350" dirty="0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TOOLS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volunteer account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never choose a volunteer's password.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3200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5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emails are refused before anything is saved.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4206240"/>
            <a:ext cx="548640" cy="548640"/>
          </a:xfrm>
          <a:prstGeom prst="ellipse">
            <a:avLst/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3434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4160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5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starts with a 6-digit code instead.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5166360"/>
            <a:ext cx="548640" cy="548640"/>
          </a:xfrm>
          <a:prstGeom prst="ellipse">
            <a:avLst/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3035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5120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5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Communication Services emails the code.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5074920" y="1417320"/>
            <a:ext cx="6565392" cy="4105656"/>
          </a:xfrm>
          <a:prstGeom prst="roundRect">
            <a:avLst>
              <a:gd name="adj" fmla="val 1782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6" name="Shape 11"/>
          <p:cNvSpPr/>
          <p:nvPr/>
        </p:nvSpPr>
        <p:spPr>
          <a:xfrm>
            <a:off x="5074920" y="1417320"/>
            <a:ext cx="6565392" cy="329184"/>
          </a:xfrm>
          <a:prstGeom prst="roundRect">
            <a:avLst>
              <a:gd name="adj" fmla="val 22222"/>
            </a:avLst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Shape 12"/>
          <p:cNvSpPr/>
          <p:nvPr/>
        </p:nvSpPr>
        <p:spPr>
          <a:xfrm>
            <a:off x="5074920" y="1581912"/>
            <a:ext cx="6565392" cy="164592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3"/>
          <p:cNvSpPr txBox="1"/>
          <p:nvPr/>
        </p:nvSpPr>
        <p:spPr>
          <a:xfrm>
            <a:off x="5239512" y="1417320"/>
            <a:ext cx="6291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AdminVolunteerService.cs</a:t>
            </a:r>
            <a:r>
              <a:rPr lang="en-US" sz="10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CreateVolunteerAsync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111496" y="1874520"/>
            <a:ext cx="6492240" cy="176022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Shape 15"/>
          <p:cNvSpPr/>
          <p:nvPr/>
        </p:nvSpPr>
        <p:spPr>
          <a:xfrm>
            <a:off x="5111496" y="3986784"/>
            <a:ext cx="6492240" cy="176022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Shape 16"/>
          <p:cNvSpPr/>
          <p:nvPr/>
        </p:nvSpPr>
        <p:spPr>
          <a:xfrm>
            <a:off x="5111496" y="5218938"/>
            <a:ext cx="6492240" cy="176022"/>
          </a:xfrm>
          <a:prstGeom prst="rect">
            <a:avLst/>
          </a:prstGeom>
          <a:solidFill>
            <a:srgbClr val="5ED3C6">
              <a:alpha val="16000"/>
            </a:srgbClr>
          </a:solidFill>
          <a:ln w="12700">
            <a:solidFill>
              <a:srgbClr val="5ED3C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17"/>
          <p:cNvSpPr txBox="1"/>
          <p:nvPr/>
        </p:nvSpPr>
        <p:spPr>
          <a:xfrm>
            <a:off x="5120640" y="1874520"/>
            <a:ext cx="3657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</a:t>
            </a:r>
            <a:endParaRPr lang="en-US" sz="1050" dirty="0"/>
          </a:p>
          <a:p>
            <a:pPr marL="0" indent="0" algn="r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</a:t>
            </a:r>
            <a:endParaRPr lang="en-US" sz="1050" dirty="0"/>
          </a:p>
          <a:p>
            <a:pPr marL="0" indent="0" algn="r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050" dirty="0"/>
          </a:p>
          <a:p>
            <a:pPr marL="0" indent="0" algn="r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</a:t>
            </a:r>
            <a:endParaRPr lang="en-US" sz="1050" dirty="0"/>
          </a:p>
          <a:p>
            <a:pPr marL="0" indent="0" algn="r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</a:t>
            </a:r>
            <a:endParaRPr lang="en-US" sz="1050" dirty="0"/>
          </a:p>
          <a:p>
            <a:pPr marL="0" indent="0" algn="r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</a:t>
            </a:r>
            <a:endParaRPr lang="en-US" sz="1050" dirty="0"/>
          </a:p>
          <a:p>
            <a:pPr marL="0" indent="0" algn="r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1050" dirty="0"/>
          </a:p>
          <a:p>
            <a:pPr marL="0" indent="0" algn="r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</a:t>
            </a:r>
            <a:endParaRPr lang="en-US" sz="1050" dirty="0"/>
          </a:p>
          <a:p>
            <a:pPr marL="0" indent="0" algn="r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</a:t>
            </a:r>
            <a:endParaRPr lang="en-US" sz="1050" dirty="0"/>
          </a:p>
          <a:p>
            <a:pPr marL="0" indent="0" algn="r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</a:t>
            </a:r>
            <a:endParaRPr lang="en-US" sz="1050" dirty="0"/>
          </a:p>
          <a:p>
            <a:pPr marL="0" indent="0" algn="r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</a:t>
            </a:r>
            <a:endParaRPr lang="en-US" sz="1050" dirty="0"/>
          </a:p>
          <a:p>
            <a:pPr marL="0" indent="0" algn="r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</a:t>
            </a:r>
            <a:endParaRPr lang="en-US" sz="1050" dirty="0"/>
          </a:p>
          <a:p>
            <a:pPr marL="0" indent="0" algn="r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050" dirty="0"/>
          </a:p>
          <a:p>
            <a:pPr marL="0" indent="0" algn="r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</a:t>
            </a:r>
            <a:endParaRPr lang="en-US" sz="1050" dirty="0"/>
          </a:p>
          <a:p>
            <a:pPr marL="0" indent="0" algn="r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</a:t>
            </a:r>
            <a:endParaRPr lang="en-US" sz="1050" dirty="0"/>
          </a:p>
          <a:p>
            <a:pPr marL="0" indent="0" algn="r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</a:t>
            </a:r>
            <a:endParaRPr lang="en-US" sz="1050" dirty="0"/>
          </a:p>
          <a:p>
            <a:pPr marL="0" indent="0" algn="r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 algn="r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</a:t>
            </a:r>
            <a:endParaRPr lang="en-US" sz="1050" dirty="0"/>
          </a:p>
          <a:p>
            <a:pPr marL="0" indent="0" algn="r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</a:t>
            </a:r>
            <a:endParaRPr lang="en-US" sz="1050" dirty="0"/>
          </a:p>
          <a:p>
            <a:pPr marL="0" indent="0" algn="r">
              <a:lnSpc>
                <a:spcPts val="1386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5715000" y="1874520"/>
            <a:ext cx="5833872" cy="3520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otp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OtpGenerator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GenerateCode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otpExpiry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OtpGenerator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GenerateExpiry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PhoneNumber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PhoneNumber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Otp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otp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OtpExpiry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otpExpiry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UserRole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Volunteer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PasswordHash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_userRepository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CreateAsync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_volunteerRepository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CreateAsync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volunteer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050" dirty="0"/>
          </a:p>
          <a:p>
            <a:pPr marL="0" indent="0">
              <a:lnSpc>
                <a:spcPts val="1386"/>
              </a:lnSpc>
              <a:buNone/>
            </a:pP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_emailService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SendActivationEmailAsync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otp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BD389"/>
          </a:solidFill>
          <a:ln w="12700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BD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AVAILABILITY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valid, or nothing saved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240280" y="1463040"/>
            <a:ext cx="603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916936" y="1463040"/>
            <a:ext cx="603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593592" y="1463040"/>
            <a:ext cx="603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270248" y="1463040"/>
            <a:ext cx="603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946904" y="1463040"/>
            <a:ext cx="603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1463040"/>
            <a:ext cx="603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00216" y="1463040"/>
            <a:ext cx="603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8288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93A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08:00-13:00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40280" y="1828800"/>
            <a:ext cx="603504" cy="566928"/>
          </a:xfrm>
          <a:prstGeom prst="roundRect">
            <a:avLst>
              <a:gd name="adj" fmla="val 9677"/>
            </a:avLst>
          </a:prstGeom>
          <a:solidFill>
            <a:srgbClr val="7BD389"/>
          </a:solidFill>
          <a:ln w="12700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 txBox="1"/>
          <p:nvPr/>
        </p:nvSpPr>
        <p:spPr>
          <a:xfrm>
            <a:off x="2240280" y="182880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916936" y="1828800"/>
            <a:ext cx="603504" cy="566928"/>
          </a:xfrm>
          <a:prstGeom prst="roundRect">
            <a:avLst>
              <a:gd name="adj" fmla="val 9677"/>
            </a:avLst>
          </a:prstGeom>
          <a:solidFill>
            <a:srgbClr val="13304F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3593592" y="1828800"/>
            <a:ext cx="603504" cy="566928"/>
          </a:xfrm>
          <a:prstGeom prst="roundRect">
            <a:avLst>
              <a:gd name="adj" fmla="val 9677"/>
            </a:avLst>
          </a:prstGeom>
          <a:solidFill>
            <a:srgbClr val="7BD389"/>
          </a:solidFill>
          <a:ln w="12700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 txBox="1"/>
          <p:nvPr/>
        </p:nvSpPr>
        <p:spPr>
          <a:xfrm>
            <a:off x="3593592" y="182880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70248" y="1828800"/>
            <a:ext cx="603504" cy="566928"/>
          </a:xfrm>
          <a:prstGeom prst="roundRect">
            <a:avLst>
              <a:gd name="adj" fmla="val 9677"/>
            </a:avLst>
          </a:prstGeom>
          <a:solidFill>
            <a:srgbClr val="13304F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4946904" y="1828800"/>
            <a:ext cx="603504" cy="566928"/>
          </a:xfrm>
          <a:prstGeom prst="roundRect">
            <a:avLst>
              <a:gd name="adj" fmla="val 9677"/>
            </a:avLst>
          </a:prstGeom>
          <a:solidFill>
            <a:srgbClr val="13304F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5623560" y="1828800"/>
            <a:ext cx="603504" cy="566928"/>
          </a:xfrm>
          <a:prstGeom prst="roundRect">
            <a:avLst>
              <a:gd name="adj" fmla="val 9677"/>
            </a:avLst>
          </a:prstGeom>
          <a:solidFill>
            <a:srgbClr val="7BD389"/>
          </a:solidFill>
          <a:ln w="12700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 txBox="1"/>
          <p:nvPr/>
        </p:nvSpPr>
        <p:spPr>
          <a:xfrm>
            <a:off x="5623560" y="182880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00216" y="1828800"/>
            <a:ext cx="603504" cy="566928"/>
          </a:xfrm>
          <a:prstGeom prst="roundRect">
            <a:avLst>
              <a:gd name="adj" fmla="val 9677"/>
            </a:avLst>
          </a:prstGeom>
          <a:solidFill>
            <a:srgbClr val="13304F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 txBox="1"/>
          <p:nvPr/>
        </p:nvSpPr>
        <p:spPr>
          <a:xfrm>
            <a:off x="548640" y="248716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93A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14:00-17:00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240280" y="2487168"/>
            <a:ext cx="603504" cy="566928"/>
          </a:xfrm>
          <a:prstGeom prst="roundRect">
            <a:avLst>
              <a:gd name="adj" fmla="val 9677"/>
            </a:avLst>
          </a:prstGeom>
          <a:solidFill>
            <a:srgbClr val="13304F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2916936" y="2487168"/>
            <a:ext cx="603504" cy="566928"/>
          </a:xfrm>
          <a:prstGeom prst="roundRect">
            <a:avLst>
              <a:gd name="adj" fmla="val 9677"/>
            </a:avLst>
          </a:prstGeom>
          <a:solidFill>
            <a:srgbClr val="7BD389"/>
          </a:solidFill>
          <a:ln w="12700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 txBox="1"/>
          <p:nvPr/>
        </p:nvSpPr>
        <p:spPr>
          <a:xfrm>
            <a:off x="2916936" y="2487168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593592" y="2487168"/>
            <a:ext cx="603504" cy="566928"/>
          </a:xfrm>
          <a:prstGeom prst="roundRect">
            <a:avLst>
              <a:gd name="adj" fmla="val 9677"/>
            </a:avLst>
          </a:prstGeom>
          <a:solidFill>
            <a:srgbClr val="13304F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4270248" y="2487168"/>
            <a:ext cx="603504" cy="566928"/>
          </a:xfrm>
          <a:prstGeom prst="roundRect">
            <a:avLst>
              <a:gd name="adj" fmla="val 9677"/>
            </a:avLst>
          </a:prstGeom>
          <a:solidFill>
            <a:srgbClr val="7BD389"/>
          </a:solidFill>
          <a:ln w="12700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 txBox="1"/>
          <p:nvPr/>
        </p:nvSpPr>
        <p:spPr>
          <a:xfrm>
            <a:off x="4270248" y="2487168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946904" y="2487168"/>
            <a:ext cx="603504" cy="566928"/>
          </a:xfrm>
          <a:prstGeom prst="roundRect">
            <a:avLst>
              <a:gd name="adj" fmla="val 9677"/>
            </a:avLst>
          </a:prstGeom>
          <a:solidFill>
            <a:srgbClr val="13304F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5623560" y="2487168"/>
            <a:ext cx="603504" cy="566928"/>
          </a:xfrm>
          <a:prstGeom prst="roundRect">
            <a:avLst>
              <a:gd name="adj" fmla="val 9677"/>
            </a:avLst>
          </a:prstGeom>
          <a:solidFill>
            <a:srgbClr val="13304F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Shape 30"/>
          <p:cNvSpPr/>
          <p:nvPr/>
        </p:nvSpPr>
        <p:spPr>
          <a:xfrm>
            <a:off x="6300216" y="2487168"/>
            <a:ext cx="603504" cy="566928"/>
          </a:xfrm>
          <a:prstGeom prst="roundRect">
            <a:avLst>
              <a:gd name="adj" fmla="val 9677"/>
            </a:avLst>
          </a:prstGeom>
          <a:solidFill>
            <a:srgbClr val="13304F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 txBox="1"/>
          <p:nvPr/>
        </p:nvSpPr>
        <p:spPr>
          <a:xfrm>
            <a:off x="548640" y="314553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day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950" dirty="0">
                <a:solidFill>
                  <a:srgbClr val="93A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08:00-17:00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240280" y="3145536"/>
            <a:ext cx="603504" cy="566928"/>
          </a:xfrm>
          <a:prstGeom prst="roundRect">
            <a:avLst>
              <a:gd name="adj" fmla="val 9677"/>
            </a:avLst>
          </a:prstGeom>
          <a:solidFill>
            <a:srgbClr val="13304F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Shape 33"/>
          <p:cNvSpPr/>
          <p:nvPr/>
        </p:nvSpPr>
        <p:spPr>
          <a:xfrm>
            <a:off x="2916936" y="3145536"/>
            <a:ext cx="603504" cy="566928"/>
          </a:xfrm>
          <a:prstGeom prst="roundRect">
            <a:avLst>
              <a:gd name="adj" fmla="val 9677"/>
            </a:avLst>
          </a:prstGeom>
          <a:solidFill>
            <a:srgbClr val="13304F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Shape 34"/>
          <p:cNvSpPr/>
          <p:nvPr/>
        </p:nvSpPr>
        <p:spPr>
          <a:xfrm>
            <a:off x="3593592" y="3145536"/>
            <a:ext cx="603504" cy="566928"/>
          </a:xfrm>
          <a:prstGeom prst="roundRect">
            <a:avLst>
              <a:gd name="adj" fmla="val 9677"/>
            </a:avLst>
          </a:prstGeom>
          <a:solidFill>
            <a:srgbClr val="13304F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Shape 35"/>
          <p:cNvSpPr/>
          <p:nvPr/>
        </p:nvSpPr>
        <p:spPr>
          <a:xfrm>
            <a:off x="4270248" y="3145536"/>
            <a:ext cx="603504" cy="566928"/>
          </a:xfrm>
          <a:prstGeom prst="roundRect">
            <a:avLst>
              <a:gd name="adj" fmla="val 9677"/>
            </a:avLst>
          </a:prstGeom>
          <a:solidFill>
            <a:srgbClr val="13304F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Shape 36"/>
          <p:cNvSpPr/>
          <p:nvPr/>
        </p:nvSpPr>
        <p:spPr>
          <a:xfrm>
            <a:off x="4946904" y="3145536"/>
            <a:ext cx="603504" cy="566928"/>
          </a:xfrm>
          <a:prstGeom prst="roundRect">
            <a:avLst>
              <a:gd name="adj" fmla="val 9677"/>
            </a:avLst>
          </a:prstGeom>
          <a:solidFill>
            <a:srgbClr val="7BD389"/>
          </a:solidFill>
          <a:ln w="12700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Text 37"/>
          <p:cNvSpPr txBox="1"/>
          <p:nvPr/>
        </p:nvSpPr>
        <p:spPr>
          <a:xfrm>
            <a:off x="4946904" y="3145536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623560" y="3145536"/>
            <a:ext cx="603504" cy="566928"/>
          </a:xfrm>
          <a:prstGeom prst="roundRect">
            <a:avLst>
              <a:gd name="adj" fmla="val 9677"/>
            </a:avLst>
          </a:prstGeom>
          <a:solidFill>
            <a:srgbClr val="13304F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Shape 39"/>
          <p:cNvSpPr/>
          <p:nvPr/>
        </p:nvSpPr>
        <p:spPr>
          <a:xfrm>
            <a:off x="6300216" y="3145536"/>
            <a:ext cx="603504" cy="566928"/>
          </a:xfrm>
          <a:prstGeom prst="roundRect">
            <a:avLst>
              <a:gd name="adj" fmla="val 9677"/>
            </a:avLst>
          </a:prstGeom>
          <a:solidFill>
            <a:srgbClr val="13304F"/>
          </a:solidFill>
          <a:ln w="12700">
            <a:solidFill>
              <a:srgbClr val="2A4A6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 txBox="1"/>
          <p:nvPr/>
        </p:nvSpPr>
        <p:spPr>
          <a:xfrm>
            <a:off x="548640" y="38404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 × 3 blocks: the only valid slots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48640" y="4343400"/>
            <a:ext cx="6537960" cy="1783080"/>
          </a:xfrm>
          <a:prstGeom prst="roundRect">
            <a:avLst>
              <a:gd name="adj" fmla="val 5128"/>
            </a:avLst>
          </a:prstGeom>
          <a:solidFill>
            <a:srgbClr val="13304F"/>
          </a:solidFill>
          <a:ln w="15875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4" name="Shape 42"/>
          <p:cNvSpPr/>
          <p:nvPr/>
        </p:nvSpPr>
        <p:spPr>
          <a:xfrm>
            <a:off x="777240" y="4526280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4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663440"/>
            <a:ext cx="274320" cy="274320"/>
          </a:xfrm>
          <a:prstGeom prst="rect">
            <a:avLst/>
          </a:prstGeom>
        </p:spPr>
      </p:pic>
      <p:sp>
        <p:nvSpPr>
          <p:cNvPr id="46" name="Text 43"/>
          <p:cNvSpPr txBox="1"/>
          <p:nvPr/>
        </p:nvSpPr>
        <p:spPr>
          <a:xfrm>
            <a:off x="1508760" y="449884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bad slot in the list</a:t>
            </a:r>
            <a:endParaRPr lang="en-US" sz="1450" dirty="0"/>
          </a:p>
        </p:txBody>
      </p:sp>
      <p:sp>
        <p:nvSpPr>
          <p:cNvPr id="47" name="Shape 44"/>
          <p:cNvSpPr/>
          <p:nvPr/>
        </p:nvSpPr>
        <p:spPr>
          <a:xfrm>
            <a:off x="1508760" y="4937760"/>
            <a:ext cx="5349240" cy="413766"/>
          </a:xfrm>
          <a:prstGeom prst="roundRect">
            <a:avLst>
              <a:gd name="adj" fmla="val 13260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8" name="Text 45"/>
          <p:cNvSpPr txBox="1"/>
          <p:nvPr/>
        </p:nvSpPr>
        <p:spPr>
          <a:xfrm>
            <a:off x="1673352" y="4937760"/>
            <a:ext cx="5074920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 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"dayOfWeek"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"Funday"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"timeSlot"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 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"07:00-12:00"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}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1508760" y="54406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a 400 with the reason, and nothing is saved.</a:t>
            </a:r>
            <a:endParaRPr lang="en-US" sz="1250" dirty="0"/>
          </a:p>
        </p:txBody>
      </p:sp>
      <p:sp>
        <p:nvSpPr>
          <p:cNvPr id="50" name="Shape 47"/>
          <p:cNvSpPr/>
          <p:nvPr/>
        </p:nvSpPr>
        <p:spPr>
          <a:xfrm>
            <a:off x="7360920" y="1463040"/>
            <a:ext cx="4282135" cy="2148840"/>
          </a:xfrm>
          <a:prstGeom prst="roundRect">
            <a:avLst>
              <a:gd name="adj" fmla="val 4255"/>
            </a:avLst>
          </a:prstGeom>
          <a:solidFill>
            <a:srgbClr val="13304F"/>
          </a:solidFill>
          <a:ln w="15875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1" name="Shape 48"/>
          <p:cNvSpPr/>
          <p:nvPr/>
        </p:nvSpPr>
        <p:spPr>
          <a:xfrm>
            <a:off x="7562088" y="1691640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2" name="Text 49"/>
          <p:cNvSpPr txBox="1"/>
          <p:nvPr/>
        </p:nvSpPr>
        <p:spPr>
          <a:xfrm>
            <a:off x="7562088" y="1691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3" name="Text 50"/>
          <p:cNvSpPr txBox="1"/>
          <p:nvPr/>
        </p:nvSpPr>
        <p:spPr>
          <a:xfrm>
            <a:off x="8001000" y="1645920"/>
            <a:ext cx="3459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slot first</a:t>
            </a:r>
            <a:endParaRPr lang="en-US" sz="1500" dirty="0"/>
          </a:p>
        </p:txBody>
      </p:sp>
      <p:sp>
        <p:nvSpPr>
          <p:cNvPr id="54" name="Text 51"/>
          <p:cNvSpPr txBox="1"/>
          <p:nvPr/>
        </p:nvSpPr>
        <p:spPr>
          <a:xfrm>
            <a:off x="7589520" y="2148840"/>
            <a:ext cx="38249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day names and the three shift blocks only, before touching the database.</a:t>
            </a:r>
            <a:endParaRPr lang="en-US" sz="1250" dirty="0"/>
          </a:p>
        </p:txBody>
      </p:sp>
      <p:sp>
        <p:nvSpPr>
          <p:cNvPr id="55" name="Shape 52"/>
          <p:cNvSpPr/>
          <p:nvPr/>
        </p:nvSpPr>
        <p:spPr>
          <a:xfrm>
            <a:off x="7589520" y="2926080"/>
            <a:ext cx="3824935" cy="405384"/>
          </a:xfrm>
          <a:prstGeom prst="roundRect">
            <a:avLst>
              <a:gd name="adj" fmla="val 13534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6" name="Text 53"/>
          <p:cNvSpPr txBox="1"/>
          <p:nvPr/>
        </p:nvSpPr>
        <p:spPr>
          <a:xfrm>
            <a:off x="7754112" y="2926080"/>
            <a:ext cx="3550615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(!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ValidDays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DayOfWeek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7360920" y="3840480"/>
            <a:ext cx="4282135" cy="2148840"/>
          </a:xfrm>
          <a:prstGeom prst="roundRect">
            <a:avLst>
              <a:gd name="adj" fmla="val 4255"/>
            </a:avLst>
          </a:prstGeom>
          <a:solidFill>
            <a:srgbClr val="13304F"/>
          </a:solidFill>
          <a:ln w="15875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8" name="Shape 55"/>
          <p:cNvSpPr/>
          <p:nvPr/>
        </p:nvSpPr>
        <p:spPr>
          <a:xfrm>
            <a:off x="7562088" y="4069080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9" name="Text 56"/>
          <p:cNvSpPr txBox="1"/>
          <p:nvPr/>
        </p:nvSpPr>
        <p:spPr>
          <a:xfrm>
            <a:off x="7562088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8001000" y="4023360"/>
            <a:ext cx="3459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replace the whole set</a:t>
            </a:r>
            <a:endParaRPr lang="en-US" sz="1500" dirty="0"/>
          </a:p>
        </p:txBody>
      </p:sp>
      <p:sp>
        <p:nvSpPr>
          <p:cNvPr id="61" name="Text 58"/>
          <p:cNvSpPr txBox="1"/>
          <p:nvPr/>
        </p:nvSpPr>
        <p:spPr>
          <a:xfrm>
            <a:off x="7589520" y="4526280"/>
            <a:ext cx="38249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availability is swapped for the new list in one go.</a:t>
            </a:r>
            <a:endParaRPr lang="en-US" sz="1250" dirty="0"/>
          </a:p>
        </p:txBody>
      </p:sp>
      <p:sp>
        <p:nvSpPr>
          <p:cNvPr id="62" name="Shape 59"/>
          <p:cNvSpPr/>
          <p:nvPr/>
        </p:nvSpPr>
        <p:spPr>
          <a:xfrm>
            <a:off x="7589520" y="5303520"/>
            <a:ext cx="3824935" cy="365150"/>
          </a:xfrm>
          <a:prstGeom prst="roundRect">
            <a:avLst>
              <a:gd name="adj" fmla="val 15025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3" name="Text 60"/>
          <p:cNvSpPr txBox="1"/>
          <p:nvPr/>
        </p:nvSpPr>
        <p:spPr>
          <a:xfrm>
            <a:off x="7754112" y="5303520"/>
            <a:ext cx="3550615" cy="365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7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76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_availabilityRepository</a:t>
            </a:r>
            <a:r>
              <a:rPr lang="en-US" sz="7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7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ReplaceAllAsync</a:t>
            </a:r>
            <a:r>
              <a:rPr lang="en-US" sz="7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76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</a:t>
            </a:r>
            <a:r>
              <a:rPr lang="en-US" sz="7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76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</a:t>
            </a:r>
            <a:r>
              <a:rPr lang="en-US" sz="7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7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 SHIFT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checks before a booking is accepted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6217920" cy="603504"/>
          </a:xfrm>
          <a:prstGeom prst="roundRect">
            <a:avLst>
              <a:gd name="adj" fmla="val 15152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685800" y="154533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 txBox="1"/>
          <p:nvPr/>
        </p:nvSpPr>
        <p:spPr>
          <a:xfrm>
            <a:off x="685800" y="1545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41732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exists   </a:t>
            </a: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404 Not Found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508760"/>
            <a:ext cx="420624" cy="420624"/>
          </a:xfrm>
          <a:prstGeom prst="ellipse">
            <a:avLst/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1613916"/>
            <a:ext cx="210312" cy="21031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2130552"/>
            <a:ext cx="6217920" cy="603504"/>
          </a:xfrm>
          <a:prstGeom prst="roundRect">
            <a:avLst>
              <a:gd name="adj" fmla="val 15152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9"/>
          <p:cNvSpPr/>
          <p:nvPr/>
        </p:nvSpPr>
        <p:spPr>
          <a:xfrm>
            <a:off x="685800" y="225856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0"/>
          <p:cNvSpPr txBox="1"/>
          <p:nvPr/>
        </p:nvSpPr>
        <p:spPr>
          <a:xfrm>
            <a:off x="685800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13055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still room   </a:t>
            </a: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bookings are below capacity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17920" y="2221992"/>
            <a:ext cx="420624" cy="420624"/>
          </a:xfrm>
          <a:prstGeom prst="ellipse">
            <a:avLst/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2327148"/>
            <a:ext cx="210312" cy="21031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" y="2843784"/>
            <a:ext cx="6217920" cy="603504"/>
          </a:xfrm>
          <a:prstGeom prst="roundRect">
            <a:avLst>
              <a:gd name="adj" fmla="val 15152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4"/>
          <p:cNvSpPr/>
          <p:nvPr/>
        </p:nvSpPr>
        <p:spPr>
          <a:xfrm>
            <a:off x="685800" y="297180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5"/>
          <p:cNvSpPr txBox="1"/>
          <p:nvPr/>
        </p:nvSpPr>
        <p:spPr>
          <a:xfrm>
            <a:off x="685800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1188720" y="284378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for it   </a:t>
            </a: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required skill is signed off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217920" y="2935224"/>
            <a:ext cx="420624" cy="420624"/>
          </a:xfrm>
          <a:prstGeom prst="ellipse">
            <a:avLst/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3040380"/>
            <a:ext cx="210312" cy="21031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48640" y="3557016"/>
            <a:ext cx="6217920" cy="603504"/>
          </a:xfrm>
          <a:prstGeom prst="roundRect">
            <a:avLst>
              <a:gd name="adj" fmla="val 15152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Shape 19"/>
          <p:cNvSpPr/>
          <p:nvPr/>
        </p:nvSpPr>
        <p:spPr>
          <a:xfrm>
            <a:off x="685800" y="368503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0"/>
          <p:cNvSpPr txBox="1"/>
          <p:nvPr/>
        </p:nvSpPr>
        <p:spPr>
          <a:xfrm>
            <a:off x="685800" y="3685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1188720" y="3557016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hours a week, at most   </a:t>
            </a: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the new shift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217920" y="3648456"/>
            <a:ext cx="420624" cy="420624"/>
          </a:xfrm>
          <a:prstGeom prst="ellipse">
            <a:avLst/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3753612"/>
            <a:ext cx="210312" cy="210312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548640" y="4270248"/>
            <a:ext cx="6217920" cy="603504"/>
          </a:xfrm>
          <a:prstGeom prst="roundRect">
            <a:avLst>
              <a:gd name="adj" fmla="val 15152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Shape 24"/>
          <p:cNvSpPr/>
          <p:nvPr/>
        </p:nvSpPr>
        <p:spPr>
          <a:xfrm>
            <a:off x="685800" y="439826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5"/>
          <p:cNvSpPr txBox="1"/>
          <p:nvPr/>
        </p:nvSpPr>
        <p:spPr>
          <a:xfrm>
            <a:off x="685800" y="4398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1188720" y="427024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 a week, at most   </a:t>
            </a: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working days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6217920" y="4361688"/>
            <a:ext cx="420624" cy="420624"/>
          </a:xfrm>
          <a:prstGeom prst="ellipse">
            <a:avLst/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4466844"/>
            <a:ext cx="210312" cy="210312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548640" y="4983480"/>
            <a:ext cx="6217920" cy="603504"/>
          </a:xfrm>
          <a:prstGeom prst="roundRect">
            <a:avLst>
              <a:gd name="adj" fmla="val 15152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Shape 29"/>
          <p:cNvSpPr/>
          <p:nvPr/>
        </p:nvSpPr>
        <p:spPr>
          <a:xfrm>
            <a:off x="685800" y="511149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Text 30"/>
          <p:cNvSpPr txBox="1"/>
          <p:nvPr/>
        </p:nvSpPr>
        <p:spPr>
          <a:xfrm>
            <a:off x="685800" y="5111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1188720" y="498348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 in a row, at most   </a:t>
            </a: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across the days either side</a:t>
            </a:r>
            <a:endParaRPr lang="en-US" sz="1300" dirty="0"/>
          </a:p>
        </p:txBody>
      </p:sp>
      <p:sp>
        <p:nvSpPr>
          <p:cNvPr id="39" name="Shape 32"/>
          <p:cNvSpPr/>
          <p:nvPr/>
        </p:nvSpPr>
        <p:spPr>
          <a:xfrm>
            <a:off x="6217920" y="5074920"/>
            <a:ext cx="420624" cy="420624"/>
          </a:xfrm>
          <a:prstGeom prst="ellipse">
            <a:avLst/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5180076"/>
            <a:ext cx="210312" cy="210312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548640" y="5760720"/>
            <a:ext cx="6217920" cy="457200"/>
          </a:xfrm>
          <a:prstGeom prst="roundRect">
            <a:avLst>
              <a:gd name="adj" fmla="val 50000"/>
            </a:avLst>
          </a:prstGeom>
          <a:solidFill>
            <a:srgbClr val="7BD389"/>
          </a:solidFill>
          <a:ln w="12700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2" name="Text 34"/>
          <p:cNvSpPr txBox="1"/>
          <p:nvPr/>
        </p:nvSpPr>
        <p:spPr>
          <a:xfrm>
            <a:off x="548640" y="57607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Booked</a:t>
            </a:r>
            <a:endParaRPr lang="en-US" sz="1500" dirty="0"/>
          </a:p>
        </p:txBody>
      </p:sp>
      <p:sp>
        <p:nvSpPr>
          <p:cNvPr id="43" name="Shape 35"/>
          <p:cNvSpPr/>
          <p:nvPr/>
        </p:nvSpPr>
        <p:spPr>
          <a:xfrm>
            <a:off x="7086600" y="1417320"/>
            <a:ext cx="1396898" cy="2148840"/>
          </a:xfrm>
          <a:prstGeom prst="roundRect">
            <a:avLst>
              <a:gd name="adj" fmla="val 654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4" name="Shape 36"/>
          <p:cNvSpPr/>
          <p:nvPr/>
        </p:nvSpPr>
        <p:spPr>
          <a:xfrm>
            <a:off x="7315200" y="1673352"/>
            <a:ext cx="457200" cy="54864"/>
          </a:xfrm>
          <a:prstGeom prst="rect">
            <a:avLst/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5" name="Text 37"/>
          <p:cNvSpPr txBox="1"/>
          <p:nvPr/>
        </p:nvSpPr>
        <p:spPr>
          <a:xfrm>
            <a:off x="7315200" y="1801368"/>
            <a:ext cx="1031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400" b="1" dirty="0">
                <a:solidFill>
                  <a:srgbClr val="F07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4400" dirty="0"/>
          </a:p>
        </p:txBody>
      </p:sp>
      <p:sp>
        <p:nvSpPr>
          <p:cNvPr id="46" name="Text 38"/>
          <p:cNvSpPr txBox="1"/>
          <p:nvPr/>
        </p:nvSpPr>
        <p:spPr>
          <a:xfrm>
            <a:off x="7315200" y="2651760"/>
            <a:ext cx="985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</a:t>
            </a:r>
            <a:endParaRPr lang="en-US" sz="1300" dirty="0"/>
          </a:p>
        </p:txBody>
      </p:sp>
      <p:sp>
        <p:nvSpPr>
          <p:cNvPr id="47" name="Shape 39"/>
          <p:cNvSpPr/>
          <p:nvPr/>
        </p:nvSpPr>
        <p:spPr>
          <a:xfrm>
            <a:off x="8666378" y="1417320"/>
            <a:ext cx="1396898" cy="2148840"/>
          </a:xfrm>
          <a:prstGeom prst="roundRect">
            <a:avLst>
              <a:gd name="adj" fmla="val 654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8" name="Shape 40"/>
          <p:cNvSpPr/>
          <p:nvPr/>
        </p:nvSpPr>
        <p:spPr>
          <a:xfrm>
            <a:off x="8894978" y="1673352"/>
            <a:ext cx="457200" cy="54864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9" name="Text 41"/>
          <p:cNvSpPr txBox="1"/>
          <p:nvPr/>
        </p:nvSpPr>
        <p:spPr>
          <a:xfrm>
            <a:off x="8894978" y="1801368"/>
            <a:ext cx="1031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4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50" name="Text 42"/>
          <p:cNvSpPr txBox="1"/>
          <p:nvPr/>
        </p:nvSpPr>
        <p:spPr>
          <a:xfrm>
            <a:off x="8894978" y="2651760"/>
            <a:ext cx="985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</a:t>
            </a:r>
            <a:endParaRPr lang="en-US" sz="1300" dirty="0"/>
          </a:p>
        </p:txBody>
      </p:sp>
      <p:sp>
        <p:nvSpPr>
          <p:cNvPr id="51" name="Shape 43"/>
          <p:cNvSpPr/>
          <p:nvPr/>
        </p:nvSpPr>
        <p:spPr>
          <a:xfrm>
            <a:off x="10246157" y="1417320"/>
            <a:ext cx="1396898" cy="2148840"/>
          </a:xfrm>
          <a:prstGeom prst="roundRect">
            <a:avLst>
              <a:gd name="adj" fmla="val 654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2" name="Shape 44"/>
          <p:cNvSpPr/>
          <p:nvPr/>
        </p:nvSpPr>
        <p:spPr>
          <a:xfrm>
            <a:off x="10474757" y="1673352"/>
            <a:ext cx="457200" cy="54864"/>
          </a:xfrm>
          <a:prstGeom prst="rect">
            <a:avLst/>
          </a:prstGeom>
          <a:solidFill>
            <a:srgbClr val="5ED3C6"/>
          </a:solidFill>
          <a:ln w="12700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3" name="Text 45"/>
          <p:cNvSpPr txBox="1"/>
          <p:nvPr/>
        </p:nvSpPr>
        <p:spPr>
          <a:xfrm>
            <a:off x="10474757" y="1801368"/>
            <a:ext cx="10311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400" b="1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54" name="Text 46"/>
          <p:cNvSpPr txBox="1"/>
          <p:nvPr/>
        </p:nvSpPr>
        <p:spPr>
          <a:xfrm>
            <a:off x="10474757" y="2651760"/>
            <a:ext cx="985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row</a:t>
            </a:r>
            <a:endParaRPr lang="en-US" sz="1300" dirty="0"/>
          </a:p>
        </p:txBody>
      </p:sp>
      <p:sp>
        <p:nvSpPr>
          <p:cNvPr id="55" name="Shape 47"/>
          <p:cNvSpPr/>
          <p:nvPr/>
        </p:nvSpPr>
        <p:spPr>
          <a:xfrm>
            <a:off x="7086600" y="3794760"/>
            <a:ext cx="4556455" cy="1138428"/>
          </a:xfrm>
          <a:prstGeom prst="roundRect">
            <a:avLst>
              <a:gd name="adj" fmla="val 6426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  <a:effectLst>
            <a:outerShdw blurRad="1270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6" name="Shape 48"/>
          <p:cNvSpPr/>
          <p:nvPr/>
        </p:nvSpPr>
        <p:spPr>
          <a:xfrm>
            <a:off x="7086600" y="3794760"/>
            <a:ext cx="4556455" cy="329184"/>
          </a:xfrm>
          <a:prstGeom prst="roundRect">
            <a:avLst>
              <a:gd name="adj" fmla="val 22222"/>
            </a:avLst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7" name="Shape 49"/>
          <p:cNvSpPr/>
          <p:nvPr/>
        </p:nvSpPr>
        <p:spPr>
          <a:xfrm>
            <a:off x="7086600" y="3959352"/>
            <a:ext cx="4556455" cy="164592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8" name="Text 50"/>
          <p:cNvSpPr txBox="1"/>
          <p:nvPr/>
        </p:nvSpPr>
        <p:spPr>
          <a:xfrm>
            <a:off x="7251192" y="3794760"/>
            <a:ext cx="4282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VacancyBookingService.cs</a:t>
            </a:r>
            <a:r>
              <a:rPr lang="en-US" sz="10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limits</a:t>
            </a:r>
            <a:endParaRPr lang="en-US" sz="1050" dirty="0"/>
          </a:p>
        </p:txBody>
      </p:sp>
      <p:sp>
        <p:nvSpPr>
          <p:cNvPr id="59" name="Text 51"/>
          <p:cNvSpPr txBox="1"/>
          <p:nvPr/>
        </p:nvSpPr>
        <p:spPr>
          <a:xfrm>
            <a:off x="7132320" y="4251960"/>
            <a:ext cx="3657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452"/>
              </a:lnSpc>
              <a:buNone/>
            </a:pPr>
            <a:r>
              <a:rPr lang="en-US" sz="11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  <a:p>
            <a:pPr marL="0" indent="0" algn="r">
              <a:lnSpc>
                <a:spcPts val="1452"/>
              </a:lnSpc>
              <a:buNone/>
            </a:pPr>
            <a:r>
              <a:rPr lang="en-US" sz="11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100" dirty="0"/>
          </a:p>
          <a:p>
            <a:pPr marL="0" indent="0" algn="r">
              <a:lnSpc>
                <a:spcPts val="1452"/>
              </a:lnSpc>
              <a:buNone/>
            </a:pPr>
            <a:r>
              <a:rPr lang="en-US" sz="11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100" dirty="0"/>
          </a:p>
        </p:txBody>
      </p:sp>
      <p:sp>
        <p:nvSpPr>
          <p:cNvPr id="60" name="Text 52"/>
          <p:cNvSpPr txBox="1"/>
          <p:nvPr/>
        </p:nvSpPr>
        <p:spPr>
          <a:xfrm>
            <a:off x="7726680" y="4251960"/>
            <a:ext cx="3824935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MaxWeeklyHours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MaxDaysPerWeek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marL="0" indent="0">
              <a:lnSpc>
                <a:spcPts val="1452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MaxConsecutiveDays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61" name="Text 53"/>
          <p:cNvSpPr txBox="1"/>
          <p:nvPr/>
        </p:nvSpPr>
        <p:spPr>
          <a:xfrm>
            <a:off x="7086600" y="5166360"/>
            <a:ext cx="4556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i="1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check returns the reason, which the app shows to the volunteer.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6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9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2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7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0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3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6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9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2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 tmFilter="0, 0; .2, .5; .8, .5; 1, 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7" dur="2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0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3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1" grpId="0" animBg="1"/>
      <p:bldP spid="4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AA9E6"/>
          </a:solidFill>
          <a:ln w="12700">
            <a:solidFill>
              <a:srgbClr val="5AA9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AA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once, and everyone who needs to know is told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331720" cy="1828800"/>
          </a:xfrm>
          <a:prstGeom prst="roundRect">
            <a:avLst>
              <a:gd name="adj" fmla="val 5000"/>
            </a:avLst>
          </a:prstGeom>
          <a:solidFill>
            <a:srgbClr val="13304F"/>
          </a:solidFill>
          <a:ln w="15875">
            <a:solidFill>
              <a:srgbClr val="5AA9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731520" y="2532888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70048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2004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/change-requests/{id}/approve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926080" y="3246120"/>
            <a:ext cx="548640" cy="914"/>
          </a:xfrm>
          <a:prstGeom prst="line">
            <a:avLst/>
          </a:prstGeom>
          <a:noFill/>
          <a:ln w="25400">
            <a:solidFill>
              <a:srgbClr val="5AA9E6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7"/>
          <p:cNvSpPr/>
          <p:nvPr/>
        </p:nvSpPr>
        <p:spPr>
          <a:xfrm>
            <a:off x="3520440" y="2331720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13304F"/>
          </a:solidFill>
          <a:ln w="15875">
            <a:solidFill>
              <a:srgbClr val="5AA9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8"/>
          <p:cNvSpPr/>
          <p:nvPr/>
        </p:nvSpPr>
        <p:spPr>
          <a:xfrm>
            <a:off x="3703320" y="2532888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267004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703320" y="32004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spot reopens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marked Vacant: a soft delete that keeps history.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452360" y="1417320"/>
            <a:ext cx="4190695" cy="1143000"/>
          </a:xfrm>
          <a:prstGeom prst="roundRect">
            <a:avLst>
              <a:gd name="adj" fmla="val 8000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Shape 11"/>
          <p:cNvSpPr/>
          <p:nvPr/>
        </p:nvSpPr>
        <p:spPr>
          <a:xfrm>
            <a:off x="7635240" y="1691640"/>
            <a:ext cx="566928" cy="566928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6972" y="183337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1508760"/>
            <a:ext cx="31391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volunteer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request was approved" in the app.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 flipV="1">
            <a:off x="6400800" y="1988820"/>
            <a:ext cx="1005840" cy="1257300"/>
          </a:xfrm>
          <a:prstGeom prst="line">
            <a:avLst/>
          </a:prstGeom>
          <a:noFill/>
          <a:ln w="19050">
            <a:solidFill>
              <a:srgbClr val="5AA9E6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9" name="Shape 14"/>
          <p:cNvSpPr/>
          <p:nvPr/>
        </p:nvSpPr>
        <p:spPr>
          <a:xfrm>
            <a:off x="7452360" y="2743200"/>
            <a:ext cx="4190695" cy="1143000"/>
          </a:xfrm>
          <a:prstGeom prst="roundRect">
            <a:avLst>
              <a:gd name="adj" fmla="val 8000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Shape 15"/>
          <p:cNvSpPr/>
          <p:nvPr/>
        </p:nvSpPr>
        <p:spPr>
          <a:xfrm>
            <a:off x="7635240" y="3017520"/>
            <a:ext cx="566928" cy="566928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6972" y="3159252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366760" y="2834640"/>
            <a:ext cx="31391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volunteers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Told the shift has an open spot.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400800" y="3246120"/>
            <a:ext cx="1005840" cy="68580"/>
          </a:xfrm>
          <a:prstGeom prst="line">
            <a:avLst/>
          </a:prstGeom>
          <a:noFill/>
          <a:ln w="19050">
            <a:solidFill>
              <a:srgbClr val="5AA9E6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24" name="Shape 18"/>
          <p:cNvSpPr/>
          <p:nvPr/>
        </p:nvSpPr>
        <p:spPr>
          <a:xfrm>
            <a:off x="7452360" y="4069080"/>
            <a:ext cx="4190695" cy="1143000"/>
          </a:xfrm>
          <a:prstGeom prst="roundRect">
            <a:avLst>
              <a:gd name="adj" fmla="val 8000"/>
            </a:avLst>
          </a:prstGeom>
          <a:solidFill>
            <a:srgbClr val="13304F"/>
          </a:solidFill>
          <a:ln w="15875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Shape 19"/>
          <p:cNvSpPr/>
          <p:nvPr/>
        </p:nvSpPr>
        <p:spPr>
          <a:xfrm>
            <a:off x="7635240" y="4343400"/>
            <a:ext cx="566928" cy="566928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6972" y="4485132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366760" y="4160520"/>
            <a:ext cx="31391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Admins, live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Saved, then pushed over SignalR to the dashboard.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400800" y="3246120"/>
            <a:ext cx="1005840" cy="1394460"/>
          </a:xfrm>
          <a:prstGeom prst="line">
            <a:avLst/>
          </a:prstGeom>
          <a:noFill/>
          <a:ln w="19050">
            <a:solidFill>
              <a:srgbClr val="5AA9E6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29" name="Shape 22"/>
          <p:cNvSpPr/>
          <p:nvPr/>
        </p:nvSpPr>
        <p:spPr>
          <a:xfrm>
            <a:off x="548640" y="5532120"/>
            <a:ext cx="5394960" cy="422148"/>
          </a:xfrm>
          <a:prstGeom prst="roundRect">
            <a:avLst>
              <a:gd name="adj" fmla="val 12996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3"/>
          <p:cNvSpPr txBox="1"/>
          <p:nvPr/>
        </p:nvSpPr>
        <p:spPr>
          <a:xfrm>
            <a:off x="713232" y="5532120"/>
            <a:ext cx="5120640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 </a:t>
            </a: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RosterAssignmentStatus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Vacant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217920" y="5532120"/>
            <a:ext cx="5425135" cy="413766"/>
          </a:xfrm>
          <a:prstGeom prst="roundRect">
            <a:avLst>
              <a:gd name="adj" fmla="val 13260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25"/>
          <p:cNvSpPr txBox="1"/>
          <p:nvPr/>
        </p:nvSpPr>
        <p:spPr>
          <a:xfrm>
            <a:off x="6382512" y="5532120"/>
            <a:ext cx="5150815" cy="41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_hub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Clients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SendAsync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"ReceiveNotification"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 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endParaRPr lang="en-US" sz="1050" dirty="0"/>
          </a:p>
        </p:txBody>
      </p:sp>
    </p:spTree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D3C6"/>
          </a:solidFill>
          <a:ln w="12700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AND FIXED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bugs, all fixed before the demo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567864" cy="91440"/>
          </a:xfrm>
          <a:prstGeom prst="rect">
            <a:avLst/>
          </a:prstGeom>
          <a:solidFill>
            <a:srgbClr val="5ED3C6"/>
          </a:solidFill>
          <a:ln w="12700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 txBox="1"/>
          <p:nvPr/>
        </p:nvSpPr>
        <p:spPr>
          <a:xfrm>
            <a:off x="822960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2156384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834" y="2137410"/>
            <a:ext cx="342900" cy="3429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is now final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JwtBearerEvents assignment silently replaced the revocation check. Merged into one, so a revoked token is refused at once.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90824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9"/>
          <p:cNvSpPr/>
          <p:nvPr/>
        </p:nvSpPr>
        <p:spPr>
          <a:xfrm>
            <a:off x="3390824" y="1600200"/>
            <a:ext cx="2567864" cy="91440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0"/>
          <p:cNvSpPr txBox="1"/>
          <p:nvPr/>
        </p:nvSpPr>
        <p:spPr>
          <a:xfrm>
            <a:off x="3665144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Shape 11"/>
          <p:cNvSpPr/>
          <p:nvPr/>
        </p:nvSpPr>
        <p:spPr>
          <a:xfrm>
            <a:off x="4998568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018" y="2137410"/>
            <a:ext cx="342900" cy="3429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665144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guesses are limited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rate limiter was registered but never switched on. UseRateLimiter() is now in the pipeline: 10 guesses a minute.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33008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4"/>
          <p:cNvSpPr/>
          <p:nvPr/>
        </p:nvSpPr>
        <p:spPr>
          <a:xfrm>
            <a:off x="6233008" y="1600200"/>
            <a:ext cx="2567864" cy="91440"/>
          </a:xfrm>
          <a:prstGeom prst="rect">
            <a:avLst/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5"/>
          <p:cNvSpPr txBox="1"/>
          <p:nvPr/>
        </p:nvSpPr>
        <p:spPr>
          <a:xfrm>
            <a:off x="6507328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F07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20" name="Shape 16"/>
          <p:cNvSpPr/>
          <p:nvPr/>
        </p:nvSpPr>
        <p:spPr>
          <a:xfrm>
            <a:off x="7840751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201" y="2137410"/>
            <a:ext cx="342900" cy="3429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07328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hold under load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transaction and no duplicate check. A row lock and a transaction mean two people can't take the last spot.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9075191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Shape 19"/>
          <p:cNvSpPr/>
          <p:nvPr/>
        </p:nvSpPr>
        <p:spPr>
          <a:xfrm>
            <a:off x="9075191" y="1600200"/>
            <a:ext cx="2567864" cy="91440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0"/>
          <p:cNvSpPr txBox="1"/>
          <p:nvPr/>
        </p:nvSpPr>
        <p:spPr>
          <a:xfrm>
            <a:off x="9349511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26" name="Shape 21"/>
          <p:cNvSpPr/>
          <p:nvPr/>
        </p:nvSpPr>
        <p:spPr>
          <a:xfrm>
            <a:off x="10682935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4385" y="2137410"/>
            <a:ext cx="342900" cy="3429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349511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double-booking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app showed overlapping shifts on one day. Booking now runs the same overlap check as roster generation.</a:t>
            </a:r>
            <a:endParaRPr lang="en-US" sz="1300" dirty="0"/>
          </a:p>
        </p:txBody>
      </p:sp>
    </p:spTree>
  </p:cSld>
  <p:clrMapOvr>
    <a:masterClrMapping/>
  </p:clrMapOvr>
  <p:transition spd="slow">
    <p:randomBar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API, three promises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731520" y="2148840"/>
            <a:ext cx="3429000" cy="1325880"/>
          </a:xfrm>
          <a:prstGeom prst="roundRect">
            <a:avLst>
              <a:gd name="adj" fmla="val 827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3"/>
          <p:cNvSpPr/>
          <p:nvPr/>
        </p:nvSpPr>
        <p:spPr>
          <a:xfrm>
            <a:off x="932688" y="2496312"/>
            <a:ext cx="621792" cy="621792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2651760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19072" y="2258568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right people in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passwords, signed tokens, logout that really revokes, and a rate-limited trainer PIN.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434840" y="2148840"/>
            <a:ext cx="3429000" cy="1325880"/>
          </a:xfrm>
          <a:prstGeom prst="roundRect">
            <a:avLst>
              <a:gd name="adj" fmla="val 827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6"/>
          <p:cNvSpPr/>
          <p:nvPr/>
        </p:nvSpPr>
        <p:spPr>
          <a:xfrm>
            <a:off x="4636008" y="2496312"/>
            <a:ext cx="621792" cy="621792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2651760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22392" y="2258568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breaks the rules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hour limits and overlaps are enforced on the server, and bookings are locked.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38160" y="2148840"/>
            <a:ext cx="3429000" cy="1325880"/>
          </a:xfrm>
          <a:prstGeom prst="roundRect">
            <a:avLst>
              <a:gd name="adj" fmla="val 827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Shape 9"/>
          <p:cNvSpPr/>
          <p:nvPr/>
        </p:nvSpPr>
        <p:spPr>
          <a:xfrm>
            <a:off x="8339328" y="2496312"/>
            <a:ext cx="621792" cy="621792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776" y="2651760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125712" y="2258568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sees the same truth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 behind both apps, with changes pushed to admins live over SignalR.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2112</Words>
  <Application>Microsoft Office PowerPoint</Application>
  <PresentationFormat>Widescreen</PresentationFormat>
  <Paragraphs>381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 the Hood: Accounts, Security and Bookings</dc:title>
  <dc:subject>PptxGenJS Presentation</dc:subject>
  <dc:creator>PptxGenJS</dc:creator>
  <cp:lastModifiedBy>Funi Mapunda</cp:lastModifiedBy>
  <cp:revision>2</cp:revision>
  <dcterms:created xsi:type="dcterms:W3CDTF">2026-10-03T07:38:34Z</dcterms:created>
  <dcterms:modified xsi:type="dcterms:W3CDTF">2026-10-04T20:58:24Z</dcterms:modified>
</cp:coreProperties>
</file>