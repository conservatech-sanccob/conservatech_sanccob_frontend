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71" r:id="rId3"/>
    <p:sldId id="269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70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3578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GitHub Actions: build, test, publish, deploy
- 29 passed, 1 skipped
- Deploys only from main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1417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 ·  TESTING  ·  HOSTING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7830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Push to Production</a:t>
            </a:r>
            <a:endParaRPr lang="en-US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9260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change is versioned, tested, shipped and checked before it reaches a real user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3AC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Actions  ·  xUnit  ·  Jest  ·  Azure  ·  Vercel  ·  Neon</a:t>
            </a:r>
            <a:endParaRPr lang="en-US" sz="1400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1A210674-828B-35EE-DACA-934063D898DB}"/>
              </a:ext>
            </a:extLst>
          </p:cNvPr>
          <p:cNvSpPr txBox="1"/>
          <p:nvPr/>
        </p:nvSpPr>
        <p:spPr>
          <a:xfrm>
            <a:off x="731520" y="4243873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BY: FUNI MAPUNDA (ST10438308)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ED3C6"/>
          </a:solidFill>
          <a:ln w="12700">
            <a:solidFill>
              <a:srgbClr val="5ED3C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control, as it actually happened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567864" cy="4206240"/>
          </a:xfrm>
          <a:prstGeom prst="roundRect">
            <a:avLst>
              <a:gd name="adj" fmla="val 3561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567864" cy="91440"/>
          </a:xfrm>
          <a:prstGeom prst="rect">
            <a:avLst/>
          </a:prstGeom>
          <a:solidFill>
            <a:srgbClr val="5ED3C6"/>
          </a:solidFill>
          <a:ln w="12700">
            <a:solidFill>
              <a:srgbClr val="5ED3C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 txBox="1"/>
          <p:nvPr/>
        </p:nvSpPr>
        <p:spPr>
          <a:xfrm>
            <a:off x="822960" y="1920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4000" b="1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2156384" y="1965960"/>
            <a:ext cx="685800" cy="68580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7834" y="2137410"/>
            <a:ext cx="342900" cy="3429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960" y="2926080"/>
            <a:ext cx="20649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branch per feature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for the owner and the feature, like Lofentse-Staff_Training_Page.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90824" y="1600200"/>
            <a:ext cx="2567864" cy="4206240"/>
          </a:xfrm>
          <a:prstGeom prst="roundRect">
            <a:avLst>
              <a:gd name="adj" fmla="val 3561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Shape 9"/>
          <p:cNvSpPr/>
          <p:nvPr/>
        </p:nvSpPr>
        <p:spPr>
          <a:xfrm>
            <a:off x="3390824" y="1600200"/>
            <a:ext cx="2567864" cy="91440"/>
          </a:xfrm>
          <a:prstGeom prst="rect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0"/>
          <p:cNvSpPr txBox="1"/>
          <p:nvPr/>
        </p:nvSpPr>
        <p:spPr>
          <a:xfrm>
            <a:off x="3665144" y="1920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40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000" dirty="0"/>
          </a:p>
        </p:txBody>
      </p:sp>
      <p:sp>
        <p:nvSpPr>
          <p:cNvPr id="14" name="Shape 11"/>
          <p:cNvSpPr/>
          <p:nvPr/>
        </p:nvSpPr>
        <p:spPr>
          <a:xfrm>
            <a:off x="4998568" y="1965960"/>
            <a:ext cx="685800" cy="68580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0018" y="2137410"/>
            <a:ext cx="342900" cy="3429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665144" y="2926080"/>
            <a:ext cx="20649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 into main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reaches main through pull requests, so every merge is a visible step.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233008" y="1600200"/>
            <a:ext cx="2567864" cy="4206240"/>
          </a:xfrm>
          <a:prstGeom prst="roundRect">
            <a:avLst>
              <a:gd name="adj" fmla="val 3561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Shape 14"/>
          <p:cNvSpPr/>
          <p:nvPr/>
        </p:nvSpPr>
        <p:spPr>
          <a:xfrm>
            <a:off x="6233008" y="1600200"/>
            <a:ext cx="2567864" cy="91440"/>
          </a:xfrm>
          <a:prstGeom prst="rect">
            <a:avLst/>
          </a:prstGeom>
          <a:solidFill>
            <a:srgbClr val="F07167"/>
          </a:solidFill>
          <a:ln w="12700">
            <a:solidFill>
              <a:srgbClr val="F07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5"/>
          <p:cNvSpPr txBox="1"/>
          <p:nvPr/>
        </p:nvSpPr>
        <p:spPr>
          <a:xfrm>
            <a:off x="6507328" y="1920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4000" b="1" dirty="0">
                <a:solidFill>
                  <a:srgbClr val="F07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000" dirty="0"/>
          </a:p>
        </p:txBody>
      </p:sp>
      <p:sp>
        <p:nvSpPr>
          <p:cNvPr id="20" name="Shape 16"/>
          <p:cNvSpPr/>
          <p:nvPr/>
        </p:nvSpPr>
        <p:spPr>
          <a:xfrm>
            <a:off x="7840751" y="1965960"/>
            <a:ext cx="685800" cy="68580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2201" y="2137410"/>
            <a:ext cx="342900" cy="3429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507328" y="2926080"/>
            <a:ext cx="20649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Reverts, not panic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merge broke a build, revert pull requests (#88, #97) rolled it back cleanly.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9075191" y="1600200"/>
            <a:ext cx="2567864" cy="4206240"/>
          </a:xfrm>
          <a:prstGeom prst="roundRect">
            <a:avLst>
              <a:gd name="adj" fmla="val 3561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Shape 19"/>
          <p:cNvSpPr/>
          <p:nvPr/>
        </p:nvSpPr>
        <p:spPr>
          <a:xfrm>
            <a:off x="9075191" y="1600200"/>
            <a:ext cx="2567864" cy="91440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 20"/>
          <p:cNvSpPr txBox="1"/>
          <p:nvPr/>
        </p:nvSpPr>
        <p:spPr>
          <a:xfrm>
            <a:off x="9349511" y="1920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4000" b="1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000" dirty="0"/>
          </a:p>
        </p:txBody>
      </p:sp>
      <p:sp>
        <p:nvSpPr>
          <p:cNvPr id="26" name="Shape 21"/>
          <p:cNvSpPr/>
          <p:nvPr/>
        </p:nvSpPr>
        <p:spPr>
          <a:xfrm>
            <a:off x="10682935" y="1965960"/>
            <a:ext cx="685800" cy="68580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4385" y="2137410"/>
            <a:ext cx="342900" cy="3429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349511" y="2926080"/>
            <a:ext cx="20649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Staying current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merge main back in, so a long-running branch never drifts from what is deployed.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BD389"/>
          </a:solidFill>
          <a:ln w="12700">
            <a:solidFill>
              <a:srgbClr val="7BD38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BD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git push to Azure, automatically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965960" cy="1783080"/>
          </a:xfrm>
          <a:prstGeom prst="roundRect">
            <a:avLst>
              <a:gd name="adj" fmla="val 5128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731520" y="1709928"/>
            <a:ext cx="548640" cy="54864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47088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23774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or PR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main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551176" y="2400300"/>
            <a:ext cx="243002" cy="914"/>
          </a:xfrm>
          <a:prstGeom prst="line">
            <a:avLst/>
          </a:prstGeom>
          <a:noFill/>
          <a:ln w="25400">
            <a:solidFill>
              <a:srgbClr val="7BD389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10" name="Shape 7"/>
          <p:cNvSpPr/>
          <p:nvPr/>
        </p:nvSpPr>
        <p:spPr>
          <a:xfrm>
            <a:off x="2830754" y="1508760"/>
            <a:ext cx="1965960" cy="1783080"/>
          </a:xfrm>
          <a:prstGeom prst="roundRect">
            <a:avLst>
              <a:gd name="adj" fmla="val 5128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Shape 8"/>
          <p:cNvSpPr/>
          <p:nvPr/>
        </p:nvSpPr>
        <p:spPr>
          <a:xfrm>
            <a:off x="3013634" y="1709928"/>
            <a:ext cx="548640" cy="54864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0794" y="184708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013634" y="23774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8, Release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833290" y="2400300"/>
            <a:ext cx="243002" cy="914"/>
          </a:xfrm>
          <a:prstGeom prst="line">
            <a:avLst/>
          </a:prstGeom>
          <a:noFill/>
          <a:ln w="25400">
            <a:solidFill>
              <a:srgbClr val="7BD389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15" name="Shape 11"/>
          <p:cNvSpPr/>
          <p:nvPr/>
        </p:nvSpPr>
        <p:spPr>
          <a:xfrm>
            <a:off x="5112868" y="1508760"/>
            <a:ext cx="1965960" cy="1783080"/>
          </a:xfrm>
          <a:prstGeom prst="roundRect">
            <a:avLst>
              <a:gd name="adj" fmla="val 5128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Shape 12"/>
          <p:cNvSpPr/>
          <p:nvPr/>
        </p:nvSpPr>
        <p:spPr>
          <a:xfrm>
            <a:off x="5295748" y="1709928"/>
            <a:ext cx="548640" cy="54864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2908" y="184708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295748" y="23774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 test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7115404" y="2400300"/>
            <a:ext cx="243002" cy="914"/>
          </a:xfrm>
          <a:prstGeom prst="line">
            <a:avLst/>
          </a:prstGeom>
          <a:noFill/>
          <a:ln w="25400">
            <a:solidFill>
              <a:srgbClr val="7BD389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20" name="Shape 15"/>
          <p:cNvSpPr/>
          <p:nvPr/>
        </p:nvSpPr>
        <p:spPr>
          <a:xfrm>
            <a:off x="7394981" y="1508760"/>
            <a:ext cx="1965960" cy="1783080"/>
          </a:xfrm>
          <a:prstGeom prst="roundRect">
            <a:avLst>
              <a:gd name="adj" fmla="val 5128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Shape 16"/>
          <p:cNvSpPr/>
          <p:nvPr/>
        </p:nvSpPr>
        <p:spPr>
          <a:xfrm>
            <a:off x="7577861" y="1709928"/>
            <a:ext cx="548640" cy="54864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021" y="1847088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577861" y="23774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 publish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9397517" y="2400300"/>
            <a:ext cx="243002" cy="914"/>
          </a:xfrm>
          <a:prstGeom prst="line">
            <a:avLst/>
          </a:prstGeom>
          <a:noFill/>
          <a:ln w="25400">
            <a:solidFill>
              <a:srgbClr val="7BD389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25" name="Shape 19"/>
          <p:cNvSpPr/>
          <p:nvPr/>
        </p:nvSpPr>
        <p:spPr>
          <a:xfrm>
            <a:off x="9677095" y="1508760"/>
            <a:ext cx="1965960" cy="1783080"/>
          </a:xfrm>
          <a:prstGeom prst="roundRect">
            <a:avLst>
              <a:gd name="adj" fmla="val 5128"/>
            </a:avLst>
          </a:prstGeom>
          <a:solidFill>
            <a:srgbClr val="13304F"/>
          </a:solidFill>
          <a:ln w="15875">
            <a:solidFill>
              <a:srgbClr val="7BD38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Shape 20"/>
          <p:cNvSpPr/>
          <p:nvPr/>
        </p:nvSpPr>
        <p:spPr>
          <a:xfrm>
            <a:off x="9859975" y="1709928"/>
            <a:ext cx="548640" cy="54864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97135" y="1847088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9859975" y="23774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App Service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548640" y="3429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50" i="1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only runs for pushes to main, never for pull requests.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548640" y="3977640"/>
            <a:ext cx="2377440" cy="2194560"/>
          </a:xfrm>
          <a:prstGeom prst="roundRect">
            <a:avLst>
              <a:gd name="adj" fmla="val 4167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1" name="Shape 24"/>
          <p:cNvSpPr/>
          <p:nvPr/>
        </p:nvSpPr>
        <p:spPr>
          <a:xfrm>
            <a:off x="777240" y="4233672"/>
            <a:ext cx="457200" cy="54864"/>
          </a:xfrm>
          <a:prstGeom prst="rect">
            <a:avLst/>
          </a:prstGeom>
          <a:solidFill>
            <a:srgbClr val="7BD389"/>
          </a:solidFill>
          <a:ln w="12700">
            <a:solidFill>
              <a:srgbClr val="7BD38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2" name="Text 25"/>
          <p:cNvSpPr txBox="1"/>
          <p:nvPr/>
        </p:nvSpPr>
        <p:spPr>
          <a:xfrm>
            <a:off x="777240" y="4361688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4400" b="1" dirty="0">
                <a:solidFill>
                  <a:srgbClr val="7BD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4400" dirty="0"/>
          </a:p>
        </p:txBody>
      </p:sp>
      <p:sp>
        <p:nvSpPr>
          <p:cNvPr id="33" name="Text 26"/>
          <p:cNvSpPr txBox="1"/>
          <p:nvPr/>
        </p:nvSpPr>
        <p:spPr>
          <a:xfrm>
            <a:off x="777240" y="521208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passed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xUnit</a:t>
            </a:r>
            <a:endParaRPr lang="en-US" sz="1300" dirty="0"/>
          </a:p>
        </p:txBody>
      </p:sp>
      <p:sp>
        <p:nvSpPr>
          <p:cNvPr id="34" name="Shape 27"/>
          <p:cNvSpPr/>
          <p:nvPr/>
        </p:nvSpPr>
        <p:spPr>
          <a:xfrm>
            <a:off x="3154680" y="3977640"/>
            <a:ext cx="2377440" cy="2194560"/>
          </a:xfrm>
          <a:prstGeom prst="roundRect">
            <a:avLst>
              <a:gd name="adj" fmla="val 4167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5" name="Shape 28"/>
          <p:cNvSpPr/>
          <p:nvPr/>
        </p:nvSpPr>
        <p:spPr>
          <a:xfrm>
            <a:off x="3383280" y="4233672"/>
            <a:ext cx="457200" cy="54864"/>
          </a:xfrm>
          <a:prstGeom prst="rect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6" name="Text 29"/>
          <p:cNvSpPr txBox="1"/>
          <p:nvPr/>
        </p:nvSpPr>
        <p:spPr>
          <a:xfrm>
            <a:off x="3383280" y="4361688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44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37" name="Text 30"/>
          <p:cNvSpPr txBox="1"/>
          <p:nvPr/>
        </p:nvSpPr>
        <p:spPr>
          <a:xfrm>
            <a:off x="3383280" y="521208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known bug</a:t>
            </a:r>
            <a:endParaRPr lang="en-US" sz="1300" dirty="0"/>
          </a:p>
        </p:txBody>
      </p:sp>
      <p:sp>
        <p:nvSpPr>
          <p:cNvPr id="38" name="Shape 31"/>
          <p:cNvSpPr/>
          <p:nvPr/>
        </p:nvSpPr>
        <p:spPr>
          <a:xfrm>
            <a:off x="5760720" y="3977640"/>
            <a:ext cx="2377440" cy="2194560"/>
          </a:xfrm>
          <a:prstGeom prst="roundRect">
            <a:avLst>
              <a:gd name="adj" fmla="val 4167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9" name="Shape 32"/>
          <p:cNvSpPr/>
          <p:nvPr/>
        </p:nvSpPr>
        <p:spPr>
          <a:xfrm>
            <a:off x="5989320" y="4233672"/>
            <a:ext cx="457200" cy="54864"/>
          </a:xfrm>
          <a:prstGeom prst="rect">
            <a:avLst/>
          </a:prstGeom>
          <a:solidFill>
            <a:srgbClr val="5ED3C6"/>
          </a:solidFill>
          <a:ln w="12700">
            <a:solidFill>
              <a:srgbClr val="5ED3C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0" name="Text 33"/>
          <p:cNvSpPr txBox="1"/>
          <p:nvPr/>
        </p:nvSpPr>
        <p:spPr>
          <a:xfrm>
            <a:off x="5989320" y="4361688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4400" b="1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41" name="Text 34"/>
          <p:cNvSpPr txBox="1"/>
          <p:nvPr/>
        </p:nvSpPr>
        <p:spPr>
          <a:xfrm>
            <a:off x="5989320" y="521208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main</a:t>
            </a:r>
            <a:endParaRPr lang="en-US" sz="1300" dirty="0"/>
          </a:p>
        </p:txBody>
      </p:sp>
      <p:sp>
        <p:nvSpPr>
          <p:cNvPr id="42" name="Shape 35"/>
          <p:cNvSpPr/>
          <p:nvPr/>
        </p:nvSpPr>
        <p:spPr>
          <a:xfrm>
            <a:off x="8366760" y="3977640"/>
            <a:ext cx="3276295" cy="2194560"/>
          </a:xfrm>
          <a:prstGeom prst="roundRect">
            <a:avLst>
              <a:gd name="adj" fmla="val 4167"/>
            </a:avLst>
          </a:prstGeom>
          <a:solidFill>
            <a:srgbClr val="1A3D63"/>
          </a:solidFill>
          <a:ln w="15875">
            <a:solidFill>
              <a:srgbClr val="7BD38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3" name="Text 36"/>
          <p:cNvSpPr txBox="1"/>
          <p:nvPr/>
        </p:nvSpPr>
        <p:spPr>
          <a:xfrm>
            <a:off x="8595360" y="4114800"/>
            <a:ext cx="2819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publish profile is a GitHub secret, never in the repo.</a:t>
            </a:r>
            <a:endParaRPr lang="en-US" sz="1300" dirty="0"/>
          </a:p>
        </p:txBody>
      </p:sp>
      <p:sp>
        <p:nvSpPr>
          <p:cNvPr id="44" name="Shape 37"/>
          <p:cNvSpPr/>
          <p:nvPr/>
        </p:nvSpPr>
        <p:spPr>
          <a:xfrm>
            <a:off x="8595360" y="5257800"/>
            <a:ext cx="2819095" cy="422148"/>
          </a:xfrm>
          <a:prstGeom prst="roundRect">
            <a:avLst>
              <a:gd name="adj" fmla="val 12996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5" name="Text 38"/>
          <p:cNvSpPr txBox="1"/>
          <p:nvPr/>
        </p:nvSpPr>
        <p:spPr>
          <a:xfrm>
            <a:off x="8759952" y="5257800"/>
            <a:ext cx="2544775" cy="422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</a:t>
            </a: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azure/webapps-deploy@v3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30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30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30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0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3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 tmFilter="0, 0; .2, .5; .8, .5; 1, 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250" autoRev="1" fill="hold"/>
                                        <p:tgtEl>
                                          <p:spTgt spid="3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 tmFilter="0, 0; .2, .5; .8, .5; 1, 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0" dur="250" autoRev="1" fill="hold"/>
                                        <p:tgtEl>
                                          <p:spTgt spid="3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 tmFilter="0, 0; .2, .5; .8, .5; 1, 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250" autoRev="1" fill="hold"/>
                                        <p:tgtEl>
                                          <p:spTgt spid="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4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 tmFilter="0, 0; .2, .5; .8, .5; 1, 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6" dur="250" autoRev="1" fill="hold"/>
                                        <p:tgtEl>
                                          <p:spTgt spid="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 tmFilter="0, 0; .2, .5; .8, .5; 1, 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250" autoRev="1" fill="hold"/>
                                        <p:tgtEl>
                                          <p:spTgt spid="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2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 tmFilter="0, 0; .2, .5; .8, .5; 1, 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4" dur="250" autoRev="1" fill="hold"/>
                                        <p:tgtEl>
                                          <p:spTgt spid="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 tmFilter="0, 0; .2, .5; .8, .5; 1, 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250" autoRev="1" fill="hold"/>
                                        <p:tgtEl>
                                          <p:spTgt spid="4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 tmFilter="0, 0; .2, .5; .8, .5; 1, 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0" dur="250" autoRev="1" fill="hold"/>
                                        <p:tgtEl>
                                          <p:spTgt spid="4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8" grpId="0" animBg="1"/>
      <p:bldP spid="31" grpId="0" animBg="1"/>
      <p:bldP spid="32" grpId="0" animBg="1"/>
      <p:bldP spid="33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ED3C6"/>
          </a:solidFill>
          <a:ln w="12700">
            <a:solidFill>
              <a:srgbClr val="5ED3C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details that make it safe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246120" cy="1691640"/>
          </a:xfrm>
          <a:prstGeom prst="roundRect">
            <a:avLst>
              <a:gd name="adj" fmla="val 5405"/>
            </a:avLst>
          </a:prstGeom>
          <a:solidFill>
            <a:srgbClr val="13304F"/>
          </a:solidFill>
          <a:ln w="15875">
            <a:solidFill>
              <a:srgbClr val="5ED3C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731520" y="1664208"/>
            <a:ext cx="548640" cy="54864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01368"/>
            <a:ext cx="274320" cy="274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337560" y="1627632"/>
            <a:ext cx="310896" cy="310896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6"/>
          <p:cNvSpPr txBox="1"/>
          <p:nvPr/>
        </p:nvSpPr>
        <p:spPr>
          <a:xfrm>
            <a:off x="3337560" y="1627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3317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jobs, one gate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needs the build-and-test job, so a failing test means nothing ships.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849624" y="2308860"/>
            <a:ext cx="568300" cy="914"/>
          </a:xfrm>
          <a:prstGeom prst="line">
            <a:avLst/>
          </a:prstGeom>
          <a:noFill/>
          <a:ln w="25400">
            <a:solidFill>
              <a:srgbClr val="5ED3C6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12" name="Shape 9"/>
          <p:cNvSpPr/>
          <p:nvPr/>
        </p:nvSpPr>
        <p:spPr>
          <a:xfrm>
            <a:off x="4472788" y="1463040"/>
            <a:ext cx="3246120" cy="1691640"/>
          </a:xfrm>
          <a:prstGeom prst="roundRect">
            <a:avLst>
              <a:gd name="adj" fmla="val 5405"/>
            </a:avLst>
          </a:prstGeom>
          <a:solidFill>
            <a:srgbClr val="13304F"/>
          </a:solidFill>
          <a:ln w="15875">
            <a:solidFill>
              <a:srgbClr val="5ED3C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Shape 10"/>
          <p:cNvSpPr/>
          <p:nvPr/>
        </p:nvSpPr>
        <p:spPr>
          <a:xfrm>
            <a:off x="4655668" y="1664208"/>
            <a:ext cx="548640" cy="54864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2828" y="1801368"/>
            <a:ext cx="274320" cy="2743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261708" y="1627632"/>
            <a:ext cx="310896" cy="310896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2"/>
          <p:cNvSpPr txBox="1"/>
          <p:nvPr/>
        </p:nvSpPr>
        <p:spPr>
          <a:xfrm>
            <a:off x="7261708" y="1627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4655668" y="23317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secret, not source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Azure's publish profile lives in a GitHub secret, never in the repo.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7773772" y="2308860"/>
            <a:ext cx="568300" cy="914"/>
          </a:xfrm>
          <a:prstGeom prst="line">
            <a:avLst/>
          </a:prstGeom>
          <a:noFill/>
          <a:ln w="25400">
            <a:solidFill>
              <a:srgbClr val="5ED3C6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19" name="Shape 15"/>
          <p:cNvSpPr/>
          <p:nvPr/>
        </p:nvSpPr>
        <p:spPr>
          <a:xfrm>
            <a:off x="8396935" y="1463040"/>
            <a:ext cx="3246120" cy="1691640"/>
          </a:xfrm>
          <a:prstGeom prst="roundRect">
            <a:avLst>
              <a:gd name="adj" fmla="val 5405"/>
            </a:avLst>
          </a:prstGeom>
          <a:solidFill>
            <a:srgbClr val="13304F"/>
          </a:solidFill>
          <a:ln w="15875">
            <a:solidFill>
              <a:srgbClr val="5ED3C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Shape 16"/>
          <p:cNvSpPr/>
          <p:nvPr/>
        </p:nvSpPr>
        <p:spPr>
          <a:xfrm>
            <a:off x="8579815" y="1664208"/>
            <a:ext cx="548640" cy="54864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6975" y="1801368"/>
            <a:ext cx="274320" cy="27432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11185855" y="1627632"/>
            <a:ext cx="310896" cy="310896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18"/>
          <p:cNvSpPr txBox="1"/>
          <p:nvPr/>
        </p:nvSpPr>
        <p:spPr>
          <a:xfrm>
            <a:off x="11185855" y="1627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8579815" y="233172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 end too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CI runs the web app's tests, and Vercel deploys on every push to main.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548640" y="3483864"/>
            <a:ext cx="292608" cy="292608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Text 21"/>
          <p:cNvSpPr txBox="1"/>
          <p:nvPr/>
        </p:nvSpPr>
        <p:spPr>
          <a:xfrm>
            <a:off x="548640" y="3483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1005840" y="3429000"/>
            <a:ext cx="10637215" cy="438912"/>
          </a:xfrm>
          <a:prstGeom prst="roundRect">
            <a:avLst>
              <a:gd name="adj" fmla="val 12500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3"/>
          <p:cNvSpPr txBox="1"/>
          <p:nvPr/>
        </p:nvSpPr>
        <p:spPr>
          <a:xfrm>
            <a:off x="1170432" y="3429000"/>
            <a:ext cx="103628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needs</a:t>
            </a: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2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build-and-test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548640" y="4032504"/>
            <a:ext cx="292608" cy="292608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0" name="Text 25"/>
          <p:cNvSpPr txBox="1"/>
          <p:nvPr/>
        </p:nvSpPr>
        <p:spPr>
          <a:xfrm>
            <a:off x="548640" y="4032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1005840" y="3977640"/>
            <a:ext cx="10637215" cy="438912"/>
          </a:xfrm>
          <a:prstGeom prst="roundRect">
            <a:avLst>
              <a:gd name="adj" fmla="val 12500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2" name="Text 27"/>
          <p:cNvSpPr txBox="1"/>
          <p:nvPr/>
        </p:nvSpPr>
        <p:spPr>
          <a:xfrm>
            <a:off x="1170432" y="3977640"/>
            <a:ext cx="103628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${{ secrets</a:t>
            </a: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2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AZURE_WEBAPP_PUBLISH_PROFILE</a:t>
            </a: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}}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548640" y="4581144"/>
            <a:ext cx="292608" cy="292608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4" name="Text 29"/>
          <p:cNvSpPr txBox="1"/>
          <p:nvPr/>
        </p:nvSpPr>
        <p:spPr>
          <a:xfrm>
            <a:off x="548640" y="4581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1005840" y="4526280"/>
            <a:ext cx="10637215" cy="438912"/>
          </a:xfrm>
          <a:prstGeom prst="roundRect">
            <a:avLst>
              <a:gd name="adj" fmla="val 12500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6" name="Text 31"/>
          <p:cNvSpPr txBox="1"/>
          <p:nvPr/>
        </p:nvSpPr>
        <p:spPr>
          <a:xfrm>
            <a:off x="1170432" y="4526280"/>
            <a:ext cx="1036289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</a:t>
            </a:r>
            <a:r>
              <a:rPr lang="en-US" sz="12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2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548640" y="525780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1A3D63"/>
          </a:solidFill>
          <a:ln w="15875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8" name="Text 33"/>
          <p:cNvSpPr txBox="1"/>
          <p:nvPr/>
        </p:nvSpPr>
        <p:spPr>
          <a:xfrm>
            <a:off x="822960" y="525780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gotcha we hit: </a:t>
            </a:r>
            <a:r>
              <a:rPr lang="en-US" sz="135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Downloading the publish profile needed SCM Basic Auth Publishing Credentials switched on in Azure. It is off by default.</a:t>
            </a:r>
            <a:endParaRPr lang="en-US" sz="13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ED3C6"/>
          </a:solidFill>
          <a:ln w="12700">
            <a:solidFill>
              <a:srgbClr val="5ED3C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layers of testing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567864" cy="4206240"/>
          </a:xfrm>
          <a:prstGeom prst="roundRect">
            <a:avLst>
              <a:gd name="adj" fmla="val 3561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567864" cy="91440"/>
          </a:xfrm>
          <a:prstGeom prst="rect">
            <a:avLst/>
          </a:prstGeom>
          <a:solidFill>
            <a:srgbClr val="5ED3C6"/>
          </a:solidFill>
          <a:ln w="12700">
            <a:solidFill>
              <a:srgbClr val="5ED3C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 txBox="1"/>
          <p:nvPr/>
        </p:nvSpPr>
        <p:spPr>
          <a:xfrm>
            <a:off x="822960" y="1920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4000" b="1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2156384" y="1965960"/>
            <a:ext cx="685800" cy="68580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7834" y="2137410"/>
            <a:ext cx="342900" cy="3429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960" y="2926080"/>
            <a:ext cx="20649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xUnit on the backend, Jest on both front ends. Small, fast, run on every push.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90824" y="1600200"/>
            <a:ext cx="2567864" cy="4206240"/>
          </a:xfrm>
          <a:prstGeom prst="roundRect">
            <a:avLst>
              <a:gd name="adj" fmla="val 3561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Shape 9"/>
          <p:cNvSpPr/>
          <p:nvPr/>
        </p:nvSpPr>
        <p:spPr>
          <a:xfrm>
            <a:off x="3390824" y="1600200"/>
            <a:ext cx="2567864" cy="91440"/>
          </a:xfrm>
          <a:prstGeom prst="rect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0"/>
          <p:cNvSpPr txBox="1"/>
          <p:nvPr/>
        </p:nvSpPr>
        <p:spPr>
          <a:xfrm>
            <a:off x="3665144" y="1920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40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000" dirty="0"/>
          </a:p>
        </p:txBody>
      </p:sp>
      <p:sp>
        <p:nvSpPr>
          <p:cNvPr id="14" name="Shape 11"/>
          <p:cNvSpPr/>
          <p:nvPr/>
        </p:nvSpPr>
        <p:spPr>
          <a:xfrm>
            <a:off x="4998568" y="1965960"/>
            <a:ext cx="685800" cy="68580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0018" y="2137410"/>
            <a:ext cx="342900" cy="3429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665144" y="2926080"/>
            <a:ext cx="20649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tests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Testing Library, testing screens the way a person uses them.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233008" y="1600200"/>
            <a:ext cx="2567864" cy="4206240"/>
          </a:xfrm>
          <a:prstGeom prst="roundRect">
            <a:avLst>
              <a:gd name="adj" fmla="val 3561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Shape 14"/>
          <p:cNvSpPr/>
          <p:nvPr/>
        </p:nvSpPr>
        <p:spPr>
          <a:xfrm>
            <a:off x="6233008" y="1600200"/>
            <a:ext cx="2567864" cy="91440"/>
          </a:xfrm>
          <a:prstGeom prst="rect">
            <a:avLst/>
          </a:prstGeom>
          <a:solidFill>
            <a:srgbClr val="F07167"/>
          </a:solidFill>
          <a:ln w="12700">
            <a:solidFill>
              <a:srgbClr val="F07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5"/>
          <p:cNvSpPr txBox="1"/>
          <p:nvPr/>
        </p:nvSpPr>
        <p:spPr>
          <a:xfrm>
            <a:off x="6507328" y="1920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4000" b="1" dirty="0">
                <a:solidFill>
                  <a:srgbClr val="F07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000" dirty="0"/>
          </a:p>
        </p:txBody>
      </p:sp>
      <p:sp>
        <p:nvSpPr>
          <p:cNvPr id="20" name="Shape 16"/>
          <p:cNvSpPr/>
          <p:nvPr/>
        </p:nvSpPr>
        <p:spPr>
          <a:xfrm>
            <a:off x="7840751" y="1965960"/>
            <a:ext cx="685800" cy="68580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2201" y="2137410"/>
            <a:ext cx="342900" cy="3429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507328" y="2926080"/>
            <a:ext cx="20649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and data checks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endpoint tried in Swagger with real tokens, then the database queried.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9075191" y="1600200"/>
            <a:ext cx="2567864" cy="4206240"/>
          </a:xfrm>
          <a:prstGeom prst="roundRect">
            <a:avLst>
              <a:gd name="adj" fmla="val 3561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Shape 19"/>
          <p:cNvSpPr/>
          <p:nvPr/>
        </p:nvSpPr>
        <p:spPr>
          <a:xfrm>
            <a:off x="9075191" y="1600200"/>
            <a:ext cx="2567864" cy="91440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 20"/>
          <p:cNvSpPr txBox="1"/>
          <p:nvPr/>
        </p:nvSpPr>
        <p:spPr>
          <a:xfrm>
            <a:off x="9349511" y="1920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4000" b="1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000" dirty="0"/>
          </a:p>
        </p:txBody>
      </p:sp>
      <p:sp>
        <p:nvSpPr>
          <p:cNvPr id="26" name="Shape 21"/>
          <p:cNvSpPr/>
          <p:nvPr/>
        </p:nvSpPr>
        <p:spPr>
          <a:xfrm>
            <a:off x="10682935" y="1965960"/>
            <a:ext cx="685800" cy="68580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4385" y="2137410"/>
            <a:ext cx="342900" cy="3429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349511" y="2926080"/>
            <a:ext cx="20649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devices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TestFlight and Android builds run on real phones against the live API.</a:t>
            </a:r>
            <a:endParaRPr lang="en-US" sz="13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0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7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3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4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2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7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0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 tmFilter="0, 0; .2, .5; .8, .5; 1, 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3" dur="250" autoRev="1" fill="hold"/>
                                        <p:tgtEl>
                                          <p:spTgt spid="2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4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6" dur="25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 tmFilter="0, 0; .2, .5; .8, .5; 1, 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9" dur="250" autoRev="1" fill="hold"/>
                                        <p:tgtEl>
                                          <p:spTgt spid="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0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2" dur="2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07167"/>
          </a:solidFill>
          <a:ln w="12700">
            <a:solidFill>
              <a:srgbClr val="F07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07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backend tests cover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7315200" cy="329184"/>
          </a:xfrm>
          <a:prstGeom prst="roundRect">
            <a:avLst>
              <a:gd name="adj" fmla="val 22222"/>
            </a:avLst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548640" y="1719072"/>
            <a:ext cx="7315200" cy="164592"/>
          </a:xfrm>
          <a:prstGeom prst="rect">
            <a:avLst/>
          </a:prstGeom>
          <a:solidFill>
            <a:srgbClr val="2D2D30"/>
          </a:solidFill>
          <a:ln w="12700">
            <a:solidFill>
              <a:srgbClr val="2D2D3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 txBox="1"/>
          <p:nvPr/>
        </p:nvSpPr>
        <p:spPr>
          <a:xfrm>
            <a:off x="713232" y="1554480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 test</a:t>
            </a:r>
            <a:r>
              <a:rPr lang="en-US" sz="10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SANCCOB_Backend_API.Tests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863840" y="2087118"/>
            <a:ext cx="594360" cy="38862"/>
          </a:xfrm>
          <a:prstGeom prst="line">
            <a:avLst/>
          </a:prstGeom>
          <a:noFill/>
          <a:ln w="15875">
            <a:solidFill>
              <a:srgbClr val="F6AE2D"/>
            </a:solidFill>
            <a:prstDash val="dash"/>
          </a:ln>
        </p:spPr>
        <p:txBody>
          <a:bodyPr/>
          <a:lstStyle/>
          <a:p>
            <a:endParaRPr lang="en-ZA"/>
          </a:p>
        </p:txBody>
      </p:sp>
      <p:sp>
        <p:nvSpPr>
          <p:cNvPr id="21" name="Shape 19"/>
          <p:cNvSpPr/>
          <p:nvPr/>
        </p:nvSpPr>
        <p:spPr>
          <a:xfrm>
            <a:off x="8458200" y="1554480"/>
            <a:ext cx="3182112" cy="1143000"/>
          </a:xfrm>
          <a:prstGeom prst="roundRect">
            <a:avLst>
              <a:gd name="adj" fmla="val 8000"/>
            </a:avLst>
          </a:prstGeom>
          <a:solidFill>
            <a:srgbClr val="13304F"/>
          </a:solidFill>
          <a:ln w="15875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Shape 20"/>
          <p:cNvSpPr/>
          <p:nvPr/>
        </p:nvSpPr>
        <p:spPr>
          <a:xfrm>
            <a:off x="8622792" y="1709928"/>
            <a:ext cx="274320" cy="274320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 txBox="1"/>
          <p:nvPr/>
        </p:nvSpPr>
        <p:spPr>
          <a:xfrm>
            <a:off x="8622792" y="1709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006840" y="1664208"/>
            <a:ext cx="24963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TimeSlotParser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shift's time slot into hours, the number every weekly-hours rule uses.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863840" y="2690622"/>
            <a:ext cx="594360" cy="761238"/>
          </a:xfrm>
          <a:prstGeom prst="line">
            <a:avLst/>
          </a:prstGeom>
          <a:noFill/>
          <a:ln w="15875">
            <a:solidFill>
              <a:srgbClr val="F6AE2D"/>
            </a:solidFill>
            <a:prstDash val="dash"/>
          </a:ln>
        </p:spPr>
        <p:txBody>
          <a:bodyPr/>
          <a:lstStyle/>
          <a:p>
            <a:endParaRPr lang="en-ZA"/>
          </a:p>
        </p:txBody>
      </p:sp>
      <p:sp>
        <p:nvSpPr>
          <p:cNvPr id="26" name="Shape 24"/>
          <p:cNvSpPr/>
          <p:nvPr/>
        </p:nvSpPr>
        <p:spPr>
          <a:xfrm>
            <a:off x="8458200" y="2880360"/>
            <a:ext cx="3182112" cy="1143000"/>
          </a:xfrm>
          <a:prstGeom prst="roundRect">
            <a:avLst>
              <a:gd name="adj" fmla="val 8000"/>
            </a:avLst>
          </a:prstGeom>
          <a:solidFill>
            <a:srgbClr val="13304F"/>
          </a:solidFill>
          <a:ln w="15875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Shape 25"/>
          <p:cNvSpPr/>
          <p:nvPr/>
        </p:nvSpPr>
        <p:spPr>
          <a:xfrm>
            <a:off x="8622792" y="3035808"/>
            <a:ext cx="274320" cy="274320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 txBox="1"/>
          <p:nvPr/>
        </p:nvSpPr>
        <p:spPr>
          <a:xfrm>
            <a:off x="8622792" y="3035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006840" y="2990088"/>
            <a:ext cx="24963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OtpGenerator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codes are well formed and get an expiry.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863840" y="3143250"/>
            <a:ext cx="594360" cy="1634490"/>
          </a:xfrm>
          <a:prstGeom prst="line">
            <a:avLst/>
          </a:prstGeom>
          <a:noFill/>
          <a:ln w="15875">
            <a:solidFill>
              <a:srgbClr val="F6AE2D"/>
            </a:solidFill>
            <a:prstDash val="dash"/>
          </a:ln>
        </p:spPr>
        <p:txBody>
          <a:bodyPr/>
          <a:lstStyle/>
          <a:p>
            <a:endParaRPr lang="en-ZA"/>
          </a:p>
        </p:txBody>
      </p:sp>
      <p:sp>
        <p:nvSpPr>
          <p:cNvPr id="31" name="Shape 29"/>
          <p:cNvSpPr/>
          <p:nvPr/>
        </p:nvSpPr>
        <p:spPr>
          <a:xfrm>
            <a:off x="8458200" y="4206240"/>
            <a:ext cx="3182112" cy="1143000"/>
          </a:xfrm>
          <a:prstGeom prst="roundRect">
            <a:avLst>
              <a:gd name="adj" fmla="val 8000"/>
            </a:avLst>
          </a:prstGeom>
          <a:solidFill>
            <a:srgbClr val="13304F"/>
          </a:solidFill>
          <a:ln w="15875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2" name="Shape 30"/>
          <p:cNvSpPr/>
          <p:nvPr/>
        </p:nvSpPr>
        <p:spPr>
          <a:xfrm>
            <a:off x="8622792" y="4361688"/>
            <a:ext cx="274320" cy="274320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Text 31"/>
          <p:cNvSpPr txBox="1"/>
          <p:nvPr/>
        </p:nvSpPr>
        <p:spPr>
          <a:xfrm>
            <a:off x="8622792" y="4361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006840" y="4315968"/>
            <a:ext cx="24963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NotificationService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gets notified, and what the message says.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4846320"/>
            <a:ext cx="7315200" cy="1325880"/>
          </a:xfrm>
          <a:prstGeom prst="roundRect">
            <a:avLst>
              <a:gd name="adj" fmla="val 6897"/>
            </a:avLst>
          </a:prstGeom>
          <a:solidFill>
            <a:srgbClr val="1A3D63"/>
          </a:solidFill>
          <a:ln w="12700">
            <a:solidFill>
              <a:srgbClr val="1A3D6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6" name="Text 34"/>
          <p:cNvSpPr txBox="1"/>
          <p:nvPr/>
        </p:nvSpPr>
        <p:spPr>
          <a:xfrm>
            <a:off x="822960" y="4846320"/>
            <a:ext cx="6766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 that found a real bug. </a:t>
            </a:r>
            <a:r>
              <a:rPr lang="en-US" sz="140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declined-request message left out the reason. The test is skipped, with the reason written on it, so the bug is documented, not hidden.</a:t>
            </a:r>
            <a:endParaRPr lang="en-US" sz="1400" dirty="0"/>
          </a:p>
        </p:txBody>
      </p:sp>
      <p:sp>
        <p:nvSpPr>
          <p:cNvPr id="900" name="Screenshot placeholder"/>
          <p:cNvSpPr/>
          <p:nvPr/>
        </p:nvSpPr>
        <p:spPr>
          <a:xfrm>
            <a:off x="731520" y="2029968"/>
            <a:ext cx="6949440" cy="1783080"/>
          </a:xfrm>
          <a:prstGeom prst="roundRect">
            <a:avLst>
              <a:gd name="adj" fmla="val 3500"/>
            </a:avLst>
          </a:prstGeom>
          <a:solidFill>
            <a:srgbClr val="14253B"/>
          </a:solidFill>
          <a:ln w="22225">
            <a:solidFill>
              <a:srgbClr val="F6AE2D"/>
            </a:solidFill>
            <a:prstDash val="dash"/>
          </a:ln>
        </p:spPr>
        <p:txBody>
          <a:bodyPr wrap="square" lIns="182880" tIns="91440" rIns="182880" bIns="91440" anchor="ctr"/>
          <a:lstStyle/>
          <a:p>
            <a:pPr algn="ctr">
              <a:spcAft>
                <a:spcPts val="400"/>
              </a:spcAft>
            </a:pPr>
            <a:r>
              <a:rPr lang="en-US" sz="1200" b="1" spc="300" dirty="0">
                <a:solidFill>
                  <a:srgbClr val="F6AE2D"/>
                </a:solidFill>
                <a:latin typeface="Calibri"/>
              </a:rPr>
              <a:t>SCREENSHOT</a:t>
            </a:r>
          </a:p>
          <a:p>
            <a:pPr algn="ctr">
              <a:spcAft>
                <a:spcPts val="400"/>
              </a:spcAft>
            </a:pPr>
            <a:r>
              <a:rPr lang="en-US" sz="1800" b="1" spc="0" dirty="0">
                <a:solidFill>
                  <a:srgbClr val="FFFFFF"/>
                </a:solidFill>
                <a:latin typeface="Calibri"/>
              </a:rPr>
              <a:t>dotnet test: passed, skipped, failed</a:t>
            </a:r>
          </a:p>
          <a:p>
            <a:pPr algn="ctr">
              <a:spcAft>
                <a:spcPts val="0"/>
              </a:spcAft>
            </a:pPr>
            <a:r>
              <a:rPr lang="en-US" sz="1200" b="0" spc="0" dirty="0">
                <a:solidFill>
                  <a:srgbClr val="9FB4C8"/>
                </a:solidFill>
                <a:latin typeface="Calibri"/>
              </a:rPr>
              <a:t>Replace this box with a screenshot of the test run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2F868D-82B3-205B-9DE6-262117786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847088"/>
            <a:ext cx="7360920" cy="2676314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4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6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6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6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7BD389"/>
          </a:solidFill>
          <a:ln w="12700">
            <a:solidFill>
              <a:srgbClr val="7BD38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BD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across every layer</a:t>
            </a:r>
            <a:endParaRPr lang="en-US" sz="3000" dirty="0"/>
          </a:p>
        </p:txBody>
      </p:sp>
      <p:sp>
        <p:nvSpPr>
          <p:cNvPr id="29" name="Text 22"/>
          <p:cNvSpPr txBox="1"/>
          <p:nvPr/>
        </p:nvSpPr>
        <p:spPr>
          <a:xfrm>
            <a:off x="548640" y="3429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50" i="1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mobile and web, all passing.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548640" y="3977640"/>
            <a:ext cx="2377440" cy="2194560"/>
          </a:xfrm>
          <a:prstGeom prst="roundRect">
            <a:avLst>
              <a:gd name="adj" fmla="val 4167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1" name="Shape 24"/>
          <p:cNvSpPr/>
          <p:nvPr/>
        </p:nvSpPr>
        <p:spPr>
          <a:xfrm>
            <a:off x="777240" y="4233672"/>
            <a:ext cx="457200" cy="54864"/>
          </a:xfrm>
          <a:prstGeom prst="rect">
            <a:avLst/>
          </a:prstGeom>
          <a:solidFill>
            <a:srgbClr val="7BD389"/>
          </a:solidFill>
          <a:ln w="12700">
            <a:solidFill>
              <a:srgbClr val="7BD38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2" name="Text 25"/>
          <p:cNvSpPr txBox="1"/>
          <p:nvPr/>
        </p:nvSpPr>
        <p:spPr>
          <a:xfrm>
            <a:off x="777240" y="4361688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4400" b="1" dirty="0">
                <a:solidFill>
                  <a:srgbClr val="7BD3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4400" dirty="0"/>
          </a:p>
        </p:txBody>
      </p:sp>
      <p:sp>
        <p:nvSpPr>
          <p:cNvPr id="33" name="Text 26"/>
          <p:cNvSpPr txBox="1"/>
          <p:nvPr/>
        </p:nvSpPr>
        <p:spPr>
          <a:xfrm>
            <a:off x="777240" y="521208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tests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xUnit, 1 skipped by design</a:t>
            </a:r>
            <a:endParaRPr lang="en-US" sz="1300" dirty="0"/>
          </a:p>
        </p:txBody>
      </p:sp>
      <p:sp>
        <p:nvSpPr>
          <p:cNvPr id="34" name="Shape 27"/>
          <p:cNvSpPr/>
          <p:nvPr/>
        </p:nvSpPr>
        <p:spPr>
          <a:xfrm>
            <a:off x="3154680" y="3977640"/>
            <a:ext cx="2377440" cy="2194560"/>
          </a:xfrm>
          <a:prstGeom prst="roundRect">
            <a:avLst>
              <a:gd name="adj" fmla="val 4167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5" name="Shape 28"/>
          <p:cNvSpPr/>
          <p:nvPr/>
        </p:nvSpPr>
        <p:spPr>
          <a:xfrm>
            <a:off x="3383280" y="4233672"/>
            <a:ext cx="457200" cy="54864"/>
          </a:xfrm>
          <a:prstGeom prst="rect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6" name="Text 29"/>
          <p:cNvSpPr txBox="1"/>
          <p:nvPr/>
        </p:nvSpPr>
        <p:spPr>
          <a:xfrm>
            <a:off x="3383280" y="4361688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44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4400" dirty="0"/>
          </a:p>
        </p:txBody>
      </p:sp>
      <p:sp>
        <p:nvSpPr>
          <p:cNvPr id="37" name="Text 30"/>
          <p:cNvSpPr txBox="1"/>
          <p:nvPr/>
        </p:nvSpPr>
        <p:spPr>
          <a:xfrm>
            <a:off x="3383280" y="521208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tests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and React Native Testing Library</a:t>
            </a:r>
            <a:endParaRPr lang="en-US" sz="1300" dirty="0"/>
          </a:p>
        </p:txBody>
      </p:sp>
      <p:sp>
        <p:nvSpPr>
          <p:cNvPr id="38" name="Shape 31"/>
          <p:cNvSpPr/>
          <p:nvPr/>
        </p:nvSpPr>
        <p:spPr>
          <a:xfrm>
            <a:off x="5760720" y="3977640"/>
            <a:ext cx="2377440" cy="2194560"/>
          </a:xfrm>
          <a:prstGeom prst="roundRect">
            <a:avLst>
              <a:gd name="adj" fmla="val 4167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9" name="Shape 32"/>
          <p:cNvSpPr/>
          <p:nvPr/>
        </p:nvSpPr>
        <p:spPr>
          <a:xfrm>
            <a:off x="5989320" y="4233672"/>
            <a:ext cx="457200" cy="54864"/>
          </a:xfrm>
          <a:prstGeom prst="rect">
            <a:avLst/>
          </a:prstGeom>
          <a:solidFill>
            <a:srgbClr val="5ED3C6"/>
          </a:solidFill>
          <a:ln w="12700">
            <a:solidFill>
              <a:srgbClr val="5ED3C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0" name="Text 33"/>
          <p:cNvSpPr txBox="1"/>
          <p:nvPr/>
        </p:nvSpPr>
        <p:spPr>
          <a:xfrm>
            <a:off x="5989320" y="4361688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4400" b="1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4400" dirty="0"/>
          </a:p>
        </p:txBody>
      </p:sp>
      <p:sp>
        <p:nvSpPr>
          <p:cNvPr id="41" name="Text 34"/>
          <p:cNvSpPr txBox="1"/>
          <p:nvPr/>
        </p:nvSpPr>
        <p:spPr>
          <a:xfrm>
            <a:off x="5989320" y="521208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tests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Jest, 14 suites</a:t>
            </a:r>
            <a:endParaRPr lang="en-US" sz="1300" dirty="0"/>
          </a:p>
        </p:txBody>
      </p:sp>
      <p:sp>
        <p:nvSpPr>
          <p:cNvPr id="42" name="Shape 35"/>
          <p:cNvSpPr/>
          <p:nvPr/>
        </p:nvSpPr>
        <p:spPr>
          <a:xfrm>
            <a:off x="8366760" y="3977640"/>
            <a:ext cx="3276295" cy="2194560"/>
          </a:xfrm>
          <a:prstGeom prst="roundRect">
            <a:avLst>
              <a:gd name="adj" fmla="val 4167"/>
            </a:avLst>
          </a:prstGeom>
          <a:solidFill>
            <a:srgbClr val="1A3D63"/>
          </a:solidFill>
          <a:ln w="15875">
            <a:solidFill>
              <a:srgbClr val="7BD389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3" name="Text 36"/>
          <p:cNvSpPr txBox="1"/>
          <p:nvPr/>
        </p:nvSpPr>
        <p:spPr>
          <a:xfrm>
            <a:off x="8595360" y="4114800"/>
            <a:ext cx="2819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ships untested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failing test in any layer fails CI before Azure, Vercel or TestFlight.</a:t>
            </a:r>
            <a:endParaRPr lang="en-US" sz="1300" dirty="0"/>
          </a:p>
        </p:txBody>
      </p:sp>
      <p:sp>
        <p:nvSpPr>
          <p:cNvPr id="44" name="Shape 37"/>
          <p:cNvSpPr/>
          <p:nvPr/>
        </p:nvSpPr>
        <p:spPr>
          <a:xfrm>
            <a:off x="8595360" y="5257800"/>
            <a:ext cx="2819095" cy="422148"/>
          </a:xfrm>
          <a:prstGeom prst="roundRect">
            <a:avLst>
              <a:gd name="adj" fmla="val 12996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5" name="Text 38"/>
          <p:cNvSpPr txBox="1"/>
          <p:nvPr/>
        </p:nvSpPr>
        <p:spPr>
          <a:xfrm>
            <a:off x="8759952" y="5257800"/>
            <a:ext cx="2544775" cy="422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</a:t>
            </a:r>
            <a:r>
              <a:rPr lang="en-US" sz="11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 ·  npm test</a:t>
            </a:r>
            <a:endParaRPr lang="en-US" sz="1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8A9510-20F1-31F7-1CB4-D0F7F66EA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2506" y="269626"/>
            <a:ext cx="6811347" cy="3463739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3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 tmFilter="0, 0; .2, .5; .8, .5; 1, 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250" autoRev="1" fill="hold"/>
                                        <p:tgtEl>
                                          <p:spTgt spid="3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 tmFilter="0, 0; .2, .5; .8, .5; 1, 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250" autoRev="1" fill="hold"/>
                                        <p:tgtEl>
                                          <p:spTgt spid="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 tmFilter="0, 0; .2, .5; .8, .5; 1, 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" dur="250" autoRev="1" fill="hold"/>
                                        <p:tgtEl>
                                          <p:spTgt spid="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6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 tmFilter="0, 0; .2, .5; .8, .5; 1, 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250" autoRev="1" fill="hold"/>
                                        <p:tgtEl>
                                          <p:spTgt spid="4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 tmFilter="0, 0; .2, .5; .8, .5; 1, 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250" autoRev="1" fill="hold"/>
                                        <p:tgtEl>
                                          <p:spTgt spid="4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9" grpId="0" animBg="1"/>
      <p:bldP spid="40" grpId="0" animBg="1"/>
      <p:bldP spid="4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it works, not just that it compiles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88720" y="2331720"/>
            <a:ext cx="9784080" cy="0"/>
          </a:xfrm>
          <a:prstGeom prst="line">
            <a:avLst/>
          </a:prstGeom>
          <a:noFill/>
          <a:ln w="381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804672" y="1947672"/>
            <a:ext cx="768096" cy="768096"/>
          </a:xfrm>
          <a:prstGeom prst="ellipse">
            <a:avLst/>
          </a:prstGeom>
          <a:solidFill>
            <a:srgbClr val="1A3D63"/>
          </a:solidFill>
          <a:ln w="12700">
            <a:solidFill>
              <a:srgbClr val="1A3D6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2139696"/>
            <a:ext cx="384048" cy="3840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7432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3063240"/>
            <a:ext cx="2514600" cy="1600200"/>
          </a:xfrm>
          <a:prstGeom prst="roundRect">
            <a:avLst>
              <a:gd name="adj" fmla="val 5714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7"/>
          <p:cNvSpPr txBox="1"/>
          <p:nvPr/>
        </p:nvSpPr>
        <p:spPr>
          <a:xfrm>
            <a:off x="731520" y="32004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the answer first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one volunteer the rules say 8 of 12 shifts, with Friday and Sunday skipped.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066032" y="1947672"/>
            <a:ext cx="768096" cy="768096"/>
          </a:xfrm>
          <a:prstGeom prst="ellipse">
            <a:avLst/>
          </a:prstGeom>
          <a:solidFill>
            <a:srgbClr val="1A3D63"/>
          </a:solidFill>
          <a:ln w="12700">
            <a:solidFill>
              <a:srgbClr val="1A3D6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8056" y="213969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3568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192780" y="3063240"/>
            <a:ext cx="2514600" cy="1600200"/>
          </a:xfrm>
          <a:prstGeom prst="roundRect">
            <a:avLst>
              <a:gd name="adj" fmla="val 5714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1"/>
          <p:cNvSpPr txBox="1"/>
          <p:nvPr/>
        </p:nvSpPr>
        <p:spPr>
          <a:xfrm>
            <a:off x="3375660" y="32004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broadcast alone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listener page proved the SignalR broadcast before any dashboard screen existed.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7327392" y="1947672"/>
            <a:ext cx="768096" cy="768096"/>
          </a:xfrm>
          <a:prstGeom prst="ellipse">
            <a:avLst/>
          </a:prstGeom>
          <a:solidFill>
            <a:srgbClr val="1A3D63"/>
          </a:solidFill>
          <a:ln w="12700">
            <a:solidFill>
              <a:srgbClr val="1A3D6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9416" y="2139696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79704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54140" y="3063240"/>
            <a:ext cx="2514600" cy="1600200"/>
          </a:xfrm>
          <a:prstGeom prst="roundRect">
            <a:avLst>
              <a:gd name="adj" fmla="val 5714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5"/>
          <p:cNvSpPr txBox="1"/>
          <p:nvPr/>
        </p:nvSpPr>
        <p:spPr>
          <a:xfrm>
            <a:off x="6637020" y="32004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the token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claims inside, like the verified trainerId on a trainer token.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10588752" y="1947672"/>
            <a:ext cx="768096" cy="768096"/>
          </a:xfrm>
          <a:prstGeom prst="ellipse">
            <a:avLst/>
          </a:prstGeom>
          <a:solidFill>
            <a:srgbClr val="1A3D63"/>
          </a:solidFill>
          <a:ln w="12700">
            <a:solidFill>
              <a:srgbClr val="1A3D6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0776" y="2139696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0058400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9128455" y="3063240"/>
            <a:ext cx="2514600" cy="1600200"/>
          </a:xfrm>
          <a:prstGeom prst="roundRect">
            <a:avLst>
              <a:gd name="adj" fmla="val 5714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 19"/>
          <p:cNvSpPr txBox="1"/>
          <p:nvPr/>
        </p:nvSpPr>
        <p:spPr>
          <a:xfrm>
            <a:off x="9311335" y="32004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data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2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success message doesn't prove the right data was saved, so query it.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5074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database held for that volunteer after roster generation: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548640" y="5440680"/>
            <a:ext cx="11094415" cy="548640"/>
          </a:xfrm>
          <a:prstGeom prst="roundRect">
            <a:avLst>
              <a:gd name="adj" fmla="val 10000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2"/>
          <p:cNvSpPr txBox="1"/>
          <p:nvPr/>
        </p:nvSpPr>
        <p:spPr>
          <a:xfrm>
            <a:off x="713232" y="544068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* </a:t>
            </a: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4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roster_assignment</a:t>
            </a: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r>
              <a:rPr lang="en-US" sz="14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14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user_id = </a:t>
            </a:r>
            <a:r>
              <a:rPr lang="en-US" sz="14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4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250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1" dur="250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" dur="250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250" autoRev="1" fill="remov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8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50" autoRev="1" fill="remove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6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ED3C6"/>
          </a:solidFill>
          <a:ln w="12700">
            <a:solidFill>
              <a:srgbClr val="5ED3C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checks, run like an attacker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567864" cy="4206240"/>
          </a:xfrm>
          <a:prstGeom prst="roundRect">
            <a:avLst>
              <a:gd name="adj" fmla="val 3561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567864" cy="91440"/>
          </a:xfrm>
          <a:prstGeom prst="rect">
            <a:avLst/>
          </a:prstGeom>
          <a:solidFill>
            <a:srgbClr val="5ED3C6"/>
          </a:solidFill>
          <a:ln w="12700">
            <a:solidFill>
              <a:srgbClr val="5ED3C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 txBox="1"/>
          <p:nvPr/>
        </p:nvSpPr>
        <p:spPr>
          <a:xfrm>
            <a:off x="822960" y="1920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4000" b="1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2156384" y="1965960"/>
            <a:ext cx="685800" cy="68580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7834" y="2137410"/>
            <a:ext cx="342900" cy="3429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960" y="2926080"/>
            <a:ext cx="20649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role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an admin endpoint with a volunteer token. It must answer 403. The first time it answered 201, and that was fixed.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90824" y="1600200"/>
            <a:ext cx="2567864" cy="4206240"/>
          </a:xfrm>
          <a:prstGeom prst="roundRect">
            <a:avLst>
              <a:gd name="adj" fmla="val 3561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Shape 9"/>
          <p:cNvSpPr/>
          <p:nvPr/>
        </p:nvSpPr>
        <p:spPr>
          <a:xfrm>
            <a:off x="3390824" y="1600200"/>
            <a:ext cx="2567864" cy="91440"/>
          </a:xfrm>
          <a:prstGeom prst="rect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0"/>
          <p:cNvSpPr txBox="1"/>
          <p:nvPr/>
        </p:nvSpPr>
        <p:spPr>
          <a:xfrm>
            <a:off x="3665144" y="1920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40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000" dirty="0"/>
          </a:p>
        </p:txBody>
      </p:sp>
      <p:sp>
        <p:nvSpPr>
          <p:cNvPr id="14" name="Shape 11"/>
          <p:cNvSpPr/>
          <p:nvPr/>
        </p:nvSpPr>
        <p:spPr>
          <a:xfrm>
            <a:off x="4998568" y="1965960"/>
            <a:ext cx="685800" cy="68580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0018" y="2137410"/>
            <a:ext cx="342900" cy="3429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665144" y="2926080"/>
            <a:ext cx="20649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Logged-out token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out, then reuse the old token. It must be refused.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233008" y="1600200"/>
            <a:ext cx="2567864" cy="4206240"/>
          </a:xfrm>
          <a:prstGeom prst="roundRect">
            <a:avLst>
              <a:gd name="adj" fmla="val 3561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Shape 14"/>
          <p:cNvSpPr/>
          <p:nvPr/>
        </p:nvSpPr>
        <p:spPr>
          <a:xfrm>
            <a:off x="6233008" y="1600200"/>
            <a:ext cx="2567864" cy="91440"/>
          </a:xfrm>
          <a:prstGeom prst="rect">
            <a:avLst/>
          </a:prstGeom>
          <a:solidFill>
            <a:srgbClr val="F07167"/>
          </a:solidFill>
          <a:ln w="12700">
            <a:solidFill>
              <a:srgbClr val="F07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5"/>
          <p:cNvSpPr txBox="1"/>
          <p:nvPr/>
        </p:nvSpPr>
        <p:spPr>
          <a:xfrm>
            <a:off x="6507328" y="1920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4000" b="1" dirty="0">
                <a:solidFill>
                  <a:srgbClr val="F07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000" dirty="0"/>
          </a:p>
        </p:txBody>
      </p:sp>
      <p:sp>
        <p:nvSpPr>
          <p:cNvPr id="20" name="Shape 16"/>
          <p:cNvSpPr/>
          <p:nvPr/>
        </p:nvSpPr>
        <p:spPr>
          <a:xfrm>
            <a:off x="7840751" y="1965960"/>
            <a:ext cx="685800" cy="68580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2201" y="2137410"/>
            <a:ext cx="342900" cy="3429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507328" y="2926080"/>
            <a:ext cx="20649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guessing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the trainer PIN endpoint repeatedly. After 10 tries in a minute it must answer 429.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9075191" y="1600200"/>
            <a:ext cx="2567864" cy="4206240"/>
          </a:xfrm>
          <a:prstGeom prst="roundRect">
            <a:avLst>
              <a:gd name="adj" fmla="val 3561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Shape 19"/>
          <p:cNvSpPr/>
          <p:nvPr/>
        </p:nvSpPr>
        <p:spPr>
          <a:xfrm>
            <a:off x="9075191" y="1600200"/>
            <a:ext cx="2567864" cy="91440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 20"/>
          <p:cNvSpPr txBox="1"/>
          <p:nvPr/>
        </p:nvSpPr>
        <p:spPr>
          <a:xfrm>
            <a:off x="9349511" y="1920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4000" b="1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000" dirty="0"/>
          </a:p>
        </p:txBody>
      </p:sp>
      <p:sp>
        <p:nvSpPr>
          <p:cNvPr id="26" name="Shape 21"/>
          <p:cNvSpPr/>
          <p:nvPr/>
        </p:nvSpPr>
        <p:spPr>
          <a:xfrm>
            <a:off x="10682935" y="1965960"/>
            <a:ext cx="685800" cy="68580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4385" y="2137410"/>
            <a:ext cx="342900" cy="3429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349511" y="2926080"/>
            <a:ext cx="20649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else's data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another volunteer's hours or training profile. It must be blocked.</a:t>
            </a:r>
            <a:endParaRPr lang="en-US" sz="1300" dirty="0"/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  <p:bldP spid="17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ED3C6"/>
          </a:solidFill>
          <a:ln w="12700">
            <a:solidFill>
              <a:srgbClr val="5ED3C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TESTING CAUGHT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Rostering and bookings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567864" cy="4206240"/>
          </a:xfrm>
          <a:prstGeom prst="roundRect">
            <a:avLst>
              <a:gd name="adj" fmla="val 3561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567864" cy="91440"/>
          </a:xfrm>
          <a:prstGeom prst="rect">
            <a:avLst/>
          </a:prstGeom>
          <a:solidFill>
            <a:srgbClr val="5ED3C6"/>
          </a:solidFill>
          <a:ln w="12700">
            <a:solidFill>
              <a:srgbClr val="5ED3C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 txBox="1"/>
          <p:nvPr/>
        </p:nvSpPr>
        <p:spPr>
          <a:xfrm>
            <a:off x="822960" y="1920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4000" b="1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2156384" y="1965960"/>
            <a:ext cx="685800" cy="68580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7834" y="2137410"/>
            <a:ext cx="342900" cy="3429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960" y="2926080"/>
            <a:ext cx="20649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Day ignored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Found: Free all day, but not matched to a morning shift.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Availability was compared as an exact string.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 coverage map: Full Day covers both halves.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90824" y="1600200"/>
            <a:ext cx="2567864" cy="4206240"/>
          </a:xfrm>
          <a:prstGeom prst="roundRect">
            <a:avLst>
              <a:gd name="adj" fmla="val 3561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Shape 9"/>
          <p:cNvSpPr/>
          <p:nvPr/>
        </p:nvSpPr>
        <p:spPr>
          <a:xfrm>
            <a:off x="3390824" y="1600200"/>
            <a:ext cx="2567864" cy="91440"/>
          </a:xfrm>
          <a:prstGeom prst="rect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0"/>
          <p:cNvSpPr txBox="1"/>
          <p:nvPr/>
        </p:nvSpPr>
        <p:spPr>
          <a:xfrm>
            <a:off x="3665144" y="1920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40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000" dirty="0"/>
          </a:p>
        </p:txBody>
      </p:sp>
      <p:sp>
        <p:nvSpPr>
          <p:cNvPr id="14" name="Shape 11"/>
          <p:cNvSpPr/>
          <p:nvPr/>
        </p:nvSpPr>
        <p:spPr>
          <a:xfrm>
            <a:off x="4998568" y="1965960"/>
            <a:ext cx="685800" cy="68580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0018" y="2137410"/>
            <a:ext cx="342900" cy="3429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665144" y="2926080"/>
            <a:ext cx="20649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rosters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Found: Seven rosters for the same week.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Generate never checked for an existing one.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It returns the existing roster.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233008" y="1600200"/>
            <a:ext cx="2567864" cy="4206240"/>
          </a:xfrm>
          <a:prstGeom prst="roundRect">
            <a:avLst>
              <a:gd name="adj" fmla="val 3561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Shape 14"/>
          <p:cNvSpPr/>
          <p:nvPr/>
        </p:nvSpPr>
        <p:spPr>
          <a:xfrm>
            <a:off x="6233008" y="1600200"/>
            <a:ext cx="2567864" cy="91440"/>
          </a:xfrm>
          <a:prstGeom prst="rect">
            <a:avLst/>
          </a:prstGeom>
          <a:solidFill>
            <a:srgbClr val="F07167"/>
          </a:solidFill>
          <a:ln w="12700">
            <a:solidFill>
              <a:srgbClr val="F07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5"/>
          <p:cNvSpPr txBox="1"/>
          <p:nvPr/>
        </p:nvSpPr>
        <p:spPr>
          <a:xfrm>
            <a:off x="6507328" y="1920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4000" b="1" dirty="0">
                <a:solidFill>
                  <a:srgbClr val="F07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000" dirty="0"/>
          </a:p>
        </p:txBody>
      </p:sp>
      <p:sp>
        <p:nvSpPr>
          <p:cNvPr id="20" name="Shape 16"/>
          <p:cNvSpPr/>
          <p:nvPr/>
        </p:nvSpPr>
        <p:spPr>
          <a:xfrm>
            <a:off x="7840751" y="1965960"/>
            <a:ext cx="685800" cy="68580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2201" y="2137410"/>
            <a:ext cx="342900" cy="3429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507328" y="2926080"/>
            <a:ext cx="20649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Booking, no roster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Found: Booking an open shift said it had no roster.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The roster was copied from another assignment.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Look the roster up by week.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9075191" y="1600200"/>
            <a:ext cx="2567864" cy="4206240"/>
          </a:xfrm>
          <a:prstGeom prst="roundRect">
            <a:avLst>
              <a:gd name="adj" fmla="val 3561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Shape 19"/>
          <p:cNvSpPr/>
          <p:nvPr/>
        </p:nvSpPr>
        <p:spPr>
          <a:xfrm>
            <a:off x="9075191" y="1600200"/>
            <a:ext cx="2567864" cy="91440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 20"/>
          <p:cNvSpPr txBox="1"/>
          <p:nvPr/>
        </p:nvSpPr>
        <p:spPr>
          <a:xfrm>
            <a:off x="9349511" y="1920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4000" b="1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000" dirty="0"/>
          </a:p>
        </p:txBody>
      </p:sp>
      <p:sp>
        <p:nvSpPr>
          <p:cNvPr id="26" name="Shape 21"/>
          <p:cNvSpPr/>
          <p:nvPr/>
        </p:nvSpPr>
        <p:spPr>
          <a:xfrm>
            <a:off x="10682935" y="1965960"/>
            <a:ext cx="685800" cy="68580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4385" y="2137410"/>
            <a:ext cx="342900" cy="3429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349511" y="2926080"/>
            <a:ext cx="20649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alerts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Found: A volunteer free all day never got the vacancy alert.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The same exact-string match, in the notifications.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The same coverage map.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ED3C6"/>
          </a:solidFill>
          <a:ln w="12700">
            <a:solidFill>
              <a:srgbClr val="5ED3C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TESTING CAUGHT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and correctness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567864" cy="4206240"/>
          </a:xfrm>
          <a:prstGeom prst="roundRect">
            <a:avLst>
              <a:gd name="adj" fmla="val 3561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567864" cy="91440"/>
          </a:xfrm>
          <a:prstGeom prst="rect">
            <a:avLst/>
          </a:prstGeom>
          <a:solidFill>
            <a:srgbClr val="5ED3C6"/>
          </a:solidFill>
          <a:ln w="12700">
            <a:solidFill>
              <a:srgbClr val="5ED3C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 txBox="1"/>
          <p:nvPr/>
        </p:nvSpPr>
        <p:spPr>
          <a:xfrm>
            <a:off x="822960" y="1920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4000" b="1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2156384" y="1965960"/>
            <a:ext cx="685800" cy="68580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7834" y="2137410"/>
            <a:ext cx="342900" cy="3429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960" y="2926080"/>
            <a:ext cx="20649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Removal crashed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Found: Removing an assignment returned a 500.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It hard-deleted a row a change request pointed at.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Mark it Vacant, and reuse that row on re-assign.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90824" y="1600200"/>
            <a:ext cx="2567864" cy="4206240"/>
          </a:xfrm>
          <a:prstGeom prst="roundRect">
            <a:avLst>
              <a:gd name="adj" fmla="val 3561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Shape 9"/>
          <p:cNvSpPr/>
          <p:nvPr/>
        </p:nvSpPr>
        <p:spPr>
          <a:xfrm>
            <a:off x="3390824" y="1600200"/>
            <a:ext cx="2567864" cy="91440"/>
          </a:xfrm>
          <a:prstGeom prst="rect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0"/>
          <p:cNvSpPr txBox="1"/>
          <p:nvPr/>
        </p:nvSpPr>
        <p:spPr>
          <a:xfrm>
            <a:off x="3665144" y="1920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4000" b="1" dirty="0">
                <a:solidFill>
                  <a:srgbClr val="F6AE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000" dirty="0"/>
          </a:p>
        </p:txBody>
      </p:sp>
      <p:sp>
        <p:nvSpPr>
          <p:cNvPr id="14" name="Shape 11"/>
          <p:cNvSpPr/>
          <p:nvPr/>
        </p:nvSpPr>
        <p:spPr>
          <a:xfrm>
            <a:off x="4998568" y="1965960"/>
            <a:ext cx="685800" cy="68580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0018" y="2137410"/>
            <a:ext cx="342900" cy="3429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665144" y="2926080"/>
            <a:ext cx="20649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admin routes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Found: A volunteer token generated a roster (201).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Only class-level authorization.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Admin-only on every write.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233008" y="1600200"/>
            <a:ext cx="2567864" cy="4206240"/>
          </a:xfrm>
          <a:prstGeom prst="roundRect">
            <a:avLst>
              <a:gd name="adj" fmla="val 3561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Shape 14"/>
          <p:cNvSpPr/>
          <p:nvPr/>
        </p:nvSpPr>
        <p:spPr>
          <a:xfrm>
            <a:off x="6233008" y="1600200"/>
            <a:ext cx="2567864" cy="91440"/>
          </a:xfrm>
          <a:prstGeom prst="rect">
            <a:avLst/>
          </a:prstGeom>
          <a:solidFill>
            <a:srgbClr val="F07167"/>
          </a:solidFill>
          <a:ln w="12700">
            <a:solidFill>
              <a:srgbClr val="F0716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5"/>
          <p:cNvSpPr txBox="1"/>
          <p:nvPr/>
        </p:nvSpPr>
        <p:spPr>
          <a:xfrm>
            <a:off x="6507328" y="1920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4000" b="1" dirty="0">
                <a:solidFill>
                  <a:srgbClr val="F07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000" dirty="0"/>
          </a:p>
        </p:txBody>
      </p:sp>
      <p:sp>
        <p:nvSpPr>
          <p:cNvPr id="20" name="Shape 16"/>
          <p:cNvSpPr/>
          <p:nvPr/>
        </p:nvSpPr>
        <p:spPr>
          <a:xfrm>
            <a:off x="7840751" y="1965960"/>
            <a:ext cx="685800" cy="68580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2201" y="2137410"/>
            <a:ext cx="342900" cy="3429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507328" y="2926080"/>
            <a:ext cx="20649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Double-booked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Found: Two overlapping shifts on the same day.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Booking skipped the overlap check.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Added the check roster generation uses.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9075191" y="1600200"/>
            <a:ext cx="2567864" cy="4206240"/>
          </a:xfrm>
          <a:prstGeom prst="roundRect">
            <a:avLst>
              <a:gd name="adj" fmla="val 3561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Shape 19"/>
          <p:cNvSpPr/>
          <p:nvPr/>
        </p:nvSpPr>
        <p:spPr>
          <a:xfrm>
            <a:off x="9075191" y="1600200"/>
            <a:ext cx="2567864" cy="91440"/>
          </a:xfrm>
          <a:prstGeom prst="rect">
            <a:avLst/>
          </a:prstGeom>
          <a:solidFill>
            <a:srgbClr val="B39DDB"/>
          </a:solidFill>
          <a:ln w="12700">
            <a:solidFill>
              <a:srgbClr val="B39DD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 20"/>
          <p:cNvSpPr txBox="1"/>
          <p:nvPr/>
        </p:nvSpPr>
        <p:spPr>
          <a:xfrm>
            <a:off x="9349511" y="1920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4000" b="1" dirty="0">
                <a:solidFill>
                  <a:srgbClr val="B39D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000" dirty="0"/>
          </a:p>
        </p:txBody>
      </p:sp>
      <p:sp>
        <p:nvSpPr>
          <p:cNvPr id="26" name="Shape 21"/>
          <p:cNvSpPr/>
          <p:nvPr/>
        </p:nvSpPr>
        <p:spPr>
          <a:xfrm>
            <a:off x="10682935" y="1965960"/>
            <a:ext cx="685800" cy="685800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4385" y="2137410"/>
            <a:ext cx="342900" cy="3429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349511" y="2926080"/>
            <a:ext cx="20649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failed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Found: Booking failed with an execution-strategy error.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Retry-on-failure needs transactions inside a strategy.</a:t>
            </a:r>
            <a:endParaRPr lang="en-US" sz="13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3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Wrapped it in CreateExecutionStrategy().</a:t>
            </a:r>
            <a:endParaRPr lang="en-US" sz="1300"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5AA9E6"/>
          </a:solidFill>
          <a:ln w="12700">
            <a:solidFill>
              <a:srgbClr val="5AA9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AA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runs, and how it is configured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6949440" cy="640080"/>
          </a:xfrm>
          <a:prstGeom prst="roundRect">
            <a:avLst>
              <a:gd name="adj" fmla="val 14286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713232" y="1627632"/>
            <a:ext cx="310896" cy="310896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 txBox="1"/>
          <p:nvPr/>
        </p:nvSpPr>
        <p:spPr>
          <a:xfrm>
            <a:off x="713232" y="1627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88720" y="1581912"/>
            <a:ext cx="4572000" cy="422148"/>
          </a:xfrm>
          <a:prstGeom prst="roundRect">
            <a:avLst>
              <a:gd name="adj" fmla="val 12996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 txBox="1"/>
          <p:nvPr/>
        </p:nvSpPr>
        <p:spPr>
          <a:xfrm>
            <a:off x="1353312" y="1581912"/>
            <a:ext cx="4297680" cy="422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ConnectionStrings:DefaultConnection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897880" y="14630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database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" y="2103120"/>
            <a:ext cx="914" cy="146304"/>
          </a:xfrm>
          <a:prstGeom prst="line">
            <a:avLst/>
          </a:prstGeom>
          <a:noFill/>
          <a:ln w="19050">
            <a:solidFill>
              <a:srgbClr val="5AA9E6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12" name="Shape 10"/>
          <p:cNvSpPr/>
          <p:nvPr/>
        </p:nvSpPr>
        <p:spPr>
          <a:xfrm>
            <a:off x="548640" y="2249424"/>
            <a:ext cx="6949440" cy="640080"/>
          </a:xfrm>
          <a:prstGeom prst="roundRect">
            <a:avLst>
              <a:gd name="adj" fmla="val 14286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Shape 11"/>
          <p:cNvSpPr/>
          <p:nvPr/>
        </p:nvSpPr>
        <p:spPr>
          <a:xfrm>
            <a:off x="713232" y="2414016"/>
            <a:ext cx="310896" cy="310896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 txBox="1"/>
          <p:nvPr/>
        </p:nvSpPr>
        <p:spPr>
          <a:xfrm>
            <a:off x="713232" y="2414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188720" y="2368296"/>
            <a:ext cx="4572000" cy="422148"/>
          </a:xfrm>
          <a:prstGeom prst="roundRect">
            <a:avLst>
              <a:gd name="adj" fmla="val 12996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 txBox="1"/>
          <p:nvPr/>
        </p:nvSpPr>
        <p:spPr>
          <a:xfrm>
            <a:off x="1353312" y="2368296"/>
            <a:ext cx="4297680" cy="422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Jwt:Key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897880" y="2249424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every token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8680" y="2889504"/>
            <a:ext cx="914" cy="146304"/>
          </a:xfrm>
          <a:prstGeom prst="line">
            <a:avLst/>
          </a:prstGeom>
          <a:noFill/>
          <a:ln w="19050">
            <a:solidFill>
              <a:srgbClr val="5AA9E6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19" name="Shape 17"/>
          <p:cNvSpPr/>
          <p:nvPr/>
        </p:nvSpPr>
        <p:spPr>
          <a:xfrm>
            <a:off x="548640" y="3035808"/>
            <a:ext cx="6949440" cy="640080"/>
          </a:xfrm>
          <a:prstGeom prst="roundRect">
            <a:avLst>
              <a:gd name="adj" fmla="val 14286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Shape 18"/>
          <p:cNvSpPr/>
          <p:nvPr/>
        </p:nvSpPr>
        <p:spPr>
          <a:xfrm>
            <a:off x="713232" y="3200400"/>
            <a:ext cx="310896" cy="310896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 txBox="1"/>
          <p:nvPr/>
        </p:nvSpPr>
        <p:spPr>
          <a:xfrm>
            <a:off x="713232" y="3200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188720" y="3154680"/>
            <a:ext cx="4572000" cy="422148"/>
          </a:xfrm>
          <a:prstGeom prst="roundRect">
            <a:avLst>
              <a:gd name="adj" fmla="val 12996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 txBox="1"/>
          <p:nvPr/>
        </p:nvSpPr>
        <p:spPr>
          <a:xfrm>
            <a:off x="1353312" y="3154680"/>
            <a:ext cx="4297680" cy="422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Acs:ConnectionString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897880" y="3035808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0" dirty="0">
                <a:solidFill>
                  <a:srgbClr val="9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the emails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68680" y="3675888"/>
            <a:ext cx="914" cy="146304"/>
          </a:xfrm>
          <a:prstGeom prst="line">
            <a:avLst/>
          </a:prstGeom>
          <a:noFill/>
          <a:ln w="19050">
            <a:solidFill>
              <a:srgbClr val="5AA9E6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26" name="Shape 24"/>
          <p:cNvSpPr/>
          <p:nvPr/>
        </p:nvSpPr>
        <p:spPr>
          <a:xfrm>
            <a:off x="548640" y="3822192"/>
            <a:ext cx="6949440" cy="640080"/>
          </a:xfrm>
          <a:prstGeom prst="roundRect">
            <a:avLst>
              <a:gd name="adj" fmla="val 14286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Shape 25"/>
          <p:cNvSpPr/>
          <p:nvPr/>
        </p:nvSpPr>
        <p:spPr>
          <a:xfrm>
            <a:off x="713232" y="3986784"/>
            <a:ext cx="310896" cy="310896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 txBox="1"/>
          <p:nvPr/>
        </p:nvSpPr>
        <p:spPr>
          <a:xfrm>
            <a:off x="713232" y="3986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188720" y="3941064"/>
            <a:ext cx="4572000" cy="422148"/>
          </a:xfrm>
          <a:prstGeom prst="roundRect">
            <a:avLst>
              <a:gd name="adj" fmla="val 12996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0" name="Text 28"/>
          <p:cNvSpPr txBox="1"/>
          <p:nvPr/>
        </p:nvSpPr>
        <p:spPr>
          <a:xfrm>
            <a:off x="1353312" y="3941064"/>
            <a:ext cx="4297680" cy="422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TrainerAccess:Pin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897880" y="3822192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b="0" dirty="0">
                <a:solidFill>
                  <a:srgbClr val="9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trainer PIN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68680" y="4462272"/>
            <a:ext cx="914" cy="146304"/>
          </a:xfrm>
          <a:prstGeom prst="line">
            <a:avLst/>
          </a:prstGeom>
          <a:noFill/>
          <a:ln w="19050">
            <a:solidFill>
              <a:srgbClr val="5AA9E6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33" name="Shape 31"/>
          <p:cNvSpPr/>
          <p:nvPr/>
        </p:nvSpPr>
        <p:spPr>
          <a:xfrm>
            <a:off x="548640" y="4608576"/>
            <a:ext cx="6949440" cy="640080"/>
          </a:xfrm>
          <a:prstGeom prst="roundRect">
            <a:avLst>
              <a:gd name="adj" fmla="val 14286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4" name="Shape 32"/>
          <p:cNvSpPr/>
          <p:nvPr/>
        </p:nvSpPr>
        <p:spPr>
          <a:xfrm>
            <a:off x="713232" y="4773168"/>
            <a:ext cx="310896" cy="310896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5" name="Text 33"/>
          <p:cNvSpPr txBox="1"/>
          <p:nvPr/>
        </p:nvSpPr>
        <p:spPr>
          <a:xfrm>
            <a:off x="713232" y="4773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188720" y="4727448"/>
            <a:ext cx="4572000" cy="375209"/>
          </a:xfrm>
          <a:prstGeom prst="roundRect">
            <a:avLst>
              <a:gd name="adj" fmla="val 14622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7" name="Text 35"/>
          <p:cNvSpPr txBox="1"/>
          <p:nvPr/>
        </p:nvSpPr>
        <p:spPr>
          <a:xfrm>
            <a:off x="1353312" y="4727448"/>
            <a:ext cx="4297680" cy="375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NEXT_PUBLIC_API_URL</a:t>
            </a:r>
            <a:endParaRPr lang="en-US" sz="820" dirty="0"/>
          </a:p>
        </p:txBody>
      </p:sp>
      <p:sp>
        <p:nvSpPr>
          <p:cNvPr id="38" name="Text 36"/>
          <p:cNvSpPr txBox="1"/>
          <p:nvPr/>
        </p:nvSpPr>
        <p:spPr>
          <a:xfrm>
            <a:off x="5897880" y="4608576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finds the API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68680" y="5248656"/>
            <a:ext cx="914" cy="146304"/>
          </a:xfrm>
          <a:prstGeom prst="line">
            <a:avLst/>
          </a:prstGeom>
          <a:noFill/>
          <a:ln w="19050">
            <a:solidFill>
              <a:srgbClr val="5AA9E6"/>
            </a:solidFill>
            <a:prstDash val="solid"/>
            <a:tailEnd type="triangle"/>
          </a:ln>
        </p:spPr>
        <p:txBody>
          <a:bodyPr/>
          <a:lstStyle/>
          <a:p>
            <a:endParaRPr lang="en-ZA"/>
          </a:p>
        </p:txBody>
      </p:sp>
      <p:sp>
        <p:nvSpPr>
          <p:cNvPr id="40" name="Shape 38"/>
          <p:cNvSpPr/>
          <p:nvPr/>
        </p:nvSpPr>
        <p:spPr>
          <a:xfrm>
            <a:off x="548640" y="5394960"/>
            <a:ext cx="6949440" cy="640080"/>
          </a:xfrm>
          <a:prstGeom prst="roundRect">
            <a:avLst>
              <a:gd name="adj" fmla="val 14286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1" name="Shape 39"/>
          <p:cNvSpPr/>
          <p:nvPr/>
        </p:nvSpPr>
        <p:spPr>
          <a:xfrm>
            <a:off x="713232" y="5559552"/>
            <a:ext cx="310896" cy="310896"/>
          </a:xfrm>
          <a:prstGeom prst="ellipse">
            <a:avLst/>
          </a:prstGeom>
          <a:solidFill>
            <a:srgbClr val="F6AE2D"/>
          </a:solidFill>
          <a:ln w="12700">
            <a:solidFill>
              <a:srgbClr val="F6AE2D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2" name="Text 40"/>
          <p:cNvSpPr txBox="1"/>
          <p:nvPr/>
        </p:nvSpPr>
        <p:spPr>
          <a:xfrm>
            <a:off x="713232" y="5559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188720" y="5513832"/>
            <a:ext cx="4572000" cy="422148"/>
          </a:xfrm>
          <a:prstGeom prst="roundRect">
            <a:avLst>
              <a:gd name="adj" fmla="val 12996"/>
            </a:avLst>
          </a:prstGeom>
          <a:solidFill>
            <a:srgbClr val="1E1E1E"/>
          </a:solidFill>
          <a:ln w="9525">
            <a:solidFill>
              <a:srgbClr val="33333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4" name="Text 42"/>
          <p:cNvSpPr txBox="1"/>
          <p:nvPr/>
        </p:nvSpPr>
        <p:spPr>
          <a:xfrm>
            <a:off x="1353312" y="5513832"/>
            <a:ext cx="4297680" cy="422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EXPO_PUBLIC_API_URL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5897880" y="53949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0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finds the API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62636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Local: user secrets. Azure: the same key, with : written as __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818120" y="1463040"/>
            <a:ext cx="3822192" cy="1078992"/>
          </a:xfrm>
          <a:prstGeom prst="roundRect">
            <a:avLst>
              <a:gd name="adj" fmla="val 8475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8" name="Shape 46"/>
          <p:cNvSpPr/>
          <p:nvPr/>
        </p:nvSpPr>
        <p:spPr>
          <a:xfrm>
            <a:off x="7973568" y="1709928"/>
            <a:ext cx="566928" cy="566928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49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300" y="1851660"/>
            <a:ext cx="283464" cy="283464"/>
          </a:xfrm>
          <a:prstGeom prst="rect">
            <a:avLst/>
          </a:prstGeom>
        </p:spPr>
      </p:pic>
      <p:sp>
        <p:nvSpPr>
          <p:cNvPr id="50" name="Text 47"/>
          <p:cNvSpPr txBox="1"/>
          <p:nvPr/>
        </p:nvSpPr>
        <p:spPr>
          <a:xfrm>
            <a:off x="8686800" y="1572768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Azure App Service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 Central, deployed only from GitHub Actions.</a:t>
            </a:r>
            <a:endParaRPr lang="en-US" sz="1300" dirty="0"/>
          </a:p>
        </p:txBody>
      </p:sp>
      <p:sp>
        <p:nvSpPr>
          <p:cNvPr id="51" name="Shape 48"/>
          <p:cNvSpPr/>
          <p:nvPr/>
        </p:nvSpPr>
        <p:spPr>
          <a:xfrm>
            <a:off x="7818120" y="2679192"/>
            <a:ext cx="3822192" cy="1078992"/>
          </a:xfrm>
          <a:prstGeom prst="roundRect">
            <a:avLst>
              <a:gd name="adj" fmla="val 8475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2" name="Shape 49"/>
          <p:cNvSpPr/>
          <p:nvPr/>
        </p:nvSpPr>
        <p:spPr>
          <a:xfrm>
            <a:off x="7973568" y="2926080"/>
            <a:ext cx="566928" cy="566928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5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0" y="3067812"/>
            <a:ext cx="283464" cy="283464"/>
          </a:xfrm>
          <a:prstGeom prst="rect">
            <a:avLst/>
          </a:prstGeom>
        </p:spPr>
      </p:pic>
      <p:sp>
        <p:nvSpPr>
          <p:cNvPr id="54" name="Text 50"/>
          <p:cNvSpPr txBox="1"/>
          <p:nvPr/>
        </p:nvSpPr>
        <p:spPr>
          <a:xfrm>
            <a:off x="8686800" y="27889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Neon PostgreSQL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Serverless, with retry-on-failure for autosuspend resets.</a:t>
            </a:r>
            <a:endParaRPr lang="en-US" sz="1300" dirty="0"/>
          </a:p>
        </p:txBody>
      </p:sp>
      <p:sp>
        <p:nvSpPr>
          <p:cNvPr id="55" name="Shape 51"/>
          <p:cNvSpPr/>
          <p:nvPr/>
        </p:nvSpPr>
        <p:spPr>
          <a:xfrm>
            <a:off x="7818120" y="3895344"/>
            <a:ext cx="3822192" cy="1078992"/>
          </a:xfrm>
          <a:prstGeom prst="roundRect">
            <a:avLst>
              <a:gd name="adj" fmla="val 8475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6" name="Shape 52"/>
          <p:cNvSpPr/>
          <p:nvPr/>
        </p:nvSpPr>
        <p:spPr>
          <a:xfrm>
            <a:off x="7973568" y="4142232"/>
            <a:ext cx="566928" cy="566928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5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5300" y="4283964"/>
            <a:ext cx="283464" cy="283464"/>
          </a:xfrm>
          <a:prstGeom prst="rect">
            <a:avLst/>
          </a:prstGeom>
        </p:spPr>
      </p:pic>
      <p:sp>
        <p:nvSpPr>
          <p:cNvPr id="58" name="Text 53"/>
          <p:cNvSpPr txBox="1"/>
          <p:nvPr/>
        </p:nvSpPr>
        <p:spPr>
          <a:xfrm>
            <a:off x="8686800" y="4005072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Vercel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automatically on every push to main.</a:t>
            </a:r>
            <a:endParaRPr lang="en-US" sz="1300" dirty="0"/>
          </a:p>
        </p:txBody>
      </p:sp>
      <p:sp>
        <p:nvSpPr>
          <p:cNvPr id="59" name="Shape 54"/>
          <p:cNvSpPr/>
          <p:nvPr/>
        </p:nvSpPr>
        <p:spPr>
          <a:xfrm>
            <a:off x="7818120" y="5111496"/>
            <a:ext cx="3822192" cy="1078992"/>
          </a:xfrm>
          <a:prstGeom prst="roundRect">
            <a:avLst>
              <a:gd name="adj" fmla="val 8475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0" name="Shape 55"/>
          <p:cNvSpPr/>
          <p:nvPr/>
        </p:nvSpPr>
        <p:spPr>
          <a:xfrm>
            <a:off x="7973568" y="5358384"/>
            <a:ext cx="566928" cy="566928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6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5300" y="5500116"/>
            <a:ext cx="283464" cy="283464"/>
          </a:xfrm>
          <a:prstGeom prst="rect">
            <a:avLst/>
          </a:prstGeom>
        </p:spPr>
      </p:pic>
      <p:sp>
        <p:nvSpPr>
          <p:cNvPr id="62" name="Text 56"/>
          <p:cNvSpPr txBox="1"/>
          <p:nvPr/>
        </p:nvSpPr>
        <p:spPr>
          <a:xfrm>
            <a:off x="8686800" y="5221224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Mobile: Expo EAS</a:t>
            </a:r>
            <a:endParaRPr lang="en-US" sz="130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1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TestFlight and Android builds; JS fixes go over the air.</a:t>
            </a:r>
            <a:endParaRPr lang="en-US" sz="13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7" grpId="0" animBg="1"/>
      <p:bldP spid="48" grpId="0" animBg="1"/>
      <p:bldP spid="50" grpId="0" animBg="1"/>
      <p:bldP spid="51" grpId="0" animBg="1"/>
      <p:bldP spid="52" grpId="0" animBg="1"/>
      <p:bldP spid="54" grpId="0" animBg="1"/>
      <p:bldP spid="55" grpId="0" animBg="1"/>
      <p:bldP spid="56" grpId="0" animBg="1"/>
      <p:bldP spid="58" grpId="0" animBg="1"/>
      <p:bldP spid="59" grpId="0" animBg="1"/>
      <p:bldP spid="60" grpId="0" animBg="1"/>
      <p:bldP spid="6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731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5ED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I'D BUILD NEXT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051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next steps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731520" y="2148840"/>
            <a:ext cx="3429000" cy="1325880"/>
          </a:xfrm>
          <a:prstGeom prst="roundRect">
            <a:avLst>
              <a:gd name="adj" fmla="val 8276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3"/>
          <p:cNvSpPr/>
          <p:nvPr/>
        </p:nvSpPr>
        <p:spPr>
          <a:xfrm>
            <a:off x="932688" y="2496312"/>
            <a:ext cx="621792" cy="621792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" y="2651760"/>
            <a:ext cx="310896" cy="31089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19072" y="2258568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checks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manual API checks into integration tests against a test database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4434840" y="2148840"/>
            <a:ext cx="3429000" cy="1325880"/>
          </a:xfrm>
          <a:prstGeom prst="roundRect">
            <a:avLst>
              <a:gd name="adj" fmla="val 8276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Shape 6"/>
          <p:cNvSpPr/>
          <p:nvPr/>
        </p:nvSpPr>
        <p:spPr>
          <a:xfrm>
            <a:off x="4636008" y="2496312"/>
            <a:ext cx="621792" cy="621792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2651760"/>
            <a:ext cx="310896" cy="3108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22392" y="2258568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staging step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Azure is not the first real test of a merge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8138160" y="2148840"/>
            <a:ext cx="3429000" cy="1325880"/>
          </a:xfrm>
          <a:prstGeom prst="roundRect">
            <a:avLst>
              <a:gd name="adj" fmla="val 8276"/>
            </a:avLst>
          </a:prstGeom>
          <a:solidFill>
            <a:srgbClr val="13304F"/>
          </a:solidFill>
          <a:ln w="12700">
            <a:solidFill>
              <a:srgbClr val="13304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Shape 9"/>
          <p:cNvSpPr/>
          <p:nvPr/>
        </p:nvSpPr>
        <p:spPr>
          <a:xfrm>
            <a:off x="8339328" y="2496312"/>
            <a:ext cx="621792" cy="621792"/>
          </a:xfrm>
          <a:prstGeom prst="ellipse">
            <a:avLst/>
          </a:prstGeom>
          <a:solidFill>
            <a:srgbClr val="0B1D33"/>
          </a:solidFill>
          <a:ln w="12700">
            <a:solidFill>
              <a:srgbClr val="0B1D3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4776" y="2651760"/>
            <a:ext cx="310896" cy="31089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125712" y="2258568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back on failure</a:t>
            </a:r>
            <a:endParaRPr lang="en-US" sz="15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50" dirty="0">
                <a:solidFill>
                  <a:srgbClr val="93AC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rollback if a deploy passes CI but fails a health check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731520" y="38404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3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400"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8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250" autoRev="1" fill="remove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4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5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6" dur="250" autoRev="1" fill="remov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mph" presetSubtype="0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0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1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2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" dur="250" autoRev="1" fill="remov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1286</Words>
  <Application>Microsoft Office PowerPoint</Application>
  <PresentationFormat>Widescreen</PresentationFormat>
  <Paragraphs>223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 the Hood: Accounts, Security and Bookings</dc:title>
  <dc:subject>PptxGenJS Presentation</dc:subject>
  <dc:creator>PptxGenJS</dc:creator>
  <cp:lastModifiedBy>Funi Mapunda</cp:lastModifiedBy>
  <cp:revision>2</cp:revision>
  <dcterms:created xsi:type="dcterms:W3CDTF">2026-10-03T07:38:34Z</dcterms:created>
  <dcterms:modified xsi:type="dcterms:W3CDTF">2026-10-05T13:42:24Z</dcterms:modified>
</cp:coreProperties>
</file>