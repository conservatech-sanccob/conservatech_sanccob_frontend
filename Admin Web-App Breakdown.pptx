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66" r:id="rId14"/>
    <p:sldId id="271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10"/>
  </p:normalViewPr>
  <p:slideViewPr>
    <p:cSldViewPr snapToGrid="0" snapToObjects="1">
      <p:cViewPr>
        <p:scale>
          <a:sx n="64" d="100"/>
          <a:sy n="64" d="100"/>
        </p:scale>
        <p:origin x="105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29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Welcome: how the SANCCOB admin web app is built</a:t>
            </a:r>
          </a:p>
          <a:p>
            <a:r>
              <a:rPr lang="en-US"/>
              <a:t>- Pages and layout, the API layer, rules in the UI, live features and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Pages, the API layer, rules in the UI, live features and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(admin) route group: 8 pages, one guarding layout
- Login outside the shell
- App Router: folders are routes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Page -&gt; wrapper -&gt; apiFetch -&gt; backend
- One wrapper file per resource
- SignalR for live alerts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base URL
- No token means no request
- Headers set once for every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Message, then title, then validation errors, then fallback
- 401 logs out everywhere
- 204 / empty bodies handled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Ticked: localStorage; not ticked: sessionStorage
- Expired or malformed tokens cleared on 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 token -&gt; login
- Not an admin -&gt; No access
- Otherwise the page renders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Both requests run together
- A rejected one only shows its error
- allSettled vs 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Capacity: ceil(birds / 25), at least 1
- Supporting areas manual
- Dates: local date keys, not toISOString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Pen routine: bird count entered, capacity auto-calculated (1 per 25 birds, min 1), read-only
- Supporting area: birdCount saved as null, admin types the capacity
- Suggested name = area + session, never overwrites an existing or typed name
- Vacancies Edit Shift reuses ShiftFormModal in edit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Calendar colours: Fully Staffed, Understaffed, Critical, Over Capacity
- Colour comes from assigned volunteers vs capacity
- Vacancies shows the same gaps as open spots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Notify Qualified -&gt; open-vacancy via apiFetch
- SignalR live bell
- Attendance re-fetches backend-computed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Trainer CRUD: create, read, update, delete via /api/trainers
- UpdateTrainerRequest reuses CreateTrainerRequest
- All calls go through apiFetch (token, errors, 401 logout)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- 50 tests in 14 suites, clean type-check
- Fetch guard: no real API calls
- Auth, contracts,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Three tidy-ups left: reports calls onto apiFetch, in-page errors instead of alert(), a real home redirect and tab title</a:t>
            </a:r>
          </a:p>
          <a:p>
            <a:r>
              <a:rPr lang="en-US"/>
              <a:t>- 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ADMIN WEB APP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SANCCOB admin dashboard is built: the structure, the data flow and the decisions behind them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8229600" cy="68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  ·  React 19  ·  TypeScript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By: Lofentse Moagi ST10438345</a:t>
            </a:r>
          </a:p>
          <a:p>
            <a:pPr marL="0" indent="0">
              <a:buNone/>
            </a:pPr>
            <a:endParaRPr lang="en-US" sz="1400" dirty="0">
              <a:solidFill>
                <a:srgbClr val="93ACC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admin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269748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834" y="286893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3657600"/>
            <a:ext cx="2064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admin pages behind one secure layout.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233172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233172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269748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018" y="286893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3657600"/>
            <a:ext cx="2064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the API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 for every request, error and session.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233172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233172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269748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201" y="286893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3657600"/>
            <a:ext cx="2064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the UI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forms, staffing colours, dates and failures handled.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233172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233172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269748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4385" y="286893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3657600"/>
            <a:ext cx="2064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tested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alerts, notifications and 50 Jest tests.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page sits behind one layout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412480" cy="4983480"/>
          </a:xfrm>
          <a:prstGeom prst="roundRect">
            <a:avLst>
              <a:gd name="adj" fmla="val 1923"/>
            </a:avLst>
          </a:prstGeom>
          <a:solidFill>
            <a:srgbClr val="102A47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5AA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(admin)/</a:t>
            </a: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layout.tsx checks the session before any page renders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987552" y="2331720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468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2221992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overview and impact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69180" y="2148840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5033772" y="2331720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932" y="2468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37860" y="2221992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/volunteers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volunteers and requests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" y="3172968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987552" y="335584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4930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3246120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/roster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publish a week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69180" y="3172968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5033772" y="335584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932" y="34930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37860" y="3246120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/shifts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calendar of shifts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22960" y="4197096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8"/>
          <p:cNvSpPr/>
          <p:nvPr/>
        </p:nvSpPr>
        <p:spPr>
          <a:xfrm>
            <a:off x="987552" y="4379976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45171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1640" y="4270248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/vacancies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spots and notifying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869180" y="4197096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1"/>
          <p:cNvSpPr/>
          <p:nvPr/>
        </p:nvSpPr>
        <p:spPr>
          <a:xfrm>
            <a:off x="5033772" y="4379976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932" y="4517136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737860" y="4270248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/training-staff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and history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22960" y="5221224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24"/>
          <p:cNvSpPr/>
          <p:nvPr/>
        </p:nvSpPr>
        <p:spPr>
          <a:xfrm>
            <a:off x="987552" y="5404104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712" y="5541264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691640" y="5294376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charts and Excel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869180" y="5221224"/>
            <a:ext cx="381762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27"/>
          <p:cNvSpPr/>
          <p:nvPr/>
        </p:nvSpPr>
        <p:spPr>
          <a:xfrm>
            <a:off x="5033772" y="5404104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0932" y="5541264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737860" y="5294376"/>
            <a:ext cx="28575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preferences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9281160" y="1417320"/>
            <a:ext cx="2361895" cy="1737360"/>
          </a:xfrm>
          <a:prstGeom prst="roundRect">
            <a:avLst>
              <a:gd name="adj" fmla="val 526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0"/>
          <p:cNvSpPr/>
          <p:nvPr/>
        </p:nvSpPr>
        <p:spPr>
          <a:xfrm>
            <a:off x="9464040" y="161848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1755648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464040" y="2240280"/>
            <a:ext cx="1996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/authentication/login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admin shell, so anyone can reach it.</a:t>
            </a:r>
            <a:endParaRPr lang="en-US" sz="1300" dirty="0"/>
          </a:p>
        </p:txBody>
      </p:sp>
      <p:sp>
        <p:nvSpPr>
          <p:cNvPr id="43" name="Shape 32"/>
          <p:cNvSpPr/>
          <p:nvPr/>
        </p:nvSpPr>
        <p:spPr>
          <a:xfrm>
            <a:off x="9281160" y="3383280"/>
            <a:ext cx="2361895" cy="3017520"/>
          </a:xfrm>
          <a:prstGeom prst="roundRect">
            <a:avLst>
              <a:gd name="adj" fmla="val 3871"/>
            </a:avLst>
          </a:prstGeom>
          <a:solidFill>
            <a:srgbClr val="1A3D63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33"/>
          <p:cNvSpPr txBox="1"/>
          <p:nvPr/>
        </p:nvSpPr>
        <p:spPr>
          <a:xfrm>
            <a:off x="9464040" y="3520440"/>
            <a:ext cx="199613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are routes. The (admin) group shares one layout without adding "/admin" to the URL.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ask a wrapper, one helper talks to the API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app/(admin)/volunteers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72384" y="2308860"/>
            <a:ext cx="296570" cy="914"/>
          </a:xfrm>
          <a:prstGeom prst="line">
            <a:avLst/>
          </a:prstGeom>
          <a:noFill/>
          <a:ln w="25400">
            <a:solidFill>
              <a:srgbClr val="B39DD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3423818" y="146304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3606698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858" y="18013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6698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wrapper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lib/api/volunteers.ts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7562" y="2308860"/>
            <a:ext cx="296570" cy="914"/>
          </a:xfrm>
          <a:prstGeom prst="line">
            <a:avLst/>
          </a:prstGeom>
          <a:noFill/>
          <a:ln w="25400">
            <a:solidFill>
              <a:srgbClr val="B39DD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1"/>
          <p:cNvSpPr/>
          <p:nvPr/>
        </p:nvSpPr>
        <p:spPr>
          <a:xfrm>
            <a:off x="6298997" y="146304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6481877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037" y="18013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81877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lib/api/http.ts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822741" y="2308860"/>
            <a:ext cx="296570" cy="914"/>
          </a:xfrm>
          <a:prstGeom prst="line">
            <a:avLst/>
          </a:prstGeom>
          <a:noFill/>
          <a:ln w="25400">
            <a:solidFill>
              <a:srgbClr val="B39DD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9174175" y="146304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9357055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215" y="180136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57055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on Azure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39D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app/lib/api/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393192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0"/>
          <p:cNvSpPr txBox="1"/>
          <p:nvPr/>
        </p:nvSpPr>
        <p:spPr>
          <a:xfrm>
            <a:off x="548640" y="3931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auth.ts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651760" y="393192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2"/>
          <p:cNvSpPr txBox="1"/>
          <p:nvPr/>
        </p:nvSpPr>
        <p:spPr>
          <a:xfrm>
            <a:off x="2651760" y="3931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dashboard.ts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754880" y="393192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4"/>
          <p:cNvSpPr txBox="1"/>
          <p:nvPr/>
        </p:nvSpPr>
        <p:spPr>
          <a:xfrm>
            <a:off x="4754880" y="3931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http.ts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48640" y="44988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6"/>
          <p:cNvSpPr txBox="1"/>
          <p:nvPr/>
        </p:nvSpPr>
        <p:spPr>
          <a:xfrm>
            <a:off x="548640" y="44988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notifications.ts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2651760" y="44988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28"/>
          <p:cNvSpPr txBox="1"/>
          <p:nvPr/>
        </p:nvSpPr>
        <p:spPr>
          <a:xfrm>
            <a:off x="2651760" y="44988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reports.ts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754880" y="44988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0"/>
          <p:cNvSpPr txBox="1"/>
          <p:nvPr/>
        </p:nvSpPr>
        <p:spPr>
          <a:xfrm>
            <a:off x="4754880" y="44988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roster.ts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48640" y="5065776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2"/>
          <p:cNvSpPr txBox="1"/>
          <p:nvPr/>
        </p:nvSpPr>
        <p:spPr>
          <a:xfrm>
            <a:off x="548640" y="5065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shifts.ts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2651760" y="5065776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4"/>
          <p:cNvSpPr txBox="1"/>
          <p:nvPr/>
        </p:nvSpPr>
        <p:spPr>
          <a:xfrm>
            <a:off x="2651760" y="5065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training_staff.ts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4754880" y="5065776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36"/>
          <p:cNvSpPr txBox="1"/>
          <p:nvPr/>
        </p:nvSpPr>
        <p:spPr>
          <a:xfrm>
            <a:off x="4754880" y="5065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volunteers.ts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223760" y="3474720"/>
            <a:ext cx="4419295" cy="2697480"/>
          </a:xfrm>
          <a:prstGeom prst="roundRect">
            <a:avLst>
              <a:gd name="adj" fmla="val 3390"/>
            </a:avLst>
          </a:prstGeom>
          <a:solidFill>
            <a:srgbClr val="1A3D63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38"/>
          <p:cNvSpPr/>
          <p:nvPr/>
        </p:nvSpPr>
        <p:spPr>
          <a:xfrm>
            <a:off x="7452360" y="365760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092" y="3799332"/>
            <a:ext cx="283464" cy="28346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7452360" y="4343400"/>
            <a:ext cx="3962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live channel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SignalR connection to /hubs/admin-notifications pushes new alerts straight to the bell in the top bar.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7452360" y="5577840"/>
            <a:ext cx="396209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1"/>
          <p:cNvSpPr txBox="1"/>
          <p:nvPr/>
        </p:nvSpPr>
        <p:spPr>
          <a:xfrm>
            <a:off x="7616952" y="5577840"/>
            <a:ext cx="3687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HubConnectionBuilder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APP/LIB/API/HTTP.TS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apiFetch: every request goes through here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040880" cy="4507992"/>
          </a:xfrm>
          <a:prstGeom prst="roundRect">
            <a:avLst>
              <a:gd name="adj" fmla="val 162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04088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581912"/>
            <a:ext cx="704088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13232" y="141732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http.ts</a:t>
            </a: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apiFetch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1874520"/>
            <a:ext cx="696772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585216" y="3232404"/>
            <a:ext cx="696772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585216" y="4892040"/>
            <a:ext cx="696772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594360" y="1874520"/>
            <a:ext cx="365760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874520"/>
            <a:ext cx="6309360" cy="392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API_BASE_URL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NEXT_PUBLIC_API_URL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apiFetch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|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RequestInit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{},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errorMessage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"API request failed"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 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 {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Refuse to send an unauthenticated request rather than silently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dropping the Authorization header and letting the backend 401 it.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ApiError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 are not signed in."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`Bearer ${token}`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`${API_BASE_URL}${endpoint}`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{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...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812798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411480" y="18127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70682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411480" y="31706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830318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411480" y="48303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1949958"/>
            <a:ext cx="640080" cy="61722"/>
          </a:xfrm>
          <a:prstGeom prst="line">
            <a:avLst/>
          </a:prstGeom>
          <a:noFill/>
          <a:ln w="15875">
            <a:solidFill>
              <a:srgbClr val="5ED3C6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8229600" y="1417320"/>
            <a:ext cx="3410712" cy="1188720"/>
          </a:xfrm>
          <a:prstGeom prst="roundRect">
            <a:avLst>
              <a:gd name="adj" fmla="val 7692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394192" y="157276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8394192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1527048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URL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environment variable, so dev and production differ only in config.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0" y="3307842"/>
            <a:ext cx="640080" cy="75438"/>
          </a:xfrm>
          <a:prstGeom prst="line">
            <a:avLst/>
          </a:prstGeom>
          <a:noFill/>
          <a:ln w="15875">
            <a:solidFill>
              <a:srgbClr val="5ED3C6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00" y="2788920"/>
            <a:ext cx="3410712" cy="1188720"/>
          </a:xfrm>
          <a:prstGeom prst="roundRect">
            <a:avLst>
              <a:gd name="adj" fmla="val 7692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8394192" y="294436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8394192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2898648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token, no request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instead of sending an anonymous call.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4967478"/>
            <a:ext cx="640080" cy="914"/>
          </a:xfrm>
          <a:prstGeom prst="line">
            <a:avLst/>
          </a:prstGeom>
          <a:noFill/>
          <a:ln w="15875">
            <a:solidFill>
              <a:srgbClr val="5ED3C6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8229600" y="4373118"/>
            <a:ext cx="3410712" cy="1188720"/>
          </a:xfrm>
          <a:prstGeom prst="roundRect">
            <a:avLst>
              <a:gd name="adj" fmla="val 7692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394192" y="4528566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8394192" y="45285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4482846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for every page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and JSON headers set once, 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the backend's real reason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 picks the best message it can find: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949440" cy="896112"/>
          </a:xfrm>
          <a:prstGeom prst="roundRect">
            <a:avLst>
              <a:gd name="adj" fmla="val 10204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731520" y="20756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3152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7452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message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566160" y="2029968"/>
            <a:ext cx="3749040" cy="397002"/>
          </a:xfrm>
          <a:prstGeom prst="roundRect">
            <a:avLst>
              <a:gd name="adj" fmla="val 1382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3730752" y="2029968"/>
            <a:ext cx="3474720" cy="397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 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"Shift not found."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6629400" cy="896112"/>
          </a:xfrm>
          <a:prstGeom prst="roundRect">
            <a:avLst>
              <a:gd name="adj" fmla="val 10204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7315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92608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title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566160" y="3081528"/>
            <a:ext cx="3429000" cy="397002"/>
          </a:xfrm>
          <a:prstGeom prst="roundRect">
            <a:avLst>
              <a:gd name="adj" fmla="val 1382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3730752" y="3081528"/>
            <a:ext cx="3154680" cy="397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 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 Request"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731520" y="417880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 txBox="1"/>
          <p:nvPr/>
        </p:nvSpPr>
        <p:spPr>
          <a:xfrm>
            <a:off x="73152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9776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566160" y="4133088"/>
            <a:ext cx="3108960" cy="397002"/>
          </a:xfrm>
          <a:prstGeom prst="roundRect">
            <a:avLst>
              <a:gd name="adj" fmla="val 1382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3730752" y="4133088"/>
            <a:ext cx="2834640" cy="397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 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"errors"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 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} 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989320" cy="896112"/>
          </a:xfrm>
          <a:prstGeom prst="roundRect">
            <a:avLst>
              <a:gd name="adj" fmla="val 10204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731520" y="52303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73152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292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3566160" y="5184648"/>
            <a:ext cx="2788920" cy="397002"/>
          </a:xfrm>
          <a:prstGeom prst="roundRect">
            <a:avLst>
              <a:gd name="adj" fmla="val 1382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3730752" y="5184648"/>
            <a:ext cx="2514600" cy="397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"Unable to fetch volunteers"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01000" y="1417320"/>
            <a:ext cx="3642055" cy="2286000"/>
          </a:xfrm>
          <a:prstGeom prst="roundRect">
            <a:avLst>
              <a:gd name="adj" fmla="val 4000"/>
            </a:avLst>
          </a:prstGeom>
          <a:solidFill>
            <a:srgbClr val="1A3D63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 txBox="1"/>
          <p:nvPr/>
        </p:nvSpPr>
        <p:spPr>
          <a:xfrm>
            <a:off x="8229600" y="1554480"/>
            <a:ext cx="3184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401 logs out everywhere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context registers this handler, so an expired session ends cleanly on any page.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3063240"/>
            <a:ext cx="318485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8394192" y="3063240"/>
            <a:ext cx="2910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unauthorizedHandler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?.();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01000" y="3931920"/>
            <a:ext cx="3642055" cy="2240280"/>
          </a:xfrm>
          <a:prstGeom prst="roundRect">
            <a:avLst>
              <a:gd name="adj" fmla="val 408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 txBox="1"/>
          <p:nvPr/>
        </p:nvSpPr>
        <p:spPr>
          <a:xfrm>
            <a:off x="8229600" y="4069080"/>
            <a:ext cx="3184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replies are fine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204s and empty bodies return nothing instead of breaking the JSON parse.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5486400"/>
            <a:ext cx="318485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 txBox="1"/>
          <p:nvPr/>
        </p:nvSpPr>
        <p:spPr>
          <a:xfrm>
            <a:off x="8394192" y="5486400"/>
            <a:ext cx="2910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=== 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me signed in” decides where the token lives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A3D63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 signed in?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on the login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3337560" y="1965960"/>
            <a:ext cx="822960" cy="1097280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4206240" y="141732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8288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74920" y="1463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TICKED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closing the browser.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7560" y="3063240"/>
            <a:ext cx="822960" cy="1005840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4206240" y="3520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4370832" y="3794760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9319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74920" y="3566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TICKED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sessionStorage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when the tab closes.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983480"/>
            <a:ext cx="704088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4"/>
          <p:cNvSpPr txBox="1"/>
          <p:nvPr/>
        </p:nvSpPr>
        <p:spPr>
          <a:xfrm>
            <a:off x="713232" y="4983480"/>
            <a:ext cx="676656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keepSignedIn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? </a:t>
            </a: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: </a:t>
            </a: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sessionStorage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532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cleared first, so there's never a stale second copy.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01000" y="1417320"/>
            <a:ext cx="3642055" cy="4754880"/>
          </a:xfrm>
          <a:prstGeom prst="roundRect">
            <a:avLst>
              <a:gd name="adj" fmla="val 251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7"/>
          <p:cNvSpPr/>
          <p:nvPr/>
        </p:nvSpPr>
        <p:spPr>
          <a:xfrm>
            <a:off x="8229600" y="164592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332" y="1787652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29600" y="2331720"/>
            <a:ext cx="3184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page load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token is decoded and checked. Expired or malformed tokens are cleared, never restored.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229600" y="3931920"/>
            <a:ext cx="3184855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8394192" y="3931920"/>
            <a:ext cx="2910535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229600" y="4480560"/>
            <a:ext cx="3184855" cy="381914"/>
          </a:xfrm>
          <a:prstGeom prst="roundRect">
            <a:avLst>
              <a:gd name="adj" fmla="val 1436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2"/>
          <p:cNvSpPr txBox="1"/>
          <p:nvPr/>
        </p:nvSpPr>
        <p:spPr>
          <a:xfrm>
            <a:off x="8394192" y="4480560"/>
            <a:ext cx="2910535" cy="381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86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 &gt;= </a:t>
            </a:r>
            <a:r>
              <a:rPr lang="en-US" sz="86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6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* </a:t>
            </a: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60" dirty="0"/>
          </a:p>
        </p:txBody>
      </p:sp>
      <p:sp>
        <p:nvSpPr>
          <p:cNvPr id="28" name="Text 23"/>
          <p:cNvSpPr txBox="1"/>
          <p:nvPr/>
        </p:nvSpPr>
        <p:spPr>
          <a:xfrm>
            <a:off x="8229600" y="5074920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isTokenExpired in auth-context.tsx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signed-in admins get past the layout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 a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2788920"/>
            <a:ext cx="548640" cy="914"/>
          </a:xfrm>
          <a:prstGeom prst="line">
            <a:avLst/>
          </a:prstGeom>
          <a:noFill/>
          <a:ln w="25400">
            <a:solidFill>
              <a:srgbClr val="F0716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194560" cy="1554480"/>
          </a:xfrm>
          <a:prstGeom prst="diamond">
            <a:avLst/>
          </a:prstGeom>
          <a:solidFill>
            <a:srgbClr val="1A3D63"/>
          </a:solidFill>
          <a:ln w="1905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320040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token?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40680" y="2788920"/>
            <a:ext cx="640080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548640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194560" cy="1554480"/>
          </a:xfrm>
          <a:prstGeom prst="diamond">
            <a:avLst/>
          </a:prstGeom>
          <a:solidFill>
            <a:srgbClr val="1A3D63"/>
          </a:solidFill>
          <a:ln w="1905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 txBox="1"/>
          <p:nvPr/>
        </p:nvSpPr>
        <p:spPr>
          <a:xfrm>
            <a:off x="612648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admin?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66760" y="2788920"/>
            <a:ext cx="640080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841248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240280"/>
            <a:ext cx="2590495" cy="1097280"/>
          </a:xfrm>
          <a:prstGeom prst="roundRect">
            <a:avLst>
              <a:gd name="adj" fmla="val 8333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9052560" y="2240280"/>
            <a:ext cx="2590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renders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611880"/>
            <a:ext cx="914" cy="640080"/>
          </a:xfrm>
          <a:prstGeom prst="line">
            <a:avLst/>
          </a:prstGeom>
          <a:noFill/>
          <a:ln w="25400">
            <a:solidFill>
              <a:srgbClr val="F0716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438912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71800" y="42976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3108960" y="43434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login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/authentication/login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3611880"/>
            <a:ext cx="914" cy="640080"/>
          </a:xfrm>
          <a:prstGeom prst="line">
            <a:avLst/>
          </a:prstGeom>
          <a:noFill/>
          <a:ln w="25400">
            <a:solidFill>
              <a:srgbClr val="F0716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731520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42976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 txBox="1"/>
          <p:nvPr/>
        </p:nvSpPr>
        <p:spPr>
          <a:xfrm>
            <a:off x="6035040" y="43434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access”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Log out button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539496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713232" y="5669280"/>
            <a:ext cx="512064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"/authentication/login"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5669280"/>
            <a:ext cx="5425135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6382512" y="5669280"/>
            <a:ext cx="5150815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isAdmin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 === 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request doesn't blank the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713232" y="1463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allSettled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1078992" y="25603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fetchVolunteers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788920"/>
            <a:ext cx="822960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5760720" y="2560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57607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2788920"/>
            <a:ext cx="640080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7955280" y="2377440"/>
            <a:ext cx="3687775" cy="822960"/>
          </a:xfrm>
          <a:prstGeom prst="roundRect">
            <a:avLst>
              <a:gd name="adj" fmla="val 11111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092440" y="2532888"/>
            <a:ext cx="512064" cy="512064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2660904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732520" y="2377440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table shows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3886200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 txBox="1"/>
          <p:nvPr/>
        </p:nvSpPr>
        <p:spPr>
          <a:xfrm>
            <a:off x="1078992" y="38862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fetchShiftRequests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4114800"/>
            <a:ext cx="822960" cy="914"/>
          </a:xfrm>
          <a:prstGeom prst="line">
            <a:avLst/>
          </a:prstGeom>
          <a:noFill/>
          <a:ln w="25400">
            <a:solidFill>
              <a:srgbClr val="F0716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7"/>
          <p:cNvSpPr/>
          <p:nvPr/>
        </p:nvSpPr>
        <p:spPr>
          <a:xfrm>
            <a:off x="5760720" y="38862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 txBox="1"/>
          <p:nvPr/>
        </p:nvSpPr>
        <p:spPr>
          <a:xfrm>
            <a:off x="576072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4114800"/>
            <a:ext cx="640080" cy="914"/>
          </a:xfrm>
          <a:prstGeom prst="line">
            <a:avLst/>
          </a:prstGeom>
          <a:noFill/>
          <a:ln w="25400">
            <a:solidFill>
              <a:srgbClr val="F0716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7955280" y="3703320"/>
            <a:ext cx="3687775" cy="822960"/>
          </a:xfrm>
          <a:prstGeom prst="roundRect">
            <a:avLst>
              <a:gd name="adj" fmla="val 11111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1"/>
          <p:cNvSpPr/>
          <p:nvPr/>
        </p:nvSpPr>
        <p:spPr>
          <a:xfrm>
            <a:off x="8092440" y="3858768"/>
            <a:ext cx="512064" cy="512064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398678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732520" y="3703320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shows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A3D63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4"/>
          <p:cNvSpPr txBox="1"/>
          <p:nvPr/>
        </p:nvSpPr>
        <p:spPr>
          <a:xfrm>
            <a:off x="822960" y="512064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allSettled, not all? </a:t>
            </a: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fails as soon as one request fails, which would hide data that loaded fine. allSettled waits for both and keeps whatever succeeded.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THE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dates, worked out for the admin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ROUTINE CAPACITY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713232" y="178308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birdCount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/ 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24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54864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8700" y="3310128"/>
            <a:ext cx="914" cy="420624"/>
          </a:xfrm>
          <a:prstGeom prst="line">
            <a:avLst/>
          </a:prstGeom>
          <a:noFill/>
          <a:ln w="19050">
            <a:solidFill>
              <a:srgbClr val="F6AE2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645920" y="28346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164592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25980" y="3310128"/>
            <a:ext cx="914" cy="420624"/>
          </a:xfrm>
          <a:prstGeom prst="line">
            <a:avLst/>
          </a:prstGeom>
          <a:noFill/>
          <a:ln w="19050">
            <a:solidFill>
              <a:srgbClr val="F6AE2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1645920" y="37490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164592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0" y="28346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274320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23260" y="3310128"/>
            <a:ext cx="914" cy="420624"/>
          </a:xfrm>
          <a:prstGeom prst="line">
            <a:avLst/>
          </a:prstGeom>
          <a:noFill/>
          <a:ln w="19050">
            <a:solidFill>
              <a:srgbClr val="F6AE2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2743200" y="37490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274320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840480" y="28346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384048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20540" y="3310128"/>
            <a:ext cx="914" cy="420624"/>
          </a:xfrm>
          <a:prstGeom prst="line">
            <a:avLst/>
          </a:prstGeom>
          <a:noFill/>
          <a:ln w="19050">
            <a:solidFill>
              <a:srgbClr val="F6AE2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3840480" y="37490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384048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937760" y="28346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 txBox="1"/>
          <p:nvPr/>
        </p:nvSpPr>
        <p:spPr>
          <a:xfrm>
            <a:off x="493776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17820" y="3310128"/>
            <a:ext cx="914" cy="420624"/>
          </a:xfrm>
          <a:prstGeom prst="line">
            <a:avLst/>
          </a:prstGeom>
          <a:noFill/>
          <a:ln w="19050">
            <a:solidFill>
              <a:srgbClr val="F6AE2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4937760" y="37490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49377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526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areas enter their capacity by hand instead.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A3D63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 txBox="1"/>
          <p:nvPr/>
        </p:nvSpPr>
        <p:spPr>
          <a:xfrm>
            <a:off x="777240" y="50292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Heads-up: </a:t>
            </a: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calculates 1 per 30 birds and saves its own number, so the two should be aligned.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1783080"/>
            <a:ext cx="5196535" cy="960120"/>
          </a:xfrm>
          <a:prstGeom prst="roundRect">
            <a:avLst>
              <a:gd name="adj" fmla="val 952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 txBox="1"/>
          <p:nvPr/>
        </p:nvSpPr>
        <p:spPr>
          <a:xfrm>
            <a:off x="6675120" y="1783080"/>
            <a:ext cx="4739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cell for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Oct, 00:00</a:t>
            </a: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South African time (UTC+2)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46520" y="2971800"/>
            <a:ext cx="5196535" cy="1280160"/>
          </a:xfrm>
          <a:prstGeom prst="roundRect">
            <a:avLst>
              <a:gd name="adj" fmla="val 7143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6629400" y="3319272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32" y="3461004"/>
            <a:ext cx="283464" cy="283464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7360920" y="3044952"/>
            <a:ext cx="4099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toISOString()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2200" b="1" dirty="0">
                <a:solidFill>
                  <a:srgbClr val="F07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2026-10-04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UTC first: one day early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446520" y="4434840"/>
            <a:ext cx="5196535" cy="1280160"/>
          </a:xfrm>
          <a:prstGeom prst="roundRect">
            <a:avLst>
              <a:gd name="adj" fmla="val 7143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Shape 43"/>
          <p:cNvSpPr/>
          <p:nvPr/>
        </p:nvSpPr>
        <p:spPr>
          <a:xfrm>
            <a:off x="6629400" y="4782312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4924044"/>
            <a:ext cx="283464" cy="283464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7360920" y="4507992"/>
            <a:ext cx="4099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year, month, day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2200" b="1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2026-10-05</a:t>
            </a:r>
            <a:endParaRPr lang="en-US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shift's date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SCHEDULING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shift form adapts to the kind of area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463040"/>
            <a:ext cx="5440527" cy="210312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6"/>
          <p:cNvSpPr txBox="1"/>
          <p:nvPr/>
        </p:nvSpPr>
        <p:spPr>
          <a:xfrm>
            <a:off x="731520" y="1613040"/>
            <a:ext cx="50747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routine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2003040"/>
            <a:ext cx="5074767" cy="92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enters a bird count. Volunteer capacity is worked out and shown read-only: one volunteer per 25 birds, minimum 1.</a:t>
            </a:r>
          </a:p>
        </p:txBody>
      </p:sp>
      <p:sp>
        <p:nvSpPr>
          <p:cNvPr id="8" name="Shape 8"/>
          <p:cNvSpPr/>
          <p:nvPr/>
        </p:nvSpPr>
        <p:spPr>
          <a:xfrm>
            <a:off x="731520" y="2996160"/>
            <a:ext cx="5074767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9"/>
          <p:cNvSpPr txBox="1"/>
          <p:nvPr/>
        </p:nvSpPr>
        <p:spPr>
          <a:xfrm>
            <a:off x="851520" y="2996160"/>
            <a:ext cx="4834767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capacity: autoCalculatedCapacity</a:t>
            </a:r>
          </a:p>
        </p:txBody>
      </p:sp>
      <p:sp>
        <p:nvSpPr>
          <p:cNvPr id="10" name="Shape 10"/>
          <p:cNvSpPr/>
          <p:nvPr/>
        </p:nvSpPr>
        <p:spPr>
          <a:xfrm>
            <a:off x="6202527" y="1463040"/>
            <a:ext cx="5440527" cy="210312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11"/>
          <p:cNvSpPr txBox="1"/>
          <p:nvPr/>
        </p:nvSpPr>
        <p:spPr>
          <a:xfrm>
            <a:off x="6385407" y="1613040"/>
            <a:ext cx="50747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area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385407" y="2003040"/>
            <a:ext cx="5074767" cy="92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birds here, so the bird count is saved as null. The admin types how many volunteers are needed, minimum 1.</a:t>
            </a:r>
          </a:p>
        </p:txBody>
      </p:sp>
      <p:sp>
        <p:nvSpPr>
          <p:cNvPr id="13" name="Shape 13"/>
          <p:cNvSpPr/>
          <p:nvPr/>
        </p:nvSpPr>
        <p:spPr>
          <a:xfrm>
            <a:off x="6385407" y="2996160"/>
            <a:ext cx="5074767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4"/>
          <p:cNvSpPr txBox="1"/>
          <p:nvPr/>
        </p:nvSpPr>
        <p:spPr>
          <a:xfrm>
            <a:off x="6505407" y="2996160"/>
            <a:ext cx="4834767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capacity: manualCapacity</a:t>
            </a:r>
          </a:p>
        </p:txBody>
      </p:sp>
      <p:sp>
        <p:nvSpPr>
          <p:cNvPr id="15" name="Shape 15"/>
          <p:cNvSpPr/>
          <p:nvPr/>
        </p:nvSpPr>
        <p:spPr>
          <a:xfrm>
            <a:off x="548640" y="3749040"/>
            <a:ext cx="5440527" cy="237744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6"/>
          <p:cNvSpPr txBox="1"/>
          <p:nvPr/>
        </p:nvSpPr>
        <p:spPr>
          <a:xfrm>
            <a:off x="731520" y="3899040"/>
            <a:ext cx="50747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shift name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31520" y="4289040"/>
            <a:ext cx="5074767" cy="119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admin types their own, the field shows the area and session, such as “Pen A – Morning”. An existing name is never overwritten.</a:t>
            </a:r>
          </a:p>
        </p:txBody>
      </p:sp>
      <p:sp>
        <p:nvSpPr>
          <p:cNvPr id="18" name="Shape 18"/>
          <p:cNvSpPr/>
          <p:nvPr/>
        </p:nvSpPr>
        <p:spPr>
          <a:xfrm>
            <a:off x="731520" y="5556480"/>
            <a:ext cx="5074767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9"/>
          <p:cNvSpPr txBox="1"/>
          <p:nvPr/>
        </p:nvSpPr>
        <p:spPr>
          <a:xfrm>
            <a:off x="851520" y="5556480"/>
            <a:ext cx="4834767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nameTouched ? shiftName : suggestedName</a:t>
            </a:r>
          </a:p>
        </p:txBody>
      </p:sp>
      <p:sp>
        <p:nvSpPr>
          <p:cNvPr id="20" name="Shape 20"/>
          <p:cNvSpPr/>
          <p:nvPr/>
        </p:nvSpPr>
        <p:spPr>
          <a:xfrm>
            <a:off x="6202527" y="3749040"/>
            <a:ext cx="5440527" cy="237744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21"/>
          <p:cNvSpPr txBox="1"/>
          <p:nvPr/>
        </p:nvSpPr>
        <p:spPr>
          <a:xfrm>
            <a:off x="6385407" y="3899040"/>
            <a:ext cx="50747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 reuse the same form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85407" y="4289040"/>
            <a:ext cx="5074767" cy="119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Shift on a vacancy opens this form in edit mode, so New Shift and Edit can never drift apart. A Vacancy already fits the form’s input type.</a:t>
            </a:r>
          </a:p>
        </p:txBody>
      </p:sp>
      <p:sp>
        <p:nvSpPr>
          <p:cNvPr id="23" name="Shape 23"/>
          <p:cNvSpPr/>
          <p:nvPr/>
        </p:nvSpPr>
        <p:spPr>
          <a:xfrm>
            <a:off x="6385407" y="5556480"/>
            <a:ext cx="5074767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4"/>
          <p:cNvSpPr txBox="1"/>
          <p:nvPr/>
        </p:nvSpPr>
        <p:spPr>
          <a:xfrm>
            <a:off x="6505407" y="5556480"/>
            <a:ext cx="4834767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&lt;ShiftFormModal mode="edit" shift={editingVacancy} /&gt;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SCHEDULING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shows staffing at a glance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463040"/>
            <a:ext cx="2636443" cy="17373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6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7"/>
          <p:cNvSpPr txBox="1"/>
          <p:nvPr/>
        </p:nvSpPr>
        <p:spPr>
          <a:xfrm>
            <a:off x="731520" y="214884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Staffed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31520" y="2560320"/>
            <a:ext cx="22706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spot on the shift is filled.</a:t>
            </a:r>
          </a:p>
        </p:txBody>
      </p:sp>
      <p:sp>
        <p:nvSpPr>
          <p:cNvPr id="9" name="Shape 9"/>
          <p:cNvSpPr/>
          <p:nvPr/>
        </p:nvSpPr>
        <p:spPr>
          <a:xfrm>
            <a:off x="3367963" y="1463040"/>
            <a:ext cx="2636443" cy="17373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10"/>
          <p:cNvSpPr/>
          <p:nvPr/>
        </p:nvSpPr>
        <p:spPr>
          <a:xfrm>
            <a:off x="3550843" y="1645920"/>
            <a:ext cx="365760" cy="36576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11"/>
          <p:cNvSpPr txBox="1"/>
          <p:nvPr/>
        </p:nvSpPr>
        <p:spPr>
          <a:xfrm>
            <a:off x="3550843" y="214884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Understaffed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550843" y="2560320"/>
            <a:ext cx="22706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spots are still open.</a:t>
            </a:r>
          </a:p>
        </p:txBody>
      </p:sp>
      <p:sp>
        <p:nvSpPr>
          <p:cNvPr id="13" name="Shape 13"/>
          <p:cNvSpPr/>
          <p:nvPr/>
        </p:nvSpPr>
        <p:spPr>
          <a:xfrm>
            <a:off x="6187286" y="1463040"/>
            <a:ext cx="2636443" cy="17373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4"/>
          <p:cNvSpPr/>
          <p:nvPr/>
        </p:nvSpPr>
        <p:spPr>
          <a:xfrm>
            <a:off x="6370166" y="1645920"/>
            <a:ext cx="365760" cy="365760"/>
          </a:xfrm>
          <a:prstGeom prst="ellipse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5"/>
          <p:cNvSpPr txBox="1"/>
          <p:nvPr/>
        </p:nvSpPr>
        <p:spPr>
          <a:xfrm>
            <a:off x="6370166" y="214884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370166" y="2560320"/>
            <a:ext cx="22706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urgent gaps. Fill these first.</a:t>
            </a:r>
          </a:p>
        </p:txBody>
      </p:sp>
      <p:sp>
        <p:nvSpPr>
          <p:cNvPr id="17" name="Shape 17"/>
          <p:cNvSpPr/>
          <p:nvPr/>
        </p:nvSpPr>
        <p:spPr>
          <a:xfrm>
            <a:off x="9006609" y="1463040"/>
            <a:ext cx="2636443" cy="17373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8"/>
          <p:cNvSpPr/>
          <p:nvPr/>
        </p:nvSpPr>
        <p:spPr>
          <a:xfrm>
            <a:off x="9189489" y="1645920"/>
            <a:ext cx="365760" cy="365760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9"/>
          <p:cNvSpPr txBox="1"/>
          <p:nvPr/>
        </p:nvSpPr>
        <p:spPr>
          <a:xfrm>
            <a:off x="9189489" y="214884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Capacity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189489" y="2560320"/>
            <a:ext cx="22706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volunteers are assigned than the shift needs.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48640" y="3474720"/>
            <a:ext cx="1109441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CALENDAR ON /SHIFTS  ·  ILLUSTRATIVE WEEK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3"/>
          <p:cNvSpPr txBox="1"/>
          <p:nvPr/>
        </p:nvSpPr>
        <p:spPr>
          <a:xfrm>
            <a:off x="668640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</a:p>
        </p:txBody>
      </p:sp>
      <p:sp>
        <p:nvSpPr>
          <p:cNvPr id="24" name="Shape 24"/>
          <p:cNvSpPr/>
          <p:nvPr/>
        </p:nvSpPr>
        <p:spPr>
          <a:xfrm>
            <a:off x="668640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5"/>
          <p:cNvSpPr txBox="1"/>
          <p:nvPr/>
        </p:nvSpPr>
        <p:spPr>
          <a:xfrm>
            <a:off x="668640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A</a:t>
            </a:r>
          </a:p>
        </p:txBody>
      </p:sp>
      <p:sp>
        <p:nvSpPr>
          <p:cNvPr id="26" name="Shape 26"/>
          <p:cNvSpPr/>
          <p:nvPr/>
        </p:nvSpPr>
        <p:spPr>
          <a:xfrm>
            <a:off x="2147709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7"/>
          <p:cNvSpPr txBox="1"/>
          <p:nvPr/>
        </p:nvSpPr>
        <p:spPr>
          <a:xfrm>
            <a:off x="2267709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</a:p>
        </p:txBody>
      </p:sp>
      <p:sp>
        <p:nvSpPr>
          <p:cNvPr id="28" name="Shape 28"/>
          <p:cNvSpPr/>
          <p:nvPr/>
        </p:nvSpPr>
        <p:spPr>
          <a:xfrm>
            <a:off x="2267709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9"/>
          <p:cNvSpPr txBox="1"/>
          <p:nvPr/>
        </p:nvSpPr>
        <p:spPr>
          <a:xfrm>
            <a:off x="2267709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B</a:t>
            </a:r>
          </a:p>
        </p:txBody>
      </p:sp>
      <p:sp>
        <p:nvSpPr>
          <p:cNvPr id="30" name="Shape 30"/>
          <p:cNvSpPr/>
          <p:nvPr/>
        </p:nvSpPr>
        <p:spPr>
          <a:xfrm>
            <a:off x="3746778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31"/>
          <p:cNvSpPr txBox="1"/>
          <p:nvPr/>
        </p:nvSpPr>
        <p:spPr>
          <a:xfrm>
            <a:off x="3866778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</a:p>
        </p:txBody>
      </p:sp>
      <p:sp>
        <p:nvSpPr>
          <p:cNvPr id="32" name="Shape 32"/>
          <p:cNvSpPr/>
          <p:nvPr/>
        </p:nvSpPr>
        <p:spPr>
          <a:xfrm>
            <a:off x="3866778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3"/>
          <p:cNvSpPr txBox="1"/>
          <p:nvPr/>
        </p:nvSpPr>
        <p:spPr>
          <a:xfrm>
            <a:off x="3866778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</a:p>
        </p:txBody>
      </p:sp>
      <p:sp>
        <p:nvSpPr>
          <p:cNvPr id="34" name="Shape 34"/>
          <p:cNvSpPr/>
          <p:nvPr/>
        </p:nvSpPr>
        <p:spPr>
          <a:xfrm>
            <a:off x="5345847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5"/>
          <p:cNvSpPr txBox="1"/>
          <p:nvPr/>
        </p:nvSpPr>
        <p:spPr>
          <a:xfrm>
            <a:off x="5465847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</a:p>
        </p:txBody>
      </p:sp>
      <p:sp>
        <p:nvSpPr>
          <p:cNvPr id="36" name="Shape 36"/>
          <p:cNvSpPr/>
          <p:nvPr/>
        </p:nvSpPr>
        <p:spPr>
          <a:xfrm>
            <a:off x="5465847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7"/>
          <p:cNvSpPr txBox="1"/>
          <p:nvPr/>
        </p:nvSpPr>
        <p:spPr>
          <a:xfrm>
            <a:off x="5465847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A</a:t>
            </a:r>
          </a:p>
        </p:txBody>
      </p:sp>
      <p:sp>
        <p:nvSpPr>
          <p:cNvPr id="38" name="Shape 38"/>
          <p:cNvSpPr/>
          <p:nvPr/>
        </p:nvSpPr>
        <p:spPr>
          <a:xfrm>
            <a:off x="6944916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9"/>
          <p:cNvSpPr txBox="1"/>
          <p:nvPr/>
        </p:nvSpPr>
        <p:spPr>
          <a:xfrm>
            <a:off x="7064916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</a:p>
        </p:txBody>
      </p:sp>
      <p:sp>
        <p:nvSpPr>
          <p:cNvPr id="40" name="Shape 40"/>
          <p:cNvSpPr/>
          <p:nvPr/>
        </p:nvSpPr>
        <p:spPr>
          <a:xfrm>
            <a:off x="7064916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41"/>
          <p:cNvSpPr txBox="1"/>
          <p:nvPr/>
        </p:nvSpPr>
        <p:spPr>
          <a:xfrm>
            <a:off x="7064916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</a:t>
            </a:r>
          </a:p>
        </p:txBody>
      </p:sp>
      <p:sp>
        <p:nvSpPr>
          <p:cNvPr id="42" name="Shape 42"/>
          <p:cNvSpPr/>
          <p:nvPr/>
        </p:nvSpPr>
        <p:spPr>
          <a:xfrm>
            <a:off x="8543985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3"/>
          <p:cNvSpPr txBox="1"/>
          <p:nvPr/>
        </p:nvSpPr>
        <p:spPr>
          <a:xfrm>
            <a:off x="8663985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</a:p>
        </p:txBody>
      </p:sp>
      <p:sp>
        <p:nvSpPr>
          <p:cNvPr id="44" name="Shape 44"/>
          <p:cNvSpPr/>
          <p:nvPr/>
        </p:nvSpPr>
        <p:spPr>
          <a:xfrm>
            <a:off x="8663985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5"/>
          <p:cNvSpPr txBox="1"/>
          <p:nvPr/>
        </p:nvSpPr>
        <p:spPr>
          <a:xfrm>
            <a:off x="8663985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C</a:t>
            </a:r>
          </a:p>
        </p:txBody>
      </p:sp>
      <p:sp>
        <p:nvSpPr>
          <p:cNvPr id="46" name="Shape 46"/>
          <p:cNvSpPr/>
          <p:nvPr/>
        </p:nvSpPr>
        <p:spPr>
          <a:xfrm>
            <a:off x="10143054" y="3840480"/>
            <a:ext cx="1500000" cy="12801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7"/>
          <p:cNvSpPr txBox="1"/>
          <p:nvPr/>
        </p:nvSpPr>
        <p:spPr>
          <a:xfrm>
            <a:off x="10263054" y="3931920"/>
            <a:ext cx="1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</a:p>
        </p:txBody>
      </p:sp>
      <p:sp>
        <p:nvSpPr>
          <p:cNvPr id="48" name="Shape 48"/>
          <p:cNvSpPr/>
          <p:nvPr/>
        </p:nvSpPr>
        <p:spPr>
          <a:xfrm>
            <a:off x="10263054" y="4343400"/>
            <a:ext cx="1260000" cy="380000"/>
          </a:xfrm>
          <a:prstGeom prst="roundRect">
            <a:avLst>
              <a:gd name="adj" fmla="val 3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9"/>
          <p:cNvSpPr txBox="1"/>
          <p:nvPr/>
        </p:nvSpPr>
        <p:spPr>
          <a:xfrm>
            <a:off x="10263054" y="4343400"/>
            <a:ext cx="12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B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48640" y="5394960"/>
            <a:ext cx="11094415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shift is coloured by comparing assigned volunteers with its capacity. Vacancies lists the same gaps as open spots, with a Notify Qualified button.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VOLUNTEERS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right people, hear back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3280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 txBox="1"/>
          <p:nvPr/>
        </p:nvSpPr>
        <p:spPr>
          <a:xfrm>
            <a:off x="338328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31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Qualified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on a vacancy.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95344" y="2286000"/>
            <a:ext cx="499720" cy="914"/>
          </a:xfrm>
          <a:prstGeom prst="line">
            <a:avLst/>
          </a:prstGeom>
          <a:noFill/>
          <a:ln w="2540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4449928" y="146304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4632808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8" y="1801368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84568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2"/>
          <p:cNvSpPr txBox="1"/>
          <p:nvPr/>
        </p:nvSpPr>
        <p:spPr>
          <a:xfrm>
            <a:off x="728456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32808" y="2331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open-vacancy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apiFetch, so errors and 401s are handled.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796632" y="2286000"/>
            <a:ext cx="499720" cy="914"/>
          </a:xfrm>
          <a:prstGeom prst="line">
            <a:avLst/>
          </a:prstGeom>
          <a:noFill/>
          <a:ln w="2540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8351215" y="146304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6"/>
          <p:cNvSpPr/>
          <p:nvPr/>
        </p:nvSpPr>
        <p:spPr>
          <a:xfrm>
            <a:off x="8534095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255" y="1801368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185855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18"/>
          <p:cNvSpPr txBox="1"/>
          <p:nvPr/>
        </p:nvSpPr>
        <p:spPr>
          <a:xfrm>
            <a:off x="11185855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534095" y="2331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banner for 4 seconds, or the backend's reason.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333756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1"/>
          <p:cNvSpPr txBox="1"/>
          <p:nvPr/>
        </p:nvSpPr>
        <p:spPr>
          <a:xfrm>
            <a:off x="713232" y="33375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notifyOpenVacancy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vacancy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shiftId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48640" y="4114800"/>
            <a:ext cx="5410048" cy="2057400"/>
          </a:xfrm>
          <a:prstGeom prst="roundRect">
            <a:avLst>
              <a:gd name="adj" fmla="val 4444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3"/>
          <p:cNvSpPr/>
          <p:nvPr/>
        </p:nvSpPr>
        <p:spPr>
          <a:xfrm>
            <a:off x="777240" y="4343400"/>
            <a:ext cx="594360" cy="59436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491990"/>
            <a:ext cx="297180" cy="2971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54480" y="4251960"/>
            <a:ext cx="4175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notification bell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SignalR connection receives "ReceiveNotification" pushes, so new alerts appear without refreshing.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233008" y="4114800"/>
            <a:ext cx="5410048" cy="2057400"/>
          </a:xfrm>
          <a:prstGeom prst="roundRect">
            <a:avLst>
              <a:gd name="adj" fmla="val 4444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26"/>
          <p:cNvSpPr/>
          <p:nvPr/>
        </p:nvSpPr>
        <p:spPr>
          <a:xfrm>
            <a:off x="6461608" y="4343400"/>
            <a:ext cx="594360" cy="59436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198" y="4491990"/>
            <a:ext cx="297180" cy="2971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38848" y="4251960"/>
            <a:ext cx="4175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attendance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attendance re-fetches the volunteer list, because hours and attendance rate are worked out by the backend.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create, edit and delete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463040"/>
            <a:ext cx="2636443" cy="274320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6"/>
          <p:cNvSpPr/>
          <p:nvPr/>
        </p:nvSpPr>
        <p:spPr>
          <a:xfrm>
            <a:off x="731520" y="1645920"/>
            <a:ext cx="868680" cy="320000"/>
          </a:xfrm>
          <a:prstGeom prst="roundRect">
            <a:avLst>
              <a:gd name="adj" fmla="val 3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7"/>
          <p:cNvSpPr txBox="1"/>
          <p:nvPr/>
        </p:nvSpPr>
        <p:spPr>
          <a:xfrm>
            <a:off x="731520" y="1645920"/>
            <a:ext cx="868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31520" y="210312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</a:p>
        </p:txBody>
      </p:sp>
      <p:sp>
        <p:nvSpPr>
          <p:cNvPr id="9" name="Shape 9"/>
          <p:cNvSpPr/>
          <p:nvPr/>
        </p:nvSpPr>
        <p:spPr>
          <a:xfrm>
            <a:off x="731520" y="2560320"/>
            <a:ext cx="2270683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10"/>
          <p:cNvSpPr txBox="1"/>
          <p:nvPr/>
        </p:nvSpPr>
        <p:spPr>
          <a:xfrm>
            <a:off x="808640" y="2560320"/>
            <a:ext cx="2116443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/api/trainers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31520" y="3063240"/>
            <a:ext cx="2270683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createTrainer()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31520" y="3429000"/>
            <a:ext cx="227068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first and last name. Returns the new trainer.</a:t>
            </a:r>
          </a:p>
        </p:txBody>
      </p:sp>
      <p:sp>
        <p:nvSpPr>
          <p:cNvPr id="13" name="Shape 13"/>
          <p:cNvSpPr/>
          <p:nvPr/>
        </p:nvSpPr>
        <p:spPr>
          <a:xfrm>
            <a:off x="3367963" y="1463040"/>
            <a:ext cx="2636443" cy="274320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4"/>
          <p:cNvSpPr/>
          <p:nvPr/>
        </p:nvSpPr>
        <p:spPr>
          <a:xfrm>
            <a:off x="3550843" y="1645920"/>
            <a:ext cx="868680" cy="320000"/>
          </a:xfrm>
          <a:prstGeom prst="roundRect">
            <a:avLst>
              <a:gd name="adj" fmla="val 30000"/>
            </a:avLst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5"/>
          <p:cNvSpPr txBox="1"/>
          <p:nvPr/>
        </p:nvSpPr>
        <p:spPr>
          <a:xfrm>
            <a:off x="3550843" y="1645920"/>
            <a:ext cx="868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550843" y="210312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</a:p>
        </p:txBody>
      </p:sp>
      <p:sp>
        <p:nvSpPr>
          <p:cNvPr id="17" name="Shape 17"/>
          <p:cNvSpPr/>
          <p:nvPr/>
        </p:nvSpPr>
        <p:spPr>
          <a:xfrm>
            <a:off x="3550843" y="2560320"/>
            <a:ext cx="2270683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8"/>
          <p:cNvSpPr txBox="1"/>
          <p:nvPr/>
        </p:nvSpPr>
        <p:spPr>
          <a:xfrm>
            <a:off x="3627963" y="2560320"/>
            <a:ext cx="2116443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/api/trainers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550843" y="3063240"/>
            <a:ext cx="2270683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fetchTrainers()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3550843" y="3429000"/>
            <a:ext cx="227068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trainer list for the page.</a:t>
            </a:r>
          </a:p>
        </p:txBody>
      </p:sp>
      <p:sp>
        <p:nvSpPr>
          <p:cNvPr id="21" name="Shape 21"/>
          <p:cNvSpPr/>
          <p:nvPr/>
        </p:nvSpPr>
        <p:spPr>
          <a:xfrm>
            <a:off x="6187286" y="1463040"/>
            <a:ext cx="2636443" cy="274320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2"/>
          <p:cNvSpPr/>
          <p:nvPr/>
        </p:nvSpPr>
        <p:spPr>
          <a:xfrm>
            <a:off x="6370166" y="1645920"/>
            <a:ext cx="868680" cy="320000"/>
          </a:xfrm>
          <a:prstGeom prst="roundRect">
            <a:avLst>
              <a:gd name="adj" fmla="val 3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3"/>
          <p:cNvSpPr txBox="1"/>
          <p:nvPr/>
        </p:nvSpPr>
        <p:spPr>
          <a:xfrm>
            <a:off x="6370166" y="1645920"/>
            <a:ext cx="868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370166" y="210312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</a:p>
        </p:txBody>
      </p:sp>
      <p:sp>
        <p:nvSpPr>
          <p:cNvPr id="25" name="Shape 25"/>
          <p:cNvSpPr/>
          <p:nvPr/>
        </p:nvSpPr>
        <p:spPr>
          <a:xfrm>
            <a:off x="6370166" y="2560320"/>
            <a:ext cx="2270683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6"/>
          <p:cNvSpPr txBox="1"/>
          <p:nvPr/>
        </p:nvSpPr>
        <p:spPr>
          <a:xfrm>
            <a:off x="6447286" y="2560320"/>
            <a:ext cx="2116443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/api/trainers/{trainerId}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370166" y="3063240"/>
            <a:ext cx="2270683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updateTrainer()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370166" y="3429000"/>
            <a:ext cx="227068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same two fields. Returns the updated trainer.</a:t>
            </a:r>
          </a:p>
        </p:txBody>
      </p:sp>
      <p:sp>
        <p:nvSpPr>
          <p:cNvPr id="29" name="Shape 29"/>
          <p:cNvSpPr/>
          <p:nvPr/>
        </p:nvSpPr>
        <p:spPr>
          <a:xfrm>
            <a:off x="9006609" y="1463040"/>
            <a:ext cx="2636443" cy="274320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30"/>
          <p:cNvSpPr/>
          <p:nvPr/>
        </p:nvSpPr>
        <p:spPr>
          <a:xfrm>
            <a:off x="9189489" y="1645920"/>
            <a:ext cx="868680" cy="320000"/>
          </a:xfrm>
          <a:prstGeom prst="roundRect">
            <a:avLst>
              <a:gd name="adj" fmla="val 3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31"/>
          <p:cNvSpPr txBox="1"/>
          <p:nvPr/>
        </p:nvSpPr>
        <p:spPr>
          <a:xfrm>
            <a:off x="9189489" y="1645920"/>
            <a:ext cx="868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9189489" y="2103120"/>
            <a:ext cx="2270683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</a:p>
        </p:txBody>
      </p:sp>
      <p:sp>
        <p:nvSpPr>
          <p:cNvPr id="33" name="Shape 33"/>
          <p:cNvSpPr/>
          <p:nvPr/>
        </p:nvSpPr>
        <p:spPr>
          <a:xfrm>
            <a:off x="9189489" y="2560320"/>
            <a:ext cx="2270683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4"/>
          <p:cNvSpPr txBox="1"/>
          <p:nvPr/>
        </p:nvSpPr>
        <p:spPr>
          <a:xfrm>
            <a:off x="9266609" y="2560320"/>
            <a:ext cx="2116443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/api/trainers/{trainerId}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9189489" y="3063240"/>
            <a:ext cx="2270683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deleteTrainer()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9189489" y="3429000"/>
            <a:ext cx="227068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trainer. Returns nothing.</a:t>
            </a:r>
          </a:p>
        </p:txBody>
      </p:sp>
      <p:sp>
        <p:nvSpPr>
          <p:cNvPr id="37" name="Shape 37"/>
          <p:cNvSpPr/>
          <p:nvPr/>
        </p:nvSpPr>
        <p:spPr>
          <a:xfrm>
            <a:off x="548640" y="4389120"/>
            <a:ext cx="5440527" cy="17373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8"/>
          <p:cNvSpPr txBox="1"/>
          <p:nvPr/>
        </p:nvSpPr>
        <p:spPr>
          <a:xfrm>
            <a:off x="731520" y="4539120"/>
            <a:ext cx="50747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shape for create and edit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731520" y="4929120"/>
            <a:ext cx="5074767" cy="55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calls take a first and last name, so the update type simply reuses the create type.</a:t>
            </a:r>
          </a:p>
        </p:txBody>
      </p:sp>
      <p:sp>
        <p:nvSpPr>
          <p:cNvPr id="40" name="Shape 40"/>
          <p:cNvSpPr/>
          <p:nvPr/>
        </p:nvSpPr>
        <p:spPr>
          <a:xfrm>
            <a:off x="731520" y="5556480"/>
            <a:ext cx="5074767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41"/>
          <p:cNvSpPr txBox="1"/>
          <p:nvPr/>
        </p:nvSpPr>
        <p:spPr>
          <a:xfrm>
            <a:off x="851520" y="5556480"/>
            <a:ext cx="4834767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UpdateTrainerRequest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CreateTrainerRequest</a:t>
            </a:r>
          </a:p>
        </p:txBody>
      </p:sp>
      <p:sp>
        <p:nvSpPr>
          <p:cNvPr id="42" name="Shape 42"/>
          <p:cNvSpPr/>
          <p:nvPr/>
        </p:nvSpPr>
        <p:spPr>
          <a:xfrm>
            <a:off x="6202527" y="4389120"/>
            <a:ext cx="5440527" cy="173736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3"/>
          <p:cNvSpPr txBox="1"/>
          <p:nvPr/>
        </p:nvSpPr>
        <p:spPr>
          <a:xfrm>
            <a:off x="6385407" y="4539120"/>
            <a:ext cx="50747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apiFetch like everything else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385407" y="4929120"/>
            <a:ext cx="5074767" cy="55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token, readable error messages and the 401 logout all come for free from the shared helper.</a:t>
            </a:r>
          </a:p>
        </p:txBody>
      </p:sp>
      <p:sp>
        <p:nvSpPr>
          <p:cNvPr id="45" name="Shape 45"/>
          <p:cNvSpPr/>
          <p:nvPr/>
        </p:nvSpPr>
        <p:spPr>
          <a:xfrm>
            <a:off x="6385407" y="5556480"/>
            <a:ext cx="5074767" cy="42000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6"/>
          <p:cNvSpPr txBox="1"/>
          <p:nvPr/>
        </p:nvSpPr>
        <p:spPr>
          <a:xfrm>
            <a:off x="6505407" y="5556480"/>
            <a:ext cx="4834767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apiFetch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&lt;Trainer&gt;(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"/api/trainers"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token, …)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tests, and none of them touch the real API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77240" y="1673352"/>
            <a:ext cx="457200" cy="54864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777240" y="18013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Testing Library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383280" y="1673352"/>
            <a:ext cx="457200" cy="54864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3383280" y="18013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651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__tests__/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5989320" y="1673352"/>
            <a:ext cx="457200" cy="54864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5989320" y="18013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651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errors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7589520" cy="2423160"/>
          </a:xfrm>
          <a:prstGeom prst="roundRect">
            <a:avLst>
              <a:gd name="adj" fmla="val 3774"/>
            </a:avLst>
          </a:prstGeom>
          <a:solidFill>
            <a:srgbClr val="1A3D63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00200" y="388620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 guard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starts with fetch replaced by a function that throws. A test that forgets to mock the network fails immediately.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" y="5257800"/>
            <a:ext cx="7132320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 txBox="1"/>
          <p:nvPr/>
        </p:nvSpPr>
        <p:spPr>
          <a:xfrm>
            <a:off x="941832" y="5257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"unmocked fetch"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412480" y="1417320"/>
            <a:ext cx="3230575" cy="146304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 txBox="1"/>
          <p:nvPr/>
        </p:nvSpPr>
        <p:spPr>
          <a:xfrm>
            <a:off x="8641080" y="1527048"/>
            <a:ext cx="277337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auth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http, authApi, AuthProvider, AdminLayout, LoginPage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412480" y="3063240"/>
            <a:ext cx="3230575" cy="146304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 txBox="1"/>
          <p:nvPr/>
        </p:nvSpPr>
        <p:spPr>
          <a:xfrm>
            <a:off x="8641080" y="3172968"/>
            <a:ext cx="277337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volunteersApi, shiftsRosterApi, reportsApi, userDisplay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412480" y="4709160"/>
            <a:ext cx="3230575" cy="146304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 txBox="1"/>
          <p:nvPr/>
        </p:nvSpPr>
        <p:spPr>
          <a:xfrm>
            <a:off x="8641080" y="4818888"/>
            <a:ext cx="277337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forms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VolunteersPage, ShiftsPage, ShiftFormModal, AttendanceModal, VacanciesList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3268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6"/>
          <p:cNvSpPr/>
          <p:nvPr/>
        </p:nvSpPr>
        <p:spPr>
          <a:xfrm>
            <a:off x="463600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9"/>
          <p:cNvSpPr/>
          <p:nvPr/>
        </p:nvSpPr>
        <p:spPr>
          <a:xfrm>
            <a:off x="833932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1"/>
          <p:cNvSpPr txBox="1"/>
          <p:nvPr/>
        </p:nvSpPr>
        <p:spPr>
          <a:xfrm>
            <a:off x="932688" y="24414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2077</Words>
  <Application>Microsoft Office PowerPoint</Application>
  <PresentationFormat>Widescreen</PresentationFormat>
  <Paragraphs>362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 the Hood: The Admin Dashboard</dc:title>
  <dc:subject>PptxGenJS Presentation</dc:subject>
  <dc:creator>PptxGenJS</dc:creator>
  <cp:lastModifiedBy>Lofentse Gopolang Keamogetswe Moagi</cp:lastModifiedBy>
  <cp:revision>3</cp:revision>
  <dcterms:created xsi:type="dcterms:W3CDTF">2026-10-03T07:44:48Z</dcterms:created>
  <dcterms:modified xsi:type="dcterms:W3CDTF">2026-10-04T20:55:48Z</dcterms:modified>
</cp:coreProperties>
</file>