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71" r:id="rId11"/>
    <p:sldId id="265" r:id="rId12"/>
    <p:sldId id="266" r:id="rId13"/>
    <p:sldId id="267" r:id="rId14"/>
    <p:sldId id="268" r:id="rId15"/>
    <p:sldId id="269" r:id="rId16"/>
    <p:sldId id="270" r:id="rId1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BD38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95" d="100"/>
          <a:sy n="95" d="100"/>
        </p:scale>
        <p:origin x="178" y="72"/>
      </p:cViewPr>
      <p:guideLst/>
    </p:cSldViewPr>
  </p:slideViewPr>
  <p:notesTextViewPr>
    <p:cViewPr>
      <p:scale>
        <a:sx n="3" d="2"/>
        <a:sy n="3" d="2"/>
      </p:scale>
      <p:origin x="0" y="-5"/>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704170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Shifts, rosters, notifications, attendance and training</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Controller -&gt; service -&gt; AppDbContext -&gt; PostgreSQL
- No repositories: cross-table rules in LINQ
- Workers, Expo push, TrainerAccess policy</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Reads for any signed-in user, writes Admin-only
- DTO validation: Required, MaxLength, Range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Supporting areas: manual
- Pen routines: ceil(birds / 30)
- Quarantine: always 1
- Note the 25 vs 30 mismatch with the web form</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Formula: capacity minus active bookings
- One query with a projection
- Only future shifts with room</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Monday, draft, each shift, try volunteers, stop when full
- Same rules as manual assignment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Nine checks in AssignVolunteerAsync
- Duplicates, overlap, availability, skills, limits, capacity, quarantine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Required skills minus signed-off skills = missing
- Anything missing blocks the placement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EA16AF-1DAE-7FB6-1FB7-EB1F0533F71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42F17DD-868D-E85F-9DE0-D56A8948146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F1F31BF-29BE-6299-478F-5F84CD66D574}"/>
              </a:ext>
            </a:extLst>
          </p:cNvPr>
          <p:cNvSpPr>
            <a:spLocks noGrp="1"/>
          </p:cNvSpPr>
          <p:nvPr>
            <p:ph type="body" idx="1"/>
          </p:nvPr>
        </p:nvSpPr>
        <p:spPr/>
        <p:txBody>
          <a:bodyPr/>
          <a:lstStyle/>
          <a:p>
            <a:r>
              <a:rPr lang="en-US" dirty="0"/>
              <a:t>- Required skills minus signed-off skills = missing
- Anything missing blocks the placement</a:t>
            </a:r>
          </a:p>
        </p:txBody>
      </p:sp>
      <p:sp>
        <p:nvSpPr>
          <p:cNvPr id="4" name="Slide Number Placeholder 3">
            <a:extLst>
              <a:ext uri="{FF2B5EF4-FFF2-40B4-BE49-F238E27FC236}">
                <a16:creationId xmlns:a16="http://schemas.microsoft.com/office/drawing/2014/main" id="{01087B61-BCF3-CB0F-75E2-B059595EF7DA}"/>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334793453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- 5 days, 4 in a row, 40 hours
- Quarantine: 1 volunteer, 3 days in a row</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Publish once
- In-app notification + Expo push for each volunteer</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Daily 18:00 shift reminders
- Saturday availability reminders
- New DI scope per run</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- 5 / 3 / 9 hours from the slot
- Upsert one row per assignment
- Admin-only marking</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Shared PIN -&gt; 4-hour trainer token -&gt; TrainerAccess policy
- Supporting Areas unlock Pen Routines and Seasonal</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 Id="rId9" Type="http://schemas.openxmlformats.org/officeDocument/2006/relationships/image" Target="../media/image12.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14.png"/><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2.png"/><Relationship Id="rId10" Type="http://schemas.openxmlformats.org/officeDocument/2006/relationships/image" Target="../media/image19.png"/><Relationship Id="rId4" Type="http://schemas.openxmlformats.org/officeDocument/2006/relationships/image" Target="../media/image10.png"/><Relationship Id="rId9"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4.png"/><Relationship Id="rId4" Type="http://schemas.openxmlformats.org/officeDocument/2006/relationships/image" Target="../media/image22.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22.png"/><Relationship Id="rId5" Type="http://schemas.openxmlformats.org/officeDocument/2006/relationships/image" Target="../media/image23.png"/><Relationship Id="rId4" Type="http://schemas.openxmlformats.org/officeDocument/2006/relationships/image" Target="../media/image12.png"/></Relationships>
</file>

<file path=ppt/slides/_rels/slide1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D33"/>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1695" cy="6858000"/>
          </a:xfrm>
          <a:prstGeom prst="rect">
            <a:avLst/>
          </a:prstGeom>
        </p:spPr>
      </p:pic>
      <p:sp>
        <p:nvSpPr>
          <p:cNvPr id="3" name="Text 0"/>
          <p:cNvSpPr txBox="1"/>
          <p:nvPr/>
        </p:nvSpPr>
        <p:spPr>
          <a:xfrm>
            <a:off x="731520" y="1417320"/>
            <a:ext cx="9144000" cy="320040"/>
          </a:xfrm>
          <a:prstGeom prst="rect">
            <a:avLst/>
          </a:prstGeom>
          <a:noFill/>
          <a:ln/>
        </p:spPr>
        <p:txBody>
          <a:bodyPr wrap="square" lIns="0" tIns="0" rIns="0" bIns="0" rtlCol="0" anchor="ctr"/>
          <a:lstStyle/>
          <a:p>
            <a:pPr marL="0" indent="0">
              <a:buNone/>
            </a:pPr>
            <a:r>
              <a:rPr lang="en-US" sz="1300" b="1" kern="0" spc="500" dirty="0">
                <a:solidFill>
                  <a:srgbClr val="5ED3C6"/>
                </a:solidFill>
                <a:latin typeface="Calibri" pitchFamily="34" charset="0"/>
                <a:ea typeface="Calibri" pitchFamily="34" charset="-122"/>
                <a:cs typeface="Calibri" pitchFamily="34" charset="-120"/>
              </a:rPr>
              <a:t>BACKEND  ·  SHIFTS, ROSTERS AND TRAINING</a:t>
            </a:r>
            <a:endParaRPr lang="en-US" sz="1300" dirty="0"/>
          </a:p>
        </p:txBody>
      </p:sp>
      <p:sp>
        <p:nvSpPr>
          <p:cNvPr id="4" name="Text 1"/>
          <p:cNvSpPr txBox="1"/>
          <p:nvPr/>
        </p:nvSpPr>
        <p:spPr>
          <a:xfrm>
            <a:off x="731520" y="1783080"/>
            <a:ext cx="9144000" cy="1097280"/>
          </a:xfrm>
          <a:prstGeom prst="rect">
            <a:avLst/>
          </a:prstGeom>
          <a:noFill/>
          <a:ln/>
        </p:spPr>
        <p:txBody>
          <a:bodyPr wrap="square" lIns="0" tIns="0" rIns="0" bIns="0" rtlCol="0" anchor="ctr"/>
          <a:lstStyle/>
          <a:p>
            <a:pPr marL="0" indent="0">
              <a:buNone/>
            </a:pPr>
            <a:r>
              <a:rPr lang="en-US" sz="6000" b="1" dirty="0">
                <a:solidFill>
                  <a:srgbClr val="FFFFFF"/>
                </a:solidFill>
                <a:latin typeface="Calibri" pitchFamily="34" charset="0"/>
                <a:ea typeface="Calibri" pitchFamily="34" charset="-122"/>
                <a:cs typeface="Calibri" pitchFamily="34" charset="-120"/>
              </a:rPr>
              <a:t>Under the Hood</a:t>
            </a:r>
            <a:endParaRPr lang="en-US" sz="6000" dirty="0"/>
          </a:p>
        </p:txBody>
      </p:sp>
      <p:sp>
        <p:nvSpPr>
          <p:cNvPr id="5" name="Text 2"/>
          <p:cNvSpPr txBox="1"/>
          <p:nvPr/>
        </p:nvSpPr>
        <p:spPr>
          <a:xfrm>
            <a:off x="731520" y="2926080"/>
            <a:ext cx="7863840" cy="822960"/>
          </a:xfrm>
          <a:prstGeom prst="rect">
            <a:avLst/>
          </a:prstGeom>
          <a:noFill/>
          <a:ln/>
        </p:spPr>
        <p:txBody>
          <a:bodyPr wrap="square" lIns="0" tIns="0" rIns="0" bIns="0" rtlCol="0" anchor="ctr"/>
          <a:lstStyle/>
          <a:p>
            <a:pPr marL="0" indent="0">
              <a:buNone/>
            </a:pPr>
            <a:r>
              <a:rPr lang="en-US" sz="2000" dirty="0">
                <a:solidFill>
                  <a:srgbClr val="E3ECF6"/>
                </a:solidFill>
                <a:latin typeface="Calibri" pitchFamily="34" charset="0"/>
                <a:ea typeface="Calibri" pitchFamily="34" charset="-122"/>
                <a:cs typeface="Calibri" pitchFamily="34" charset="-120"/>
              </a:rPr>
              <a:t>How the API schedules shifts, builds weekly rosters, tracks attendance and controls trainer access</a:t>
            </a:r>
            <a:endParaRPr lang="en-US" sz="2000" dirty="0"/>
          </a:p>
        </p:txBody>
      </p:sp>
      <p:sp>
        <p:nvSpPr>
          <p:cNvPr id="6" name="Text 3"/>
          <p:cNvSpPr txBox="1"/>
          <p:nvPr/>
        </p:nvSpPr>
        <p:spPr>
          <a:xfrm>
            <a:off x="731520" y="3840480"/>
            <a:ext cx="8229600" cy="365760"/>
          </a:xfrm>
          <a:prstGeom prst="rect">
            <a:avLst/>
          </a:prstGeom>
          <a:noFill/>
          <a:ln/>
        </p:spPr>
        <p:txBody>
          <a:bodyPr wrap="square" lIns="0" tIns="0" rIns="0" bIns="0" rtlCol="0" anchor="ctr"/>
          <a:lstStyle/>
          <a:p>
            <a:pPr marL="0" indent="0">
              <a:buNone/>
            </a:pPr>
            <a:r>
              <a:rPr lang="en-US" sz="1400" dirty="0">
                <a:solidFill>
                  <a:srgbClr val="93ACC6"/>
                </a:solidFill>
                <a:latin typeface="Courier New" pitchFamily="34" charset="0"/>
                <a:ea typeface="Courier New" pitchFamily="34" charset="-122"/>
                <a:cs typeface="Courier New" pitchFamily="34" charset="-120"/>
              </a:rPr>
              <a:t>ASP.NET Core 8  ·  EF Core 8  ·  PostgreSQL</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1D33"/>
        </a:solidFill>
        <a:effectLst/>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5ED3C6"/>
          </a:solidFill>
          <a:ln w="12700">
            <a:solidFill>
              <a:srgbClr val="5ED3C6"/>
            </a:solidFill>
            <a:prstDash val="solid"/>
          </a:ln>
        </p:spPr>
        <p:txBody>
          <a:bodyPr/>
          <a:lstStyle/>
          <a:p>
            <a:endParaRPr lang="en-ZA"/>
          </a:p>
        </p:txBody>
      </p:sp>
      <p:sp>
        <p:nvSpPr>
          <p:cNvPr id="3" name="Text 1"/>
          <p:cNvSpPr txBox="1"/>
          <p:nvPr/>
        </p:nvSpPr>
        <p:spPr>
          <a:xfrm>
            <a:off x="548640" y="384048"/>
            <a:ext cx="8229600" cy="274320"/>
          </a:xfrm>
          <a:prstGeom prst="rect">
            <a:avLst/>
          </a:prstGeom>
          <a:noFill/>
          <a:ln/>
        </p:spPr>
        <p:txBody>
          <a:bodyPr wrap="square" lIns="0" tIns="0" rIns="0" bIns="0" rtlCol="0" anchor="ctr"/>
          <a:lstStyle/>
          <a:p>
            <a:pPr marL="0" indent="0">
              <a:buNone/>
            </a:pPr>
            <a:r>
              <a:rPr lang="en-US" sz="1100" b="1" kern="0" spc="400" dirty="0">
                <a:solidFill>
                  <a:srgbClr val="5ED3C6"/>
                </a:solidFill>
                <a:latin typeface="Calibri" pitchFamily="34" charset="0"/>
                <a:ea typeface="Calibri" pitchFamily="34" charset="-122"/>
                <a:cs typeface="Calibri" pitchFamily="34" charset="-120"/>
              </a:rPr>
              <a:t>OVERVIEW</a:t>
            </a:r>
            <a:endParaRPr lang="en-US" sz="1100" dirty="0"/>
          </a:p>
        </p:txBody>
      </p:sp>
      <p:sp>
        <p:nvSpPr>
          <p:cNvPr id="4" name="Text 2"/>
          <p:cNvSpPr txBox="1"/>
          <p:nvPr/>
        </p:nvSpPr>
        <p:spPr>
          <a:xfrm>
            <a:off x="548640" y="658368"/>
            <a:ext cx="11094415" cy="566928"/>
          </a:xfrm>
          <a:prstGeom prst="rect">
            <a:avLst/>
          </a:prstGeom>
          <a:noFill/>
          <a:ln/>
        </p:spPr>
        <p:txBody>
          <a:bodyPr wrap="square" lIns="0" tIns="0" rIns="0" bIns="0"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What this part of the API does</a:t>
            </a:r>
            <a:endParaRPr lang="en-US" sz="3000" dirty="0"/>
          </a:p>
        </p:txBody>
      </p:sp>
      <p:sp>
        <p:nvSpPr>
          <p:cNvPr id="5" name="Shape 3"/>
          <p:cNvSpPr/>
          <p:nvPr/>
        </p:nvSpPr>
        <p:spPr>
          <a:xfrm>
            <a:off x="548640" y="1600200"/>
            <a:ext cx="2567864" cy="4206240"/>
          </a:xfrm>
          <a:prstGeom prst="roundRect">
            <a:avLst>
              <a:gd name="adj" fmla="val 3561"/>
            </a:avLst>
          </a:prstGeom>
          <a:solidFill>
            <a:srgbClr val="13304F"/>
          </a:solidFill>
          <a:ln w="12700">
            <a:solidFill>
              <a:srgbClr val="13304F"/>
            </a:solidFill>
            <a:prstDash val="solid"/>
          </a:ln>
        </p:spPr>
        <p:txBody>
          <a:bodyPr/>
          <a:lstStyle/>
          <a:p>
            <a:endParaRPr lang="en-ZA"/>
          </a:p>
        </p:txBody>
      </p:sp>
      <p:sp>
        <p:nvSpPr>
          <p:cNvPr id="6" name="Shape 4"/>
          <p:cNvSpPr/>
          <p:nvPr/>
        </p:nvSpPr>
        <p:spPr>
          <a:xfrm>
            <a:off x="548640" y="1600200"/>
            <a:ext cx="2567864" cy="91440"/>
          </a:xfrm>
          <a:prstGeom prst="rect">
            <a:avLst/>
          </a:prstGeom>
          <a:solidFill>
            <a:srgbClr val="5ED3C6"/>
          </a:solidFill>
          <a:ln w="12700">
            <a:solidFill>
              <a:srgbClr val="5ED3C6"/>
            </a:solidFill>
            <a:prstDash val="solid"/>
          </a:ln>
        </p:spPr>
        <p:txBody>
          <a:bodyPr/>
          <a:lstStyle/>
          <a:p>
            <a:endParaRPr lang="en-ZA"/>
          </a:p>
        </p:txBody>
      </p:sp>
      <p:sp>
        <p:nvSpPr>
          <p:cNvPr id="7" name="Text 5"/>
          <p:cNvSpPr txBox="1"/>
          <p:nvPr/>
        </p:nvSpPr>
        <p:spPr>
          <a:xfrm>
            <a:off x="822960" y="1920240"/>
            <a:ext cx="1371600" cy="731520"/>
          </a:xfrm>
          <a:prstGeom prst="rect">
            <a:avLst/>
          </a:prstGeom>
          <a:noFill/>
          <a:ln/>
        </p:spPr>
        <p:txBody>
          <a:bodyPr wrap="square" lIns="0" tIns="0" rIns="0" bIns="0" rtlCol="0" anchor="t"/>
          <a:lstStyle/>
          <a:p>
            <a:pPr marL="0" indent="0" algn="l">
              <a:spcAft>
                <a:spcPts val="300"/>
              </a:spcAft>
              <a:buNone/>
            </a:pPr>
            <a:r>
              <a:rPr lang="en-US" sz="4000" b="1" dirty="0">
                <a:solidFill>
                  <a:srgbClr val="5ED3C6"/>
                </a:solidFill>
                <a:latin typeface="Calibri" pitchFamily="34" charset="0"/>
                <a:ea typeface="Calibri" pitchFamily="34" charset="-122"/>
                <a:cs typeface="Calibri" pitchFamily="34" charset="-120"/>
              </a:rPr>
              <a:t>01</a:t>
            </a:r>
            <a:endParaRPr lang="en-US" sz="4000" dirty="0"/>
          </a:p>
        </p:txBody>
      </p:sp>
      <p:sp>
        <p:nvSpPr>
          <p:cNvPr id="8" name="Shape 6"/>
          <p:cNvSpPr/>
          <p:nvPr/>
        </p:nvSpPr>
        <p:spPr>
          <a:xfrm>
            <a:off x="2156384" y="1965960"/>
            <a:ext cx="685800" cy="685800"/>
          </a:xfrm>
          <a:prstGeom prst="ellipse">
            <a:avLst/>
          </a:prstGeom>
          <a:solidFill>
            <a:srgbClr val="0B1D33"/>
          </a:solidFill>
          <a:ln w="12700">
            <a:solidFill>
              <a:srgbClr val="0B1D33"/>
            </a:solidFill>
            <a:prstDash val="solid"/>
          </a:ln>
        </p:spPr>
        <p:txBody>
          <a:bodyPr/>
          <a:lstStyle/>
          <a:p>
            <a:endParaRPr lang="en-ZA"/>
          </a:p>
        </p:txBody>
      </p:sp>
      <p:pic>
        <p:nvPicPr>
          <p:cNvPr id="9" name="Image 0" descr="preencoded.png"/>
          <p:cNvPicPr>
            <a:picLocks noChangeAspect="1"/>
          </p:cNvPicPr>
          <p:nvPr/>
        </p:nvPicPr>
        <p:blipFill>
          <a:blip r:embed="rId3"/>
          <a:stretch>
            <a:fillRect/>
          </a:stretch>
        </p:blipFill>
        <p:spPr>
          <a:xfrm>
            <a:off x="2327834" y="2137410"/>
            <a:ext cx="342900" cy="342900"/>
          </a:xfrm>
          <a:prstGeom prst="rect">
            <a:avLst/>
          </a:prstGeom>
        </p:spPr>
      </p:pic>
      <p:sp>
        <p:nvSpPr>
          <p:cNvPr id="10" name="Text 7"/>
          <p:cNvSpPr txBox="1"/>
          <p:nvPr/>
        </p:nvSpPr>
        <p:spPr>
          <a:xfrm>
            <a:off x="822960" y="2926080"/>
            <a:ext cx="2064944" cy="2743200"/>
          </a:xfrm>
          <a:prstGeom prst="rect">
            <a:avLst/>
          </a:prstGeom>
          <a:noFill/>
          <a:ln/>
        </p:spPr>
        <p:txBody>
          <a:bodyPr wrap="square" lIns="0" tIns="0" rIns="0" bIns="0" rtlCol="0" anchor="t"/>
          <a:lstStyle/>
          <a:p>
            <a:pPr marL="0" indent="0" algn="l">
              <a:spcAft>
                <a:spcPts val="800"/>
              </a:spcAft>
              <a:buNone/>
            </a:pPr>
            <a:r>
              <a:rPr lang="en-US" sz="1900" b="1" dirty="0">
                <a:solidFill>
                  <a:srgbClr val="FFFFFF"/>
                </a:solidFill>
                <a:latin typeface="Calibri" pitchFamily="34" charset="0"/>
                <a:ea typeface="Calibri" pitchFamily="34" charset="-122"/>
                <a:cs typeface="Calibri" pitchFamily="34" charset="-120"/>
              </a:rPr>
              <a:t>Shifts and capacity</a:t>
            </a:r>
            <a:endParaRPr lang="en-US" sz="1300" dirty="0"/>
          </a:p>
          <a:p>
            <a:pPr marL="0" indent="0" algn="l">
              <a:spcAft>
                <a:spcPts val="800"/>
              </a:spcAft>
              <a:buNone/>
            </a:pPr>
            <a:r>
              <a:rPr lang="en-US" sz="1350" dirty="0">
                <a:solidFill>
                  <a:srgbClr val="93ACC6"/>
                </a:solidFill>
                <a:latin typeface="Calibri" pitchFamily="34" charset="0"/>
                <a:ea typeface="Calibri" pitchFamily="34" charset="-122"/>
                <a:cs typeface="Calibri" pitchFamily="34" charset="-120"/>
              </a:rPr>
              <a:t>Creating shifts and working out how many volunteers each one needs.</a:t>
            </a:r>
            <a:endParaRPr lang="en-US" sz="1300" dirty="0"/>
          </a:p>
        </p:txBody>
      </p:sp>
      <p:sp>
        <p:nvSpPr>
          <p:cNvPr id="11" name="Shape 8"/>
          <p:cNvSpPr/>
          <p:nvPr/>
        </p:nvSpPr>
        <p:spPr>
          <a:xfrm>
            <a:off x="3390824" y="1600200"/>
            <a:ext cx="2567864" cy="4206240"/>
          </a:xfrm>
          <a:prstGeom prst="roundRect">
            <a:avLst>
              <a:gd name="adj" fmla="val 3561"/>
            </a:avLst>
          </a:prstGeom>
          <a:solidFill>
            <a:srgbClr val="13304F"/>
          </a:solidFill>
          <a:ln w="12700">
            <a:solidFill>
              <a:srgbClr val="13304F"/>
            </a:solidFill>
            <a:prstDash val="solid"/>
          </a:ln>
        </p:spPr>
        <p:txBody>
          <a:bodyPr/>
          <a:lstStyle/>
          <a:p>
            <a:endParaRPr lang="en-ZA"/>
          </a:p>
        </p:txBody>
      </p:sp>
      <p:sp>
        <p:nvSpPr>
          <p:cNvPr id="12" name="Shape 9"/>
          <p:cNvSpPr/>
          <p:nvPr/>
        </p:nvSpPr>
        <p:spPr>
          <a:xfrm>
            <a:off x="3390824" y="1600200"/>
            <a:ext cx="2567864" cy="91440"/>
          </a:xfrm>
          <a:prstGeom prst="rect">
            <a:avLst/>
          </a:prstGeom>
          <a:solidFill>
            <a:srgbClr val="F6AE2D"/>
          </a:solidFill>
          <a:ln w="12700">
            <a:solidFill>
              <a:srgbClr val="F6AE2D"/>
            </a:solidFill>
            <a:prstDash val="solid"/>
          </a:ln>
        </p:spPr>
        <p:txBody>
          <a:bodyPr/>
          <a:lstStyle/>
          <a:p>
            <a:endParaRPr lang="en-ZA"/>
          </a:p>
        </p:txBody>
      </p:sp>
      <p:sp>
        <p:nvSpPr>
          <p:cNvPr id="13" name="Text 10"/>
          <p:cNvSpPr txBox="1"/>
          <p:nvPr/>
        </p:nvSpPr>
        <p:spPr>
          <a:xfrm>
            <a:off x="3665144" y="1920240"/>
            <a:ext cx="1371600" cy="731520"/>
          </a:xfrm>
          <a:prstGeom prst="rect">
            <a:avLst/>
          </a:prstGeom>
          <a:noFill/>
          <a:ln/>
        </p:spPr>
        <p:txBody>
          <a:bodyPr wrap="square" lIns="0" tIns="0" rIns="0" bIns="0" rtlCol="0" anchor="t"/>
          <a:lstStyle/>
          <a:p>
            <a:pPr marL="0" indent="0" algn="l">
              <a:spcAft>
                <a:spcPts val="300"/>
              </a:spcAft>
              <a:buNone/>
            </a:pPr>
            <a:r>
              <a:rPr lang="en-US" sz="4000" b="1" dirty="0">
                <a:solidFill>
                  <a:srgbClr val="F6AE2D"/>
                </a:solidFill>
                <a:latin typeface="Calibri" pitchFamily="34" charset="0"/>
                <a:ea typeface="Calibri" pitchFamily="34" charset="-122"/>
                <a:cs typeface="Calibri" pitchFamily="34" charset="-120"/>
              </a:rPr>
              <a:t>02</a:t>
            </a:r>
            <a:endParaRPr lang="en-US" sz="4000" dirty="0"/>
          </a:p>
        </p:txBody>
      </p:sp>
      <p:sp>
        <p:nvSpPr>
          <p:cNvPr id="14" name="Shape 11"/>
          <p:cNvSpPr/>
          <p:nvPr/>
        </p:nvSpPr>
        <p:spPr>
          <a:xfrm>
            <a:off x="4998568" y="1965960"/>
            <a:ext cx="685800" cy="685800"/>
          </a:xfrm>
          <a:prstGeom prst="ellipse">
            <a:avLst/>
          </a:prstGeom>
          <a:solidFill>
            <a:srgbClr val="0B1D33"/>
          </a:solidFill>
          <a:ln w="12700">
            <a:solidFill>
              <a:srgbClr val="0B1D33"/>
            </a:solidFill>
            <a:prstDash val="solid"/>
          </a:ln>
        </p:spPr>
        <p:txBody>
          <a:bodyPr/>
          <a:lstStyle/>
          <a:p>
            <a:endParaRPr lang="en-ZA"/>
          </a:p>
        </p:txBody>
      </p:sp>
      <p:pic>
        <p:nvPicPr>
          <p:cNvPr id="15" name="Image 1" descr="preencoded.png"/>
          <p:cNvPicPr>
            <a:picLocks noChangeAspect="1"/>
          </p:cNvPicPr>
          <p:nvPr/>
        </p:nvPicPr>
        <p:blipFill>
          <a:blip r:embed="rId4"/>
          <a:stretch>
            <a:fillRect/>
          </a:stretch>
        </p:blipFill>
        <p:spPr>
          <a:xfrm>
            <a:off x="5170018" y="2137410"/>
            <a:ext cx="342900" cy="342900"/>
          </a:xfrm>
          <a:prstGeom prst="rect">
            <a:avLst/>
          </a:prstGeom>
        </p:spPr>
      </p:pic>
      <p:sp>
        <p:nvSpPr>
          <p:cNvPr id="16" name="Text 12"/>
          <p:cNvSpPr txBox="1"/>
          <p:nvPr/>
        </p:nvSpPr>
        <p:spPr>
          <a:xfrm>
            <a:off x="3665144" y="2926080"/>
            <a:ext cx="2064944" cy="2743200"/>
          </a:xfrm>
          <a:prstGeom prst="rect">
            <a:avLst/>
          </a:prstGeom>
          <a:noFill/>
          <a:ln/>
        </p:spPr>
        <p:txBody>
          <a:bodyPr wrap="square" lIns="0" tIns="0" rIns="0" bIns="0" rtlCol="0" anchor="t"/>
          <a:lstStyle/>
          <a:p>
            <a:pPr marL="0" indent="0" algn="l">
              <a:spcAft>
                <a:spcPts val="800"/>
              </a:spcAft>
              <a:buNone/>
            </a:pPr>
            <a:r>
              <a:rPr lang="en-US" sz="1900" b="1" dirty="0">
                <a:solidFill>
                  <a:srgbClr val="FFFFFF"/>
                </a:solidFill>
                <a:latin typeface="Calibri" pitchFamily="34" charset="0"/>
                <a:ea typeface="Calibri" pitchFamily="34" charset="-122"/>
                <a:cs typeface="Calibri" pitchFamily="34" charset="-120"/>
              </a:rPr>
              <a:t>Rosters</a:t>
            </a:r>
            <a:endParaRPr lang="en-US" sz="1300" dirty="0"/>
          </a:p>
          <a:p>
            <a:pPr marL="0" indent="0" algn="l">
              <a:spcAft>
                <a:spcPts val="800"/>
              </a:spcAft>
              <a:buNone/>
            </a:pPr>
            <a:r>
              <a:rPr lang="en-US" sz="1350" dirty="0">
                <a:solidFill>
                  <a:srgbClr val="93ACC6"/>
                </a:solidFill>
                <a:latin typeface="Calibri" pitchFamily="34" charset="0"/>
                <a:ea typeface="Calibri" pitchFamily="34" charset="-122"/>
                <a:cs typeface="Calibri" pitchFamily="34" charset="-120"/>
              </a:rPr>
              <a:t>Generating a week's roster, and the rules every placement must pass.</a:t>
            </a:r>
            <a:endParaRPr lang="en-US" sz="1300" dirty="0"/>
          </a:p>
        </p:txBody>
      </p:sp>
      <p:sp>
        <p:nvSpPr>
          <p:cNvPr id="17" name="Shape 13"/>
          <p:cNvSpPr/>
          <p:nvPr/>
        </p:nvSpPr>
        <p:spPr>
          <a:xfrm>
            <a:off x="6233008" y="1600200"/>
            <a:ext cx="2567864" cy="4206240"/>
          </a:xfrm>
          <a:prstGeom prst="roundRect">
            <a:avLst>
              <a:gd name="adj" fmla="val 3561"/>
            </a:avLst>
          </a:prstGeom>
          <a:solidFill>
            <a:srgbClr val="13304F"/>
          </a:solidFill>
          <a:ln w="12700">
            <a:solidFill>
              <a:srgbClr val="13304F"/>
            </a:solidFill>
            <a:prstDash val="solid"/>
          </a:ln>
        </p:spPr>
        <p:txBody>
          <a:bodyPr/>
          <a:lstStyle/>
          <a:p>
            <a:endParaRPr lang="en-ZA"/>
          </a:p>
        </p:txBody>
      </p:sp>
      <p:sp>
        <p:nvSpPr>
          <p:cNvPr id="18" name="Shape 14"/>
          <p:cNvSpPr/>
          <p:nvPr/>
        </p:nvSpPr>
        <p:spPr>
          <a:xfrm>
            <a:off x="6233008" y="1600200"/>
            <a:ext cx="2567864" cy="91440"/>
          </a:xfrm>
          <a:prstGeom prst="rect">
            <a:avLst/>
          </a:prstGeom>
          <a:solidFill>
            <a:srgbClr val="F07167"/>
          </a:solidFill>
          <a:ln w="12700">
            <a:solidFill>
              <a:srgbClr val="F07167"/>
            </a:solidFill>
            <a:prstDash val="solid"/>
          </a:ln>
        </p:spPr>
        <p:txBody>
          <a:bodyPr/>
          <a:lstStyle/>
          <a:p>
            <a:endParaRPr lang="en-ZA"/>
          </a:p>
        </p:txBody>
      </p:sp>
      <p:sp>
        <p:nvSpPr>
          <p:cNvPr id="19" name="Text 15"/>
          <p:cNvSpPr txBox="1"/>
          <p:nvPr/>
        </p:nvSpPr>
        <p:spPr>
          <a:xfrm>
            <a:off x="6507328" y="1920240"/>
            <a:ext cx="1371600" cy="731520"/>
          </a:xfrm>
          <a:prstGeom prst="rect">
            <a:avLst/>
          </a:prstGeom>
          <a:noFill/>
          <a:ln/>
        </p:spPr>
        <p:txBody>
          <a:bodyPr wrap="square" lIns="0" tIns="0" rIns="0" bIns="0" rtlCol="0" anchor="t"/>
          <a:lstStyle/>
          <a:p>
            <a:pPr marL="0" indent="0" algn="l">
              <a:spcAft>
                <a:spcPts val="300"/>
              </a:spcAft>
              <a:buNone/>
            </a:pPr>
            <a:r>
              <a:rPr lang="en-US" sz="4000" b="1" dirty="0">
                <a:solidFill>
                  <a:srgbClr val="F07167"/>
                </a:solidFill>
                <a:latin typeface="Calibri" pitchFamily="34" charset="0"/>
                <a:ea typeface="Calibri" pitchFamily="34" charset="-122"/>
                <a:cs typeface="Calibri" pitchFamily="34" charset="-120"/>
              </a:rPr>
              <a:t>03</a:t>
            </a:r>
            <a:endParaRPr lang="en-US" sz="4000" dirty="0"/>
          </a:p>
        </p:txBody>
      </p:sp>
      <p:sp>
        <p:nvSpPr>
          <p:cNvPr id="20" name="Shape 16"/>
          <p:cNvSpPr/>
          <p:nvPr/>
        </p:nvSpPr>
        <p:spPr>
          <a:xfrm>
            <a:off x="7840751" y="1965960"/>
            <a:ext cx="685800" cy="685800"/>
          </a:xfrm>
          <a:prstGeom prst="ellipse">
            <a:avLst/>
          </a:prstGeom>
          <a:solidFill>
            <a:srgbClr val="0B1D33"/>
          </a:solidFill>
          <a:ln w="12700">
            <a:solidFill>
              <a:srgbClr val="0B1D33"/>
            </a:solidFill>
            <a:prstDash val="solid"/>
          </a:ln>
        </p:spPr>
        <p:txBody>
          <a:bodyPr/>
          <a:lstStyle/>
          <a:p>
            <a:endParaRPr lang="en-ZA"/>
          </a:p>
        </p:txBody>
      </p:sp>
      <p:pic>
        <p:nvPicPr>
          <p:cNvPr id="21" name="Image 2" descr="preencoded.png"/>
          <p:cNvPicPr>
            <a:picLocks noChangeAspect="1"/>
          </p:cNvPicPr>
          <p:nvPr/>
        </p:nvPicPr>
        <p:blipFill>
          <a:blip r:embed="rId5"/>
          <a:stretch>
            <a:fillRect/>
          </a:stretch>
        </p:blipFill>
        <p:spPr>
          <a:xfrm>
            <a:off x="8012201" y="2137410"/>
            <a:ext cx="342900" cy="342900"/>
          </a:xfrm>
          <a:prstGeom prst="rect">
            <a:avLst/>
          </a:prstGeom>
        </p:spPr>
      </p:pic>
      <p:sp>
        <p:nvSpPr>
          <p:cNvPr id="22" name="Text 17"/>
          <p:cNvSpPr txBox="1"/>
          <p:nvPr/>
        </p:nvSpPr>
        <p:spPr>
          <a:xfrm>
            <a:off x="6507328" y="2926080"/>
            <a:ext cx="2064944" cy="2743200"/>
          </a:xfrm>
          <a:prstGeom prst="rect">
            <a:avLst/>
          </a:prstGeom>
          <a:noFill/>
          <a:ln/>
        </p:spPr>
        <p:txBody>
          <a:bodyPr wrap="square" lIns="0" tIns="0" rIns="0" bIns="0" rtlCol="0" anchor="t"/>
          <a:lstStyle/>
          <a:p>
            <a:pPr marL="0" indent="0" algn="l">
              <a:spcAft>
                <a:spcPts val="800"/>
              </a:spcAft>
              <a:buNone/>
            </a:pPr>
            <a:r>
              <a:rPr lang="en-US" sz="1900" b="1" dirty="0">
                <a:solidFill>
                  <a:srgbClr val="FFFFFF"/>
                </a:solidFill>
                <a:latin typeface="Calibri" pitchFamily="34" charset="0"/>
                <a:ea typeface="Calibri" pitchFamily="34" charset="-122"/>
                <a:cs typeface="Calibri" pitchFamily="34" charset="-120"/>
              </a:rPr>
              <a:t>Notifications</a:t>
            </a:r>
            <a:endParaRPr lang="en-US" sz="1300" dirty="0"/>
          </a:p>
          <a:p>
            <a:pPr marL="0" indent="0" algn="l">
              <a:spcAft>
                <a:spcPts val="800"/>
              </a:spcAft>
              <a:buNone/>
            </a:pPr>
            <a:r>
              <a:rPr lang="en-US" sz="1350" dirty="0">
                <a:solidFill>
                  <a:srgbClr val="93ACC6"/>
                </a:solidFill>
                <a:latin typeface="Calibri" pitchFamily="34" charset="0"/>
                <a:ea typeface="Calibri" pitchFamily="34" charset="-122"/>
                <a:cs typeface="Calibri" pitchFamily="34" charset="-120"/>
              </a:rPr>
              <a:t>Publishing rosters, push notifications and evening reminders.</a:t>
            </a:r>
            <a:endParaRPr lang="en-US" sz="1300" dirty="0"/>
          </a:p>
        </p:txBody>
      </p:sp>
      <p:sp>
        <p:nvSpPr>
          <p:cNvPr id="23" name="Shape 18"/>
          <p:cNvSpPr/>
          <p:nvPr/>
        </p:nvSpPr>
        <p:spPr>
          <a:xfrm>
            <a:off x="9075191" y="1600200"/>
            <a:ext cx="2567864" cy="4206240"/>
          </a:xfrm>
          <a:prstGeom prst="roundRect">
            <a:avLst>
              <a:gd name="adj" fmla="val 3561"/>
            </a:avLst>
          </a:prstGeom>
          <a:solidFill>
            <a:srgbClr val="13304F"/>
          </a:solidFill>
          <a:ln w="12700">
            <a:solidFill>
              <a:srgbClr val="13304F"/>
            </a:solidFill>
            <a:prstDash val="solid"/>
          </a:ln>
        </p:spPr>
        <p:txBody>
          <a:bodyPr/>
          <a:lstStyle/>
          <a:p>
            <a:endParaRPr lang="en-ZA"/>
          </a:p>
        </p:txBody>
      </p:sp>
      <p:sp>
        <p:nvSpPr>
          <p:cNvPr id="24" name="Shape 19"/>
          <p:cNvSpPr/>
          <p:nvPr/>
        </p:nvSpPr>
        <p:spPr>
          <a:xfrm>
            <a:off x="9075191" y="1600200"/>
            <a:ext cx="2567864" cy="91440"/>
          </a:xfrm>
          <a:prstGeom prst="rect">
            <a:avLst/>
          </a:prstGeom>
          <a:solidFill>
            <a:srgbClr val="B39DDB"/>
          </a:solidFill>
          <a:ln w="12700">
            <a:solidFill>
              <a:srgbClr val="B39DDB"/>
            </a:solidFill>
            <a:prstDash val="solid"/>
          </a:ln>
        </p:spPr>
        <p:txBody>
          <a:bodyPr/>
          <a:lstStyle/>
          <a:p>
            <a:endParaRPr lang="en-ZA"/>
          </a:p>
        </p:txBody>
      </p:sp>
      <p:sp>
        <p:nvSpPr>
          <p:cNvPr id="25" name="Text 20"/>
          <p:cNvSpPr txBox="1"/>
          <p:nvPr/>
        </p:nvSpPr>
        <p:spPr>
          <a:xfrm>
            <a:off x="9349511" y="1920240"/>
            <a:ext cx="1371600" cy="731520"/>
          </a:xfrm>
          <a:prstGeom prst="rect">
            <a:avLst/>
          </a:prstGeom>
          <a:noFill/>
          <a:ln/>
        </p:spPr>
        <p:txBody>
          <a:bodyPr wrap="square" lIns="0" tIns="0" rIns="0" bIns="0" rtlCol="0" anchor="t"/>
          <a:lstStyle/>
          <a:p>
            <a:pPr marL="0" indent="0" algn="l">
              <a:spcAft>
                <a:spcPts val="300"/>
              </a:spcAft>
              <a:buNone/>
            </a:pPr>
            <a:r>
              <a:rPr lang="en-US" sz="4000" b="1" dirty="0">
                <a:solidFill>
                  <a:srgbClr val="B39DDB"/>
                </a:solidFill>
                <a:latin typeface="Calibri" pitchFamily="34" charset="0"/>
                <a:ea typeface="Calibri" pitchFamily="34" charset="-122"/>
                <a:cs typeface="Calibri" pitchFamily="34" charset="-120"/>
              </a:rPr>
              <a:t>04</a:t>
            </a:r>
            <a:endParaRPr lang="en-US" sz="4000" dirty="0"/>
          </a:p>
        </p:txBody>
      </p:sp>
      <p:sp>
        <p:nvSpPr>
          <p:cNvPr id="26" name="Shape 21"/>
          <p:cNvSpPr/>
          <p:nvPr/>
        </p:nvSpPr>
        <p:spPr>
          <a:xfrm>
            <a:off x="10682935" y="1965960"/>
            <a:ext cx="685800" cy="685800"/>
          </a:xfrm>
          <a:prstGeom prst="ellipse">
            <a:avLst/>
          </a:prstGeom>
          <a:solidFill>
            <a:srgbClr val="0B1D33"/>
          </a:solidFill>
          <a:ln w="12700">
            <a:solidFill>
              <a:srgbClr val="0B1D33"/>
            </a:solidFill>
            <a:prstDash val="solid"/>
          </a:ln>
        </p:spPr>
        <p:txBody>
          <a:bodyPr/>
          <a:lstStyle/>
          <a:p>
            <a:endParaRPr lang="en-ZA"/>
          </a:p>
        </p:txBody>
      </p:sp>
      <p:pic>
        <p:nvPicPr>
          <p:cNvPr id="27" name="Image 3" descr="preencoded.png"/>
          <p:cNvPicPr>
            <a:picLocks noChangeAspect="1"/>
          </p:cNvPicPr>
          <p:nvPr/>
        </p:nvPicPr>
        <p:blipFill>
          <a:blip r:embed="rId6"/>
          <a:stretch>
            <a:fillRect/>
          </a:stretch>
        </p:blipFill>
        <p:spPr>
          <a:xfrm>
            <a:off x="10854385" y="2137410"/>
            <a:ext cx="342900" cy="342900"/>
          </a:xfrm>
          <a:prstGeom prst="rect">
            <a:avLst/>
          </a:prstGeom>
        </p:spPr>
      </p:pic>
      <p:sp>
        <p:nvSpPr>
          <p:cNvPr id="28" name="Text 22"/>
          <p:cNvSpPr txBox="1"/>
          <p:nvPr/>
        </p:nvSpPr>
        <p:spPr>
          <a:xfrm>
            <a:off x="9349511" y="2926080"/>
            <a:ext cx="2064944" cy="2743200"/>
          </a:xfrm>
          <a:prstGeom prst="rect">
            <a:avLst/>
          </a:prstGeom>
          <a:noFill/>
          <a:ln/>
        </p:spPr>
        <p:txBody>
          <a:bodyPr wrap="square" lIns="0" tIns="0" rIns="0" bIns="0" rtlCol="0" anchor="t"/>
          <a:lstStyle/>
          <a:p>
            <a:pPr marL="0" indent="0" algn="l">
              <a:spcAft>
                <a:spcPts val="800"/>
              </a:spcAft>
              <a:buNone/>
            </a:pPr>
            <a:r>
              <a:rPr lang="en-US" sz="1900" b="1" dirty="0">
                <a:solidFill>
                  <a:srgbClr val="FFFFFF"/>
                </a:solidFill>
                <a:latin typeface="Calibri" pitchFamily="34" charset="0"/>
                <a:ea typeface="Calibri" pitchFamily="34" charset="-122"/>
                <a:cs typeface="Calibri" pitchFamily="34" charset="-120"/>
              </a:rPr>
              <a:t>Attendance and training</a:t>
            </a:r>
            <a:endParaRPr lang="en-US" sz="1300" dirty="0"/>
          </a:p>
          <a:p>
            <a:pPr marL="0" indent="0" algn="l">
              <a:spcAft>
                <a:spcPts val="800"/>
              </a:spcAft>
              <a:buNone/>
            </a:pPr>
            <a:r>
              <a:rPr lang="en-US" sz="1350" dirty="0">
                <a:solidFill>
                  <a:srgbClr val="93ACC6"/>
                </a:solidFill>
                <a:latin typeface="Calibri" pitchFamily="34" charset="0"/>
                <a:ea typeface="Calibri" pitchFamily="34" charset="-122"/>
                <a:cs typeface="Calibri" pitchFamily="34" charset="-120"/>
              </a:rPr>
              <a:t>Hours worked, trainer PIN access and the sign-off order.</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D33"/>
        </a:solidFill>
        <a:effectLst/>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B39DDB"/>
          </a:solidFill>
          <a:ln w="12700">
            <a:solidFill>
              <a:srgbClr val="B39DDB"/>
            </a:solidFill>
            <a:prstDash val="solid"/>
          </a:ln>
        </p:spPr>
        <p:txBody>
          <a:bodyPr/>
          <a:lstStyle/>
          <a:p>
            <a:endParaRPr lang="en-ZA"/>
          </a:p>
        </p:txBody>
      </p:sp>
      <p:sp>
        <p:nvSpPr>
          <p:cNvPr id="3" name="Text 1"/>
          <p:cNvSpPr txBox="1"/>
          <p:nvPr/>
        </p:nvSpPr>
        <p:spPr>
          <a:xfrm>
            <a:off x="548640" y="384048"/>
            <a:ext cx="8229600" cy="274320"/>
          </a:xfrm>
          <a:prstGeom prst="rect">
            <a:avLst/>
          </a:prstGeom>
          <a:noFill/>
          <a:ln/>
        </p:spPr>
        <p:txBody>
          <a:bodyPr wrap="square" lIns="0" tIns="0" rIns="0" bIns="0" rtlCol="0" anchor="ctr"/>
          <a:lstStyle/>
          <a:p>
            <a:pPr marL="0" indent="0">
              <a:buNone/>
            </a:pPr>
            <a:r>
              <a:rPr lang="en-US" sz="1100" b="1" kern="0" spc="400" dirty="0">
                <a:solidFill>
                  <a:srgbClr val="B39DDB"/>
                </a:solidFill>
                <a:latin typeface="Calibri" pitchFamily="34" charset="0"/>
                <a:ea typeface="Calibri" pitchFamily="34" charset="-122"/>
                <a:cs typeface="Calibri" pitchFamily="34" charset="-120"/>
              </a:rPr>
              <a:t>ARCHITECTURE</a:t>
            </a:r>
            <a:endParaRPr lang="en-US" sz="1100" dirty="0"/>
          </a:p>
        </p:txBody>
      </p:sp>
      <p:sp>
        <p:nvSpPr>
          <p:cNvPr id="4" name="Text 2"/>
          <p:cNvSpPr txBox="1"/>
          <p:nvPr/>
        </p:nvSpPr>
        <p:spPr>
          <a:xfrm>
            <a:off x="548640" y="658368"/>
            <a:ext cx="11094415" cy="566928"/>
          </a:xfrm>
          <a:prstGeom prst="rect">
            <a:avLst/>
          </a:prstGeom>
          <a:noFill/>
          <a:ln/>
        </p:spPr>
        <p:txBody>
          <a:bodyPr wrap="square" lIns="0" tIns="0" rIns="0" bIns="0"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Rules live in services that query the database directly</a:t>
            </a:r>
            <a:endParaRPr lang="en-US" sz="3000" dirty="0"/>
          </a:p>
        </p:txBody>
      </p:sp>
      <p:sp>
        <p:nvSpPr>
          <p:cNvPr id="5" name="Shape 3"/>
          <p:cNvSpPr/>
          <p:nvPr/>
        </p:nvSpPr>
        <p:spPr>
          <a:xfrm>
            <a:off x="548640" y="1463040"/>
            <a:ext cx="2468880" cy="1737360"/>
          </a:xfrm>
          <a:prstGeom prst="roundRect">
            <a:avLst>
              <a:gd name="adj" fmla="val 5263"/>
            </a:avLst>
          </a:prstGeom>
          <a:solidFill>
            <a:srgbClr val="13304F"/>
          </a:solidFill>
          <a:ln w="12700">
            <a:solidFill>
              <a:srgbClr val="13304F"/>
            </a:solidFill>
            <a:prstDash val="solid"/>
          </a:ln>
        </p:spPr>
        <p:txBody>
          <a:bodyPr/>
          <a:lstStyle/>
          <a:p>
            <a:endParaRPr lang="en-ZA"/>
          </a:p>
        </p:txBody>
      </p:sp>
      <p:sp>
        <p:nvSpPr>
          <p:cNvPr id="6" name="Shape 4"/>
          <p:cNvSpPr/>
          <p:nvPr/>
        </p:nvSpPr>
        <p:spPr>
          <a:xfrm>
            <a:off x="731520" y="1664208"/>
            <a:ext cx="548640" cy="548640"/>
          </a:xfrm>
          <a:prstGeom prst="ellipse">
            <a:avLst/>
          </a:prstGeom>
          <a:solidFill>
            <a:srgbClr val="0B1D33"/>
          </a:solidFill>
          <a:ln w="12700">
            <a:solidFill>
              <a:srgbClr val="0B1D33"/>
            </a:solidFill>
            <a:prstDash val="solid"/>
          </a:ln>
        </p:spPr>
        <p:txBody>
          <a:bodyPr/>
          <a:lstStyle/>
          <a:p>
            <a:endParaRPr lang="en-ZA"/>
          </a:p>
        </p:txBody>
      </p:sp>
      <p:pic>
        <p:nvPicPr>
          <p:cNvPr id="7" name="Image 0" descr="preencoded.png"/>
          <p:cNvPicPr>
            <a:picLocks noChangeAspect="1"/>
          </p:cNvPicPr>
          <p:nvPr/>
        </p:nvPicPr>
        <p:blipFill>
          <a:blip r:embed="rId3"/>
          <a:stretch>
            <a:fillRect/>
          </a:stretch>
        </p:blipFill>
        <p:spPr>
          <a:xfrm>
            <a:off x="868680" y="1801368"/>
            <a:ext cx="274320" cy="274320"/>
          </a:xfrm>
          <a:prstGeom prst="rect">
            <a:avLst/>
          </a:prstGeom>
        </p:spPr>
      </p:pic>
      <p:sp>
        <p:nvSpPr>
          <p:cNvPr id="8" name="Text 5"/>
          <p:cNvSpPr txBox="1"/>
          <p:nvPr/>
        </p:nvSpPr>
        <p:spPr>
          <a:xfrm>
            <a:off x="731520" y="2331720"/>
            <a:ext cx="2103120" cy="777240"/>
          </a:xfrm>
          <a:prstGeom prst="rect">
            <a:avLst/>
          </a:prstGeom>
          <a:noFill/>
          <a:ln/>
        </p:spPr>
        <p:txBody>
          <a:bodyPr wrap="square" lIns="0" tIns="0" rIns="0" bIns="0" rtlCol="0" anchor="t"/>
          <a:lstStyle/>
          <a:p>
            <a:pPr marL="0" indent="0" algn="l">
              <a:spcAft>
                <a:spcPts val="300"/>
              </a:spcAft>
              <a:buNone/>
            </a:pPr>
            <a:r>
              <a:rPr lang="en-US" sz="1450" b="1" dirty="0">
                <a:solidFill>
                  <a:srgbClr val="FFFFFF"/>
                </a:solidFill>
                <a:latin typeface="Calibri" pitchFamily="34" charset="0"/>
                <a:ea typeface="Calibri" pitchFamily="34" charset="-122"/>
                <a:cs typeface="Calibri" pitchFamily="34" charset="-120"/>
              </a:rPr>
              <a:t>Controller</a:t>
            </a:r>
            <a:endParaRPr lang="en-US" sz="1300" dirty="0"/>
          </a:p>
          <a:p>
            <a:pPr marL="0" indent="0" algn="l">
              <a:spcAft>
                <a:spcPts val="300"/>
              </a:spcAft>
              <a:buNone/>
            </a:pPr>
            <a:r>
              <a:rPr lang="en-US" sz="1200" dirty="0">
                <a:solidFill>
                  <a:srgbClr val="93ACC6"/>
                </a:solidFill>
                <a:latin typeface="Calibri" pitchFamily="34" charset="0"/>
                <a:ea typeface="Calibri" pitchFamily="34" charset="-122"/>
                <a:cs typeface="Calibri" pitchFamily="34" charset="-120"/>
              </a:rPr>
              <a:t>ShiftsController: routes and roles</a:t>
            </a:r>
            <a:endParaRPr lang="en-US" sz="1300" dirty="0"/>
          </a:p>
        </p:txBody>
      </p:sp>
      <p:sp>
        <p:nvSpPr>
          <p:cNvPr id="9" name="Shape 6"/>
          <p:cNvSpPr/>
          <p:nvPr/>
        </p:nvSpPr>
        <p:spPr>
          <a:xfrm>
            <a:off x="3072384" y="2331720"/>
            <a:ext cx="296570" cy="914"/>
          </a:xfrm>
          <a:prstGeom prst="line">
            <a:avLst/>
          </a:prstGeom>
          <a:noFill/>
          <a:ln w="25400">
            <a:solidFill>
              <a:srgbClr val="B39DDB"/>
            </a:solidFill>
            <a:prstDash val="solid"/>
            <a:tailEnd type="triangle"/>
          </a:ln>
        </p:spPr>
        <p:txBody>
          <a:bodyPr/>
          <a:lstStyle/>
          <a:p>
            <a:endParaRPr lang="en-ZA"/>
          </a:p>
        </p:txBody>
      </p:sp>
      <p:sp>
        <p:nvSpPr>
          <p:cNvPr id="10" name="Shape 7"/>
          <p:cNvSpPr/>
          <p:nvPr/>
        </p:nvSpPr>
        <p:spPr>
          <a:xfrm>
            <a:off x="3423818" y="1463040"/>
            <a:ext cx="2468880" cy="1737360"/>
          </a:xfrm>
          <a:prstGeom prst="roundRect">
            <a:avLst>
              <a:gd name="adj" fmla="val 5263"/>
            </a:avLst>
          </a:prstGeom>
          <a:solidFill>
            <a:srgbClr val="13304F"/>
          </a:solidFill>
          <a:ln w="15875">
            <a:solidFill>
              <a:srgbClr val="B39DDB"/>
            </a:solidFill>
            <a:prstDash val="solid"/>
          </a:ln>
        </p:spPr>
        <p:txBody>
          <a:bodyPr/>
          <a:lstStyle/>
          <a:p>
            <a:endParaRPr lang="en-ZA"/>
          </a:p>
        </p:txBody>
      </p:sp>
      <p:sp>
        <p:nvSpPr>
          <p:cNvPr id="11" name="Shape 8"/>
          <p:cNvSpPr/>
          <p:nvPr/>
        </p:nvSpPr>
        <p:spPr>
          <a:xfrm>
            <a:off x="3606698" y="1664208"/>
            <a:ext cx="548640" cy="548640"/>
          </a:xfrm>
          <a:prstGeom prst="ellipse">
            <a:avLst/>
          </a:prstGeom>
          <a:solidFill>
            <a:srgbClr val="0B1D33"/>
          </a:solidFill>
          <a:ln w="12700">
            <a:solidFill>
              <a:srgbClr val="0B1D33"/>
            </a:solidFill>
            <a:prstDash val="solid"/>
          </a:ln>
        </p:spPr>
        <p:txBody>
          <a:bodyPr/>
          <a:lstStyle/>
          <a:p>
            <a:endParaRPr lang="en-ZA"/>
          </a:p>
        </p:txBody>
      </p:sp>
      <p:pic>
        <p:nvPicPr>
          <p:cNvPr id="12" name="Image 1" descr="preencoded.png"/>
          <p:cNvPicPr>
            <a:picLocks noChangeAspect="1"/>
          </p:cNvPicPr>
          <p:nvPr/>
        </p:nvPicPr>
        <p:blipFill>
          <a:blip r:embed="rId4"/>
          <a:stretch>
            <a:fillRect/>
          </a:stretch>
        </p:blipFill>
        <p:spPr>
          <a:xfrm>
            <a:off x="3743858" y="1801368"/>
            <a:ext cx="274320" cy="274320"/>
          </a:xfrm>
          <a:prstGeom prst="rect">
            <a:avLst/>
          </a:prstGeom>
        </p:spPr>
      </p:pic>
      <p:sp>
        <p:nvSpPr>
          <p:cNvPr id="13" name="Text 9"/>
          <p:cNvSpPr txBox="1"/>
          <p:nvPr/>
        </p:nvSpPr>
        <p:spPr>
          <a:xfrm>
            <a:off x="3606698" y="2331720"/>
            <a:ext cx="2103120" cy="777240"/>
          </a:xfrm>
          <a:prstGeom prst="rect">
            <a:avLst/>
          </a:prstGeom>
          <a:noFill/>
          <a:ln/>
        </p:spPr>
        <p:txBody>
          <a:bodyPr wrap="square" lIns="0" tIns="0" rIns="0" bIns="0" rtlCol="0" anchor="t"/>
          <a:lstStyle/>
          <a:p>
            <a:pPr marL="0" indent="0" algn="l">
              <a:spcAft>
                <a:spcPts val="300"/>
              </a:spcAft>
              <a:buNone/>
            </a:pPr>
            <a:r>
              <a:rPr lang="en-US" sz="1450" b="1" dirty="0">
                <a:solidFill>
                  <a:srgbClr val="FFFFFF"/>
                </a:solidFill>
                <a:latin typeface="Calibri" pitchFamily="34" charset="0"/>
                <a:ea typeface="Calibri" pitchFamily="34" charset="-122"/>
                <a:cs typeface="Calibri" pitchFamily="34" charset="-120"/>
              </a:rPr>
              <a:t>Service</a:t>
            </a:r>
            <a:endParaRPr lang="en-US" sz="1300" dirty="0"/>
          </a:p>
          <a:p>
            <a:pPr marL="0" indent="0" algn="l">
              <a:spcAft>
                <a:spcPts val="300"/>
              </a:spcAft>
              <a:buNone/>
            </a:pPr>
            <a:r>
              <a:rPr lang="en-US" sz="1200" dirty="0">
                <a:solidFill>
                  <a:srgbClr val="93ACC6"/>
                </a:solidFill>
                <a:latin typeface="Calibri" pitchFamily="34" charset="0"/>
                <a:ea typeface="Calibri" pitchFamily="34" charset="-122"/>
                <a:cs typeface="Calibri" pitchFamily="34" charset="-120"/>
              </a:rPr>
              <a:t>ShiftService: the business rules</a:t>
            </a:r>
            <a:endParaRPr lang="en-US" sz="1300" dirty="0"/>
          </a:p>
        </p:txBody>
      </p:sp>
      <p:sp>
        <p:nvSpPr>
          <p:cNvPr id="14" name="Shape 10"/>
          <p:cNvSpPr/>
          <p:nvPr/>
        </p:nvSpPr>
        <p:spPr>
          <a:xfrm>
            <a:off x="5947562" y="2331720"/>
            <a:ext cx="296570" cy="914"/>
          </a:xfrm>
          <a:prstGeom prst="line">
            <a:avLst/>
          </a:prstGeom>
          <a:noFill/>
          <a:ln w="25400">
            <a:solidFill>
              <a:srgbClr val="B39DDB"/>
            </a:solidFill>
            <a:prstDash val="solid"/>
            <a:tailEnd type="triangle"/>
          </a:ln>
        </p:spPr>
        <p:txBody>
          <a:bodyPr/>
          <a:lstStyle/>
          <a:p>
            <a:endParaRPr lang="en-ZA"/>
          </a:p>
        </p:txBody>
      </p:sp>
      <p:sp>
        <p:nvSpPr>
          <p:cNvPr id="15" name="Shape 11"/>
          <p:cNvSpPr/>
          <p:nvPr/>
        </p:nvSpPr>
        <p:spPr>
          <a:xfrm>
            <a:off x="6298997" y="1463040"/>
            <a:ext cx="2468880" cy="1737360"/>
          </a:xfrm>
          <a:prstGeom prst="roundRect">
            <a:avLst>
              <a:gd name="adj" fmla="val 5263"/>
            </a:avLst>
          </a:prstGeom>
          <a:solidFill>
            <a:srgbClr val="13304F"/>
          </a:solidFill>
          <a:ln w="12700">
            <a:solidFill>
              <a:srgbClr val="13304F"/>
            </a:solidFill>
            <a:prstDash val="solid"/>
          </a:ln>
        </p:spPr>
        <p:txBody>
          <a:bodyPr/>
          <a:lstStyle/>
          <a:p>
            <a:endParaRPr lang="en-ZA"/>
          </a:p>
        </p:txBody>
      </p:sp>
      <p:sp>
        <p:nvSpPr>
          <p:cNvPr id="16" name="Shape 12"/>
          <p:cNvSpPr/>
          <p:nvPr/>
        </p:nvSpPr>
        <p:spPr>
          <a:xfrm>
            <a:off x="6481877" y="1664208"/>
            <a:ext cx="548640" cy="548640"/>
          </a:xfrm>
          <a:prstGeom prst="ellipse">
            <a:avLst/>
          </a:prstGeom>
          <a:solidFill>
            <a:srgbClr val="0B1D33"/>
          </a:solidFill>
          <a:ln w="12700">
            <a:solidFill>
              <a:srgbClr val="0B1D33"/>
            </a:solidFill>
            <a:prstDash val="solid"/>
          </a:ln>
        </p:spPr>
        <p:txBody>
          <a:bodyPr/>
          <a:lstStyle/>
          <a:p>
            <a:endParaRPr lang="en-ZA"/>
          </a:p>
        </p:txBody>
      </p:sp>
      <p:pic>
        <p:nvPicPr>
          <p:cNvPr id="17" name="Image 2" descr="preencoded.png"/>
          <p:cNvPicPr>
            <a:picLocks noChangeAspect="1"/>
          </p:cNvPicPr>
          <p:nvPr/>
        </p:nvPicPr>
        <p:blipFill>
          <a:blip r:embed="rId5"/>
          <a:stretch>
            <a:fillRect/>
          </a:stretch>
        </p:blipFill>
        <p:spPr>
          <a:xfrm>
            <a:off x="6619037" y="1801368"/>
            <a:ext cx="274320" cy="274320"/>
          </a:xfrm>
          <a:prstGeom prst="rect">
            <a:avLst/>
          </a:prstGeom>
        </p:spPr>
      </p:pic>
      <p:sp>
        <p:nvSpPr>
          <p:cNvPr id="18" name="Text 13"/>
          <p:cNvSpPr txBox="1"/>
          <p:nvPr/>
        </p:nvSpPr>
        <p:spPr>
          <a:xfrm>
            <a:off x="6481877" y="2331720"/>
            <a:ext cx="2103120" cy="777240"/>
          </a:xfrm>
          <a:prstGeom prst="rect">
            <a:avLst/>
          </a:prstGeom>
          <a:noFill/>
          <a:ln/>
        </p:spPr>
        <p:txBody>
          <a:bodyPr wrap="square" lIns="0" tIns="0" rIns="0" bIns="0" rtlCol="0" anchor="t"/>
          <a:lstStyle/>
          <a:p>
            <a:pPr marL="0" indent="0" algn="l">
              <a:spcAft>
                <a:spcPts val="300"/>
              </a:spcAft>
              <a:buNone/>
            </a:pPr>
            <a:r>
              <a:rPr lang="en-US" sz="1450" b="1" dirty="0">
                <a:solidFill>
                  <a:srgbClr val="FFFFFF"/>
                </a:solidFill>
                <a:latin typeface="Calibri" pitchFamily="34" charset="0"/>
                <a:ea typeface="Calibri" pitchFamily="34" charset="-122"/>
                <a:cs typeface="Calibri" pitchFamily="34" charset="-120"/>
              </a:rPr>
              <a:t>AppDbContext</a:t>
            </a:r>
            <a:endParaRPr lang="en-US" sz="1300" dirty="0"/>
          </a:p>
          <a:p>
            <a:pPr marL="0" indent="0" algn="l">
              <a:spcAft>
                <a:spcPts val="300"/>
              </a:spcAft>
              <a:buNone/>
            </a:pPr>
            <a:r>
              <a:rPr lang="en-US" sz="1200" dirty="0">
                <a:solidFill>
                  <a:srgbClr val="93ACC6"/>
                </a:solidFill>
                <a:latin typeface="Calibri" pitchFamily="34" charset="0"/>
                <a:ea typeface="Calibri" pitchFamily="34" charset="-122"/>
                <a:cs typeface="Calibri" pitchFamily="34" charset="-120"/>
              </a:rPr>
              <a:t>EF Core turns LINQ into SQL</a:t>
            </a:r>
            <a:endParaRPr lang="en-US" sz="1300" dirty="0"/>
          </a:p>
        </p:txBody>
      </p:sp>
      <p:sp>
        <p:nvSpPr>
          <p:cNvPr id="19" name="Shape 14"/>
          <p:cNvSpPr/>
          <p:nvPr/>
        </p:nvSpPr>
        <p:spPr>
          <a:xfrm>
            <a:off x="8822741" y="2331720"/>
            <a:ext cx="296570" cy="914"/>
          </a:xfrm>
          <a:prstGeom prst="line">
            <a:avLst/>
          </a:prstGeom>
          <a:noFill/>
          <a:ln w="25400">
            <a:solidFill>
              <a:srgbClr val="B39DDB"/>
            </a:solidFill>
            <a:prstDash val="solid"/>
            <a:tailEnd type="triangle"/>
          </a:ln>
        </p:spPr>
        <p:txBody>
          <a:bodyPr/>
          <a:lstStyle/>
          <a:p>
            <a:endParaRPr lang="en-ZA"/>
          </a:p>
        </p:txBody>
      </p:sp>
      <p:sp>
        <p:nvSpPr>
          <p:cNvPr id="20" name="Shape 15"/>
          <p:cNvSpPr/>
          <p:nvPr/>
        </p:nvSpPr>
        <p:spPr>
          <a:xfrm>
            <a:off x="9174175" y="1463040"/>
            <a:ext cx="2468880" cy="1737360"/>
          </a:xfrm>
          <a:prstGeom prst="roundRect">
            <a:avLst>
              <a:gd name="adj" fmla="val 5263"/>
            </a:avLst>
          </a:prstGeom>
          <a:solidFill>
            <a:srgbClr val="13304F"/>
          </a:solidFill>
          <a:ln w="12700">
            <a:solidFill>
              <a:srgbClr val="13304F"/>
            </a:solidFill>
            <a:prstDash val="solid"/>
          </a:ln>
        </p:spPr>
        <p:txBody>
          <a:bodyPr/>
          <a:lstStyle/>
          <a:p>
            <a:endParaRPr lang="en-ZA"/>
          </a:p>
        </p:txBody>
      </p:sp>
      <p:sp>
        <p:nvSpPr>
          <p:cNvPr id="21" name="Shape 16"/>
          <p:cNvSpPr/>
          <p:nvPr/>
        </p:nvSpPr>
        <p:spPr>
          <a:xfrm>
            <a:off x="9357055" y="1664208"/>
            <a:ext cx="548640" cy="548640"/>
          </a:xfrm>
          <a:prstGeom prst="ellipse">
            <a:avLst/>
          </a:prstGeom>
          <a:solidFill>
            <a:srgbClr val="0B1D33"/>
          </a:solidFill>
          <a:ln w="12700">
            <a:solidFill>
              <a:srgbClr val="0B1D33"/>
            </a:solidFill>
            <a:prstDash val="solid"/>
          </a:ln>
        </p:spPr>
        <p:txBody>
          <a:bodyPr/>
          <a:lstStyle/>
          <a:p>
            <a:endParaRPr lang="en-ZA"/>
          </a:p>
        </p:txBody>
      </p:sp>
      <p:pic>
        <p:nvPicPr>
          <p:cNvPr id="22" name="Image 3" descr="preencoded.png"/>
          <p:cNvPicPr>
            <a:picLocks noChangeAspect="1"/>
          </p:cNvPicPr>
          <p:nvPr/>
        </p:nvPicPr>
        <p:blipFill>
          <a:blip r:embed="rId6"/>
          <a:stretch>
            <a:fillRect/>
          </a:stretch>
        </p:blipFill>
        <p:spPr>
          <a:xfrm>
            <a:off x="9494215" y="1801368"/>
            <a:ext cx="274320" cy="274320"/>
          </a:xfrm>
          <a:prstGeom prst="rect">
            <a:avLst/>
          </a:prstGeom>
        </p:spPr>
      </p:pic>
      <p:sp>
        <p:nvSpPr>
          <p:cNvPr id="23" name="Text 17"/>
          <p:cNvSpPr txBox="1"/>
          <p:nvPr/>
        </p:nvSpPr>
        <p:spPr>
          <a:xfrm>
            <a:off x="9357055" y="2331720"/>
            <a:ext cx="2103120" cy="777240"/>
          </a:xfrm>
          <a:prstGeom prst="rect">
            <a:avLst/>
          </a:prstGeom>
          <a:noFill/>
          <a:ln/>
        </p:spPr>
        <p:txBody>
          <a:bodyPr wrap="square" lIns="0" tIns="0" rIns="0" bIns="0" rtlCol="0" anchor="t"/>
          <a:lstStyle/>
          <a:p>
            <a:pPr marL="0" indent="0" algn="l">
              <a:spcAft>
                <a:spcPts val="300"/>
              </a:spcAft>
              <a:buNone/>
            </a:pPr>
            <a:r>
              <a:rPr lang="en-US" sz="1450" b="1" dirty="0">
                <a:solidFill>
                  <a:srgbClr val="FFFFFF"/>
                </a:solidFill>
                <a:latin typeface="Calibri" pitchFamily="34" charset="0"/>
                <a:ea typeface="Calibri" pitchFamily="34" charset="-122"/>
                <a:cs typeface="Calibri" pitchFamily="34" charset="-120"/>
              </a:rPr>
              <a:t>Database</a:t>
            </a:r>
            <a:endParaRPr lang="en-US" sz="1300" dirty="0"/>
          </a:p>
          <a:p>
            <a:pPr marL="0" indent="0" algn="l">
              <a:spcAft>
                <a:spcPts val="300"/>
              </a:spcAft>
              <a:buNone/>
            </a:pPr>
            <a:r>
              <a:rPr lang="en-US" sz="1200" dirty="0">
                <a:solidFill>
                  <a:srgbClr val="93ACC6"/>
                </a:solidFill>
                <a:latin typeface="Calibri" pitchFamily="34" charset="0"/>
                <a:ea typeface="Calibri" pitchFamily="34" charset="-122"/>
                <a:cs typeface="Calibri" pitchFamily="34" charset="-120"/>
              </a:rPr>
              <a:t>PostgreSQL</a:t>
            </a:r>
            <a:endParaRPr lang="en-US" sz="1300" dirty="0"/>
          </a:p>
        </p:txBody>
      </p:sp>
      <p:sp>
        <p:nvSpPr>
          <p:cNvPr id="24" name="Shape 18"/>
          <p:cNvSpPr/>
          <p:nvPr/>
        </p:nvSpPr>
        <p:spPr>
          <a:xfrm>
            <a:off x="548640" y="3520440"/>
            <a:ext cx="3017520" cy="1188720"/>
          </a:xfrm>
          <a:prstGeom prst="roundRect">
            <a:avLst>
              <a:gd name="adj" fmla="val 7692"/>
            </a:avLst>
          </a:prstGeom>
          <a:solidFill>
            <a:srgbClr val="13304F"/>
          </a:solidFill>
          <a:ln w="12700">
            <a:solidFill>
              <a:srgbClr val="13304F"/>
            </a:solidFill>
            <a:prstDash val="solid"/>
          </a:ln>
        </p:spPr>
        <p:txBody>
          <a:bodyPr/>
          <a:lstStyle/>
          <a:p>
            <a:endParaRPr lang="en-ZA"/>
          </a:p>
        </p:txBody>
      </p:sp>
      <p:sp>
        <p:nvSpPr>
          <p:cNvPr id="25" name="Shape 19"/>
          <p:cNvSpPr/>
          <p:nvPr/>
        </p:nvSpPr>
        <p:spPr>
          <a:xfrm>
            <a:off x="713232" y="3822192"/>
            <a:ext cx="548640" cy="548640"/>
          </a:xfrm>
          <a:prstGeom prst="ellipse">
            <a:avLst/>
          </a:prstGeom>
          <a:solidFill>
            <a:srgbClr val="0B1D33"/>
          </a:solidFill>
          <a:ln w="12700">
            <a:solidFill>
              <a:srgbClr val="0B1D33"/>
            </a:solidFill>
            <a:prstDash val="solid"/>
          </a:ln>
        </p:spPr>
        <p:txBody>
          <a:bodyPr/>
          <a:lstStyle/>
          <a:p>
            <a:endParaRPr lang="en-ZA"/>
          </a:p>
        </p:txBody>
      </p:sp>
      <p:pic>
        <p:nvPicPr>
          <p:cNvPr id="26" name="Image 4" descr="preencoded.png"/>
          <p:cNvPicPr>
            <a:picLocks noChangeAspect="1"/>
          </p:cNvPicPr>
          <p:nvPr/>
        </p:nvPicPr>
        <p:blipFill>
          <a:blip r:embed="rId6"/>
          <a:stretch>
            <a:fillRect/>
          </a:stretch>
        </p:blipFill>
        <p:spPr>
          <a:xfrm>
            <a:off x="850392" y="3959352"/>
            <a:ext cx="274320" cy="274320"/>
          </a:xfrm>
          <a:prstGeom prst="rect">
            <a:avLst/>
          </a:prstGeom>
        </p:spPr>
      </p:pic>
      <p:sp>
        <p:nvSpPr>
          <p:cNvPr id="27" name="Text 20"/>
          <p:cNvSpPr txBox="1"/>
          <p:nvPr/>
        </p:nvSpPr>
        <p:spPr>
          <a:xfrm>
            <a:off x="1371600" y="3611880"/>
            <a:ext cx="2103120" cy="1005840"/>
          </a:xfrm>
          <a:prstGeom prst="rect">
            <a:avLst/>
          </a:prstGeom>
          <a:noFill/>
          <a:ln/>
        </p:spPr>
        <p:txBody>
          <a:bodyPr wrap="square" lIns="0" tIns="0" rIns="0" bIns="0" rtlCol="0" anchor="ctr"/>
          <a:lstStyle/>
          <a:p>
            <a:pPr marL="0" indent="0" algn="l">
              <a:spcAft>
                <a:spcPts val="300"/>
              </a:spcAft>
              <a:buNone/>
            </a:pPr>
            <a:r>
              <a:rPr lang="en-US" sz="1350" b="1" dirty="0">
                <a:solidFill>
                  <a:srgbClr val="FFFFFF"/>
                </a:solidFill>
                <a:latin typeface="Calibri" pitchFamily="34" charset="0"/>
                <a:ea typeface="Calibri" pitchFamily="34" charset="-122"/>
                <a:cs typeface="Calibri" pitchFamily="34" charset="-120"/>
              </a:rPr>
              <a:t>EF Core 8 + Npgsql</a:t>
            </a:r>
            <a:endParaRPr lang="en-US" sz="1300" dirty="0"/>
          </a:p>
          <a:p>
            <a:pPr marL="0" indent="0" algn="l">
              <a:spcAft>
                <a:spcPts val="300"/>
              </a:spcAft>
              <a:buNone/>
            </a:pPr>
            <a:r>
              <a:rPr lang="en-US" sz="1150" dirty="0">
                <a:solidFill>
                  <a:srgbClr val="93ACC6"/>
                </a:solidFill>
                <a:latin typeface="Calibri" pitchFamily="34" charset="0"/>
                <a:ea typeface="Calibri" pitchFamily="34" charset="-122"/>
                <a:cs typeface="Calibri" pitchFamily="34" charset="-120"/>
              </a:rPr>
              <a:t>LINQ queries with Include and projections.</a:t>
            </a:r>
            <a:endParaRPr lang="en-US" sz="1300" dirty="0"/>
          </a:p>
        </p:txBody>
      </p:sp>
      <p:sp>
        <p:nvSpPr>
          <p:cNvPr id="28" name="Shape 21"/>
          <p:cNvSpPr/>
          <p:nvPr/>
        </p:nvSpPr>
        <p:spPr>
          <a:xfrm>
            <a:off x="3794760" y="3520440"/>
            <a:ext cx="3017520" cy="1188720"/>
          </a:xfrm>
          <a:prstGeom prst="roundRect">
            <a:avLst>
              <a:gd name="adj" fmla="val 7692"/>
            </a:avLst>
          </a:prstGeom>
          <a:solidFill>
            <a:srgbClr val="13304F"/>
          </a:solidFill>
          <a:ln w="12700">
            <a:solidFill>
              <a:srgbClr val="13304F"/>
            </a:solidFill>
            <a:prstDash val="solid"/>
          </a:ln>
        </p:spPr>
        <p:txBody>
          <a:bodyPr/>
          <a:lstStyle/>
          <a:p>
            <a:endParaRPr lang="en-ZA"/>
          </a:p>
        </p:txBody>
      </p:sp>
      <p:sp>
        <p:nvSpPr>
          <p:cNvPr id="29" name="Shape 22"/>
          <p:cNvSpPr/>
          <p:nvPr/>
        </p:nvSpPr>
        <p:spPr>
          <a:xfrm>
            <a:off x="3959352" y="3822192"/>
            <a:ext cx="548640" cy="548640"/>
          </a:xfrm>
          <a:prstGeom prst="ellipse">
            <a:avLst/>
          </a:prstGeom>
          <a:solidFill>
            <a:srgbClr val="0B1D33"/>
          </a:solidFill>
          <a:ln w="12700">
            <a:solidFill>
              <a:srgbClr val="0B1D33"/>
            </a:solidFill>
            <a:prstDash val="solid"/>
          </a:ln>
        </p:spPr>
        <p:txBody>
          <a:bodyPr/>
          <a:lstStyle/>
          <a:p>
            <a:endParaRPr lang="en-ZA"/>
          </a:p>
        </p:txBody>
      </p:sp>
      <p:pic>
        <p:nvPicPr>
          <p:cNvPr id="30" name="Image 5" descr="preencoded.png"/>
          <p:cNvPicPr>
            <a:picLocks noChangeAspect="1"/>
          </p:cNvPicPr>
          <p:nvPr/>
        </p:nvPicPr>
        <p:blipFill>
          <a:blip r:embed="rId7"/>
          <a:stretch>
            <a:fillRect/>
          </a:stretch>
        </p:blipFill>
        <p:spPr>
          <a:xfrm>
            <a:off x="4096512" y="3959352"/>
            <a:ext cx="274320" cy="274320"/>
          </a:xfrm>
          <a:prstGeom prst="rect">
            <a:avLst/>
          </a:prstGeom>
        </p:spPr>
      </p:pic>
      <p:sp>
        <p:nvSpPr>
          <p:cNvPr id="31" name="Text 23"/>
          <p:cNvSpPr txBox="1"/>
          <p:nvPr/>
        </p:nvSpPr>
        <p:spPr>
          <a:xfrm>
            <a:off x="4617720" y="3611880"/>
            <a:ext cx="2103120" cy="1005840"/>
          </a:xfrm>
          <a:prstGeom prst="rect">
            <a:avLst/>
          </a:prstGeom>
          <a:noFill/>
          <a:ln/>
        </p:spPr>
        <p:txBody>
          <a:bodyPr wrap="square" lIns="0" tIns="0" rIns="0" bIns="0" rtlCol="0" anchor="ctr"/>
          <a:lstStyle/>
          <a:p>
            <a:pPr marL="0" indent="0" algn="l">
              <a:spcAft>
                <a:spcPts val="300"/>
              </a:spcAft>
              <a:buNone/>
            </a:pPr>
            <a:r>
              <a:rPr lang="en-US" sz="1350" b="1" dirty="0">
                <a:solidFill>
                  <a:srgbClr val="FFFFFF"/>
                </a:solidFill>
                <a:latin typeface="Calibri" pitchFamily="34" charset="0"/>
                <a:ea typeface="Calibri" pitchFamily="34" charset="-122"/>
                <a:cs typeface="Calibri" pitchFamily="34" charset="-120"/>
              </a:rPr>
              <a:t>Background workers</a:t>
            </a:r>
            <a:endParaRPr lang="en-US" sz="1300" dirty="0"/>
          </a:p>
          <a:p>
            <a:pPr marL="0" indent="0" algn="l">
              <a:spcAft>
                <a:spcPts val="300"/>
              </a:spcAft>
              <a:buNone/>
            </a:pPr>
            <a:r>
              <a:rPr lang="en-US" sz="1150" dirty="0">
                <a:solidFill>
                  <a:srgbClr val="93ACC6"/>
                </a:solidFill>
                <a:latin typeface="Calibri" pitchFamily="34" charset="0"/>
                <a:ea typeface="Calibri" pitchFamily="34" charset="-122"/>
                <a:cs typeface="Calibri" pitchFamily="34" charset="-120"/>
              </a:rPr>
              <a:t>Scheduled reminders with BackgroundService.</a:t>
            </a:r>
            <a:endParaRPr lang="en-US" sz="1300" dirty="0"/>
          </a:p>
        </p:txBody>
      </p:sp>
      <p:sp>
        <p:nvSpPr>
          <p:cNvPr id="32" name="Shape 24"/>
          <p:cNvSpPr/>
          <p:nvPr/>
        </p:nvSpPr>
        <p:spPr>
          <a:xfrm>
            <a:off x="548640" y="4892040"/>
            <a:ext cx="3017520" cy="1188720"/>
          </a:xfrm>
          <a:prstGeom prst="roundRect">
            <a:avLst>
              <a:gd name="adj" fmla="val 7692"/>
            </a:avLst>
          </a:prstGeom>
          <a:solidFill>
            <a:srgbClr val="13304F"/>
          </a:solidFill>
          <a:ln w="12700">
            <a:solidFill>
              <a:srgbClr val="13304F"/>
            </a:solidFill>
            <a:prstDash val="solid"/>
          </a:ln>
        </p:spPr>
        <p:txBody>
          <a:bodyPr/>
          <a:lstStyle/>
          <a:p>
            <a:endParaRPr lang="en-ZA"/>
          </a:p>
        </p:txBody>
      </p:sp>
      <p:sp>
        <p:nvSpPr>
          <p:cNvPr id="33" name="Shape 25"/>
          <p:cNvSpPr/>
          <p:nvPr/>
        </p:nvSpPr>
        <p:spPr>
          <a:xfrm>
            <a:off x="713232" y="5193792"/>
            <a:ext cx="548640" cy="548640"/>
          </a:xfrm>
          <a:prstGeom prst="ellipse">
            <a:avLst/>
          </a:prstGeom>
          <a:solidFill>
            <a:srgbClr val="0B1D33"/>
          </a:solidFill>
          <a:ln w="12700">
            <a:solidFill>
              <a:srgbClr val="0B1D33"/>
            </a:solidFill>
            <a:prstDash val="solid"/>
          </a:ln>
        </p:spPr>
        <p:txBody>
          <a:bodyPr/>
          <a:lstStyle/>
          <a:p>
            <a:endParaRPr lang="en-ZA"/>
          </a:p>
        </p:txBody>
      </p:sp>
      <p:pic>
        <p:nvPicPr>
          <p:cNvPr id="34" name="Image 6" descr="preencoded.png"/>
          <p:cNvPicPr>
            <a:picLocks noChangeAspect="1"/>
          </p:cNvPicPr>
          <p:nvPr/>
        </p:nvPicPr>
        <p:blipFill>
          <a:blip r:embed="rId8"/>
          <a:stretch>
            <a:fillRect/>
          </a:stretch>
        </p:blipFill>
        <p:spPr>
          <a:xfrm>
            <a:off x="850392" y="5330952"/>
            <a:ext cx="274320" cy="274320"/>
          </a:xfrm>
          <a:prstGeom prst="rect">
            <a:avLst/>
          </a:prstGeom>
        </p:spPr>
      </p:pic>
      <p:sp>
        <p:nvSpPr>
          <p:cNvPr id="35" name="Text 26"/>
          <p:cNvSpPr txBox="1"/>
          <p:nvPr/>
        </p:nvSpPr>
        <p:spPr>
          <a:xfrm>
            <a:off x="1371600" y="4983480"/>
            <a:ext cx="2103120" cy="1005840"/>
          </a:xfrm>
          <a:prstGeom prst="rect">
            <a:avLst/>
          </a:prstGeom>
          <a:noFill/>
          <a:ln/>
        </p:spPr>
        <p:txBody>
          <a:bodyPr wrap="square" lIns="0" tIns="0" rIns="0" bIns="0" rtlCol="0" anchor="ctr"/>
          <a:lstStyle/>
          <a:p>
            <a:pPr marL="0" indent="0" algn="l">
              <a:spcAft>
                <a:spcPts val="300"/>
              </a:spcAft>
              <a:buNone/>
            </a:pPr>
            <a:r>
              <a:rPr lang="en-US" sz="1350" b="1" dirty="0">
                <a:solidFill>
                  <a:srgbClr val="FFFFFF"/>
                </a:solidFill>
                <a:latin typeface="Calibri" pitchFamily="34" charset="0"/>
                <a:ea typeface="Calibri" pitchFamily="34" charset="-122"/>
                <a:cs typeface="Calibri" pitchFamily="34" charset="-120"/>
              </a:rPr>
              <a:t>Expo push</a:t>
            </a:r>
            <a:endParaRPr lang="en-US" sz="1300" dirty="0"/>
          </a:p>
          <a:p>
            <a:pPr marL="0" indent="0" algn="l">
              <a:spcAft>
                <a:spcPts val="300"/>
              </a:spcAft>
              <a:buNone/>
            </a:pPr>
            <a:r>
              <a:rPr lang="en-US" sz="1150" dirty="0">
                <a:solidFill>
                  <a:srgbClr val="93ACC6"/>
                </a:solidFill>
                <a:latin typeface="Calibri" pitchFamily="34" charset="0"/>
                <a:ea typeface="Calibri" pitchFamily="34" charset="-122"/>
                <a:cs typeface="Calibri" pitchFamily="34" charset="-120"/>
              </a:rPr>
              <a:t>A typed HttpClient sends phone notifications.</a:t>
            </a:r>
            <a:endParaRPr lang="en-US" sz="1300" dirty="0"/>
          </a:p>
        </p:txBody>
      </p:sp>
      <p:sp>
        <p:nvSpPr>
          <p:cNvPr id="36" name="Shape 27"/>
          <p:cNvSpPr/>
          <p:nvPr/>
        </p:nvSpPr>
        <p:spPr>
          <a:xfrm>
            <a:off x="3794760" y="4892040"/>
            <a:ext cx="3017520" cy="1188720"/>
          </a:xfrm>
          <a:prstGeom prst="roundRect">
            <a:avLst>
              <a:gd name="adj" fmla="val 7692"/>
            </a:avLst>
          </a:prstGeom>
          <a:solidFill>
            <a:srgbClr val="13304F"/>
          </a:solidFill>
          <a:ln w="12700">
            <a:solidFill>
              <a:srgbClr val="13304F"/>
            </a:solidFill>
            <a:prstDash val="solid"/>
          </a:ln>
        </p:spPr>
        <p:txBody>
          <a:bodyPr/>
          <a:lstStyle/>
          <a:p>
            <a:endParaRPr lang="en-ZA"/>
          </a:p>
        </p:txBody>
      </p:sp>
      <p:sp>
        <p:nvSpPr>
          <p:cNvPr id="37" name="Shape 28"/>
          <p:cNvSpPr/>
          <p:nvPr/>
        </p:nvSpPr>
        <p:spPr>
          <a:xfrm>
            <a:off x="3959352" y="5193792"/>
            <a:ext cx="548640" cy="548640"/>
          </a:xfrm>
          <a:prstGeom prst="ellipse">
            <a:avLst/>
          </a:prstGeom>
          <a:solidFill>
            <a:srgbClr val="0B1D33"/>
          </a:solidFill>
          <a:ln w="12700">
            <a:solidFill>
              <a:srgbClr val="0B1D33"/>
            </a:solidFill>
            <a:prstDash val="solid"/>
          </a:ln>
        </p:spPr>
        <p:txBody>
          <a:bodyPr/>
          <a:lstStyle/>
          <a:p>
            <a:endParaRPr lang="en-ZA"/>
          </a:p>
        </p:txBody>
      </p:sp>
      <p:pic>
        <p:nvPicPr>
          <p:cNvPr id="38" name="Image 7" descr="preencoded.png"/>
          <p:cNvPicPr>
            <a:picLocks noChangeAspect="1"/>
          </p:cNvPicPr>
          <p:nvPr/>
        </p:nvPicPr>
        <p:blipFill>
          <a:blip r:embed="rId9"/>
          <a:stretch>
            <a:fillRect/>
          </a:stretch>
        </p:blipFill>
        <p:spPr>
          <a:xfrm>
            <a:off x="4096512" y="5330952"/>
            <a:ext cx="274320" cy="274320"/>
          </a:xfrm>
          <a:prstGeom prst="rect">
            <a:avLst/>
          </a:prstGeom>
        </p:spPr>
      </p:pic>
      <p:sp>
        <p:nvSpPr>
          <p:cNvPr id="39" name="Text 29"/>
          <p:cNvSpPr txBox="1"/>
          <p:nvPr/>
        </p:nvSpPr>
        <p:spPr>
          <a:xfrm>
            <a:off x="4617720" y="4983480"/>
            <a:ext cx="2103120" cy="1005840"/>
          </a:xfrm>
          <a:prstGeom prst="rect">
            <a:avLst/>
          </a:prstGeom>
          <a:noFill/>
          <a:ln/>
        </p:spPr>
        <p:txBody>
          <a:bodyPr wrap="square" lIns="0" tIns="0" rIns="0" bIns="0" rtlCol="0" anchor="ctr"/>
          <a:lstStyle/>
          <a:p>
            <a:pPr marL="0" indent="0" algn="l">
              <a:spcAft>
                <a:spcPts val="300"/>
              </a:spcAft>
              <a:buNone/>
            </a:pPr>
            <a:r>
              <a:rPr lang="en-US" sz="1350" b="1" dirty="0">
                <a:solidFill>
                  <a:srgbClr val="FFFFFF"/>
                </a:solidFill>
                <a:latin typeface="Calibri" pitchFamily="34" charset="0"/>
                <a:ea typeface="Calibri" pitchFamily="34" charset="-122"/>
                <a:cs typeface="Calibri" pitchFamily="34" charset="-120"/>
              </a:rPr>
              <a:t>"TrainerAccess" policy</a:t>
            </a:r>
            <a:endParaRPr lang="en-US" sz="1300" dirty="0"/>
          </a:p>
          <a:p>
            <a:pPr marL="0" indent="0" algn="l">
              <a:spcAft>
                <a:spcPts val="300"/>
              </a:spcAft>
              <a:buNone/>
            </a:pPr>
            <a:r>
              <a:rPr lang="en-US" sz="1150" dirty="0">
                <a:solidFill>
                  <a:srgbClr val="93ACC6"/>
                </a:solidFill>
                <a:latin typeface="Calibri" pitchFamily="34" charset="0"/>
                <a:ea typeface="Calibri" pitchFamily="34" charset="-122"/>
                <a:cs typeface="Calibri" pitchFamily="34" charset="-120"/>
              </a:rPr>
              <a:t>A JWT policy that guards trainer endpoints.</a:t>
            </a:r>
            <a:endParaRPr lang="en-US" sz="1300" dirty="0"/>
          </a:p>
        </p:txBody>
      </p:sp>
      <p:sp>
        <p:nvSpPr>
          <p:cNvPr id="40" name="Shape 30"/>
          <p:cNvSpPr/>
          <p:nvPr/>
        </p:nvSpPr>
        <p:spPr>
          <a:xfrm>
            <a:off x="7086600" y="3520440"/>
            <a:ext cx="4556455" cy="2560320"/>
          </a:xfrm>
          <a:prstGeom prst="roundRect">
            <a:avLst>
              <a:gd name="adj" fmla="val 3571"/>
            </a:avLst>
          </a:prstGeom>
          <a:solidFill>
            <a:srgbClr val="1A3D63"/>
          </a:solidFill>
          <a:ln w="15875">
            <a:solidFill>
              <a:srgbClr val="B39DDB"/>
            </a:solidFill>
            <a:prstDash val="solid"/>
          </a:ln>
        </p:spPr>
        <p:txBody>
          <a:bodyPr/>
          <a:lstStyle/>
          <a:p>
            <a:endParaRPr lang="en-ZA"/>
          </a:p>
        </p:txBody>
      </p:sp>
      <p:sp>
        <p:nvSpPr>
          <p:cNvPr id="41" name="Text 31"/>
          <p:cNvSpPr txBox="1"/>
          <p:nvPr/>
        </p:nvSpPr>
        <p:spPr>
          <a:xfrm>
            <a:off x="7360920" y="3657600"/>
            <a:ext cx="4007815" cy="1463040"/>
          </a:xfrm>
          <a:prstGeom prst="rect">
            <a:avLst/>
          </a:prstGeom>
          <a:noFill/>
          <a:ln/>
        </p:spPr>
        <p:txBody>
          <a:bodyPr wrap="square" lIns="0" tIns="0" rIns="0" bIns="0" rtlCol="0" anchor="t"/>
          <a:lstStyle/>
          <a:p>
            <a:pPr marL="0" indent="0" algn="l">
              <a:spcAft>
                <a:spcPts val="300"/>
              </a:spcAft>
              <a:buNone/>
            </a:pPr>
            <a:r>
              <a:rPr lang="en-US" sz="1600" b="1" dirty="0">
                <a:solidFill>
                  <a:srgbClr val="FFFFFF"/>
                </a:solidFill>
                <a:latin typeface="Calibri" pitchFamily="34" charset="0"/>
                <a:ea typeface="Calibri" pitchFamily="34" charset="-122"/>
                <a:cs typeface="Calibri" pitchFamily="34" charset="-120"/>
              </a:rPr>
              <a:t>Why no repository layer?</a:t>
            </a:r>
            <a:endParaRPr lang="en-US" sz="1300" dirty="0"/>
          </a:p>
          <a:p>
            <a:pPr marL="0" indent="0" algn="l">
              <a:spcAft>
                <a:spcPts val="300"/>
              </a:spcAft>
              <a:buNone/>
            </a:pPr>
            <a:r>
              <a:rPr lang="en-US" sz="1300" dirty="0">
                <a:solidFill>
                  <a:srgbClr val="E3ECF6"/>
                </a:solidFill>
                <a:latin typeface="Calibri" pitchFamily="34" charset="0"/>
                <a:ea typeface="Calibri" pitchFamily="34" charset="-122"/>
                <a:cs typeface="Calibri" pitchFamily="34" charset="-120"/>
              </a:rPr>
              <a:t>The rules join shifts, rosters, skills and availability, so the services query AppDbContext directly with LINQ.</a:t>
            </a:r>
            <a:endParaRPr lang="en-US" sz="1300" dirty="0"/>
          </a:p>
        </p:txBody>
      </p:sp>
      <p:sp>
        <p:nvSpPr>
          <p:cNvPr id="42" name="Shape 32"/>
          <p:cNvSpPr/>
          <p:nvPr/>
        </p:nvSpPr>
        <p:spPr>
          <a:xfrm>
            <a:off x="7360920" y="5257800"/>
            <a:ext cx="4007815" cy="438912"/>
          </a:xfrm>
          <a:prstGeom prst="roundRect">
            <a:avLst>
              <a:gd name="adj" fmla="val 12500"/>
            </a:avLst>
          </a:prstGeom>
          <a:solidFill>
            <a:srgbClr val="1E1E1E"/>
          </a:solidFill>
          <a:ln w="9525">
            <a:solidFill>
              <a:srgbClr val="333337"/>
            </a:solidFill>
            <a:prstDash val="solid"/>
          </a:ln>
        </p:spPr>
        <p:txBody>
          <a:bodyPr/>
          <a:lstStyle/>
          <a:p>
            <a:endParaRPr lang="en-ZA"/>
          </a:p>
        </p:txBody>
      </p:sp>
      <p:sp>
        <p:nvSpPr>
          <p:cNvPr id="43" name="Text 33"/>
          <p:cNvSpPr txBox="1"/>
          <p:nvPr/>
        </p:nvSpPr>
        <p:spPr>
          <a:xfrm>
            <a:off x="7525512" y="5257800"/>
            <a:ext cx="3733495" cy="438912"/>
          </a:xfrm>
          <a:prstGeom prst="rect">
            <a:avLst/>
          </a:prstGeom>
          <a:noFill/>
          <a:ln/>
        </p:spPr>
        <p:txBody>
          <a:bodyPr wrap="square" lIns="0" tIns="0" rIns="0" bIns="0" rtlCol="0" anchor="ctr"/>
          <a:lstStyle/>
          <a:p>
            <a:pPr marL="0" indent="0">
              <a:buNone/>
            </a:pPr>
            <a:r>
              <a:rPr lang="en-US" sz="1200" dirty="0">
                <a:solidFill>
                  <a:srgbClr val="D4D4D4"/>
                </a:solidFill>
                <a:latin typeface="Courier New" pitchFamily="34" charset="0"/>
                <a:ea typeface="Courier New" pitchFamily="34" charset="-122"/>
                <a:cs typeface="Courier New" pitchFamily="34" charset="-120"/>
              </a:rPr>
              <a:t>.</a:t>
            </a:r>
            <a:r>
              <a:rPr lang="en-US" sz="1200" dirty="0">
                <a:solidFill>
                  <a:srgbClr val="DCDCAA"/>
                </a:solidFill>
                <a:latin typeface="Courier New" pitchFamily="34" charset="0"/>
                <a:ea typeface="Courier New" pitchFamily="34" charset="-122"/>
                <a:cs typeface="Courier New" pitchFamily="34" charset="-120"/>
              </a:rPr>
              <a:t>SelectMany</a:t>
            </a:r>
            <a:r>
              <a:rPr lang="en-US" sz="1200" dirty="0">
                <a:solidFill>
                  <a:srgbClr val="D4D4D4"/>
                </a:solidFill>
                <a:latin typeface="Courier New" pitchFamily="34" charset="0"/>
                <a:ea typeface="Courier New" pitchFamily="34" charset="-122"/>
                <a:cs typeface="Courier New" pitchFamily="34" charset="-120"/>
              </a:rPr>
              <a:t>(</a:t>
            </a:r>
            <a:r>
              <a:rPr lang="en-US" sz="1200" dirty="0">
                <a:solidFill>
                  <a:srgbClr val="9CDCFE"/>
                </a:solidFill>
                <a:latin typeface="Courier New" pitchFamily="34" charset="0"/>
                <a:ea typeface="Courier New" pitchFamily="34" charset="-122"/>
                <a:cs typeface="Courier New" pitchFamily="34" charset="-120"/>
              </a:rPr>
              <a:t>s</a:t>
            </a:r>
            <a:r>
              <a:rPr lang="en-US" sz="1200" dirty="0">
                <a:solidFill>
                  <a:srgbClr val="D4D4D4"/>
                </a:solidFill>
                <a:latin typeface="Courier New" pitchFamily="34" charset="0"/>
                <a:ea typeface="Courier New" pitchFamily="34" charset="-122"/>
                <a:cs typeface="Courier New" pitchFamily="34" charset="-120"/>
              </a:rPr>
              <a:t> =&gt; </a:t>
            </a:r>
            <a:r>
              <a:rPr lang="en-US" sz="1200" dirty="0">
                <a:solidFill>
                  <a:srgbClr val="9CDCFE"/>
                </a:solidFill>
                <a:latin typeface="Courier New" pitchFamily="34" charset="0"/>
                <a:ea typeface="Courier New" pitchFamily="34" charset="-122"/>
                <a:cs typeface="Courier New" pitchFamily="34" charset="-120"/>
              </a:rPr>
              <a:t>s</a:t>
            </a:r>
            <a:r>
              <a:rPr lang="en-US" sz="1200" dirty="0">
                <a:solidFill>
                  <a:srgbClr val="D4D4D4"/>
                </a:solidFill>
                <a:latin typeface="Courier New" pitchFamily="34" charset="0"/>
                <a:ea typeface="Courier New" pitchFamily="34" charset="-122"/>
                <a:cs typeface="Courier New" pitchFamily="34" charset="-120"/>
              </a:rPr>
              <a:t>.</a:t>
            </a:r>
            <a:r>
              <a:rPr lang="en-US" sz="1200" dirty="0">
                <a:solidFill>
                  <a:srgbClr val="4EC9B0"/>
                </a:solidFill>
                <a:latin typeface="Courier New" pitchFamily="34" charset="0"/>
                <a:ea typeface="Courier New" pitchFamily="34" charset="-122"/>
                <a:cs typeface="Courier New" pitchFamily="34" charset="-120"/>
              </a:rPr>
              <a:t>Skills</a:t>
            </a:r>
            <a:r>
              <a:rPr lang="en-US" sz="1200" dirty="0">
                <a:solidFill>
                  <a:srgbClr val="D4D4D4"/>
                </a:solidFill>
                <a:latin typeface="Courier New" pitchFamily="34" charset="0"/>
                <a:ea typeface="Courier New" pitchFamily="34" charset="-122"/>
                <a:cs typeface="Courier New" pitchFamily="34" charset="-120"/>
              </a:rPr>
              <a:t>)</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1D33"/>
        </a:solidFill>
        <a:effectLst/>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5AA9E6"/>
          </a:solidFill>
          <a:ln w="12700">
            <a:solidFill>
              <a:srgbClr val="5AA9E6"/>
            </a:solidFill>
            <a:prstDash val="solid"/>
          </a:ln>
        </p:spPr>
        <p:txBody>
          <a:bodyPr/>
          <a:lstStyle/>
          <a:p>
            <a:endParaRPr lang="en-ZA"/>
          </a:p>
        </p:txBody>
      </p:sp>
      <p:sp>
        <p:nvSpPr>
          <p:cNvPr id="3" name="Text 1"/>
          <p:cNvSpPr txBox="1"/>
          <p:nvPr/>
        </p:nvSpPr>
        <p:spPr>
          <a:xfrm>
            <a:off x="548640" y="384048"/>
            <a:ext cx="8229600" cy="274320"/>
          </a:xfrm>
          <a:prstGeom prst="rect">
            <a:avLst/>
          </a:prstGeom>
          <a:noFill/>
          <a:ln/>
        </p:spPr>
        <p:txBody>
          <a:bodyPr wrap="square" lIns="0" tIns="0" rIns="0" bIns="0" rtlCol="0" anchor="ctr"/>
          <a:lstStyle/>
          <a:p>
            <a:pPr marL="0" indent="0">
              <a:buNone/>
            </a:pPr>
            <a:r>
              <a:rPr lang="en-US" sz="1100" b="1" kern="0" spc="400" dirty="0">
                <a:solidFill>
                  <a:srgbClr val="5AA9E6"/>
                </a:solidFill>
                <a:latin typeface="Calibri" pitchFamily="34" charset="0"/>
                <a:ea typeface="Calibri" pitchFamily="34" charset="-122"/>
                <a:cs typeface="Calibri" pitchFamily="34" charset="-120"/>
              </a:rPr>
              <a:t>SHIFTS API</a:t>
            </a:r>
            <a:endParaRPr lang="en-US" sz="1100" dirty="0"/>
          </a:p>
        </p:txBody>
      </p:sp>
      <p:sp>
        <p:nvSpPr>
          <p:cNvPr id="4" name="Text 2"/>
          <p:cNvSpPr txBox="1"/>
          <p:nvPr/>
        </p:nvSpPr>
        <p:spPr>
          <a:xfrm>
            <a:off x="548640" y="658368"/>
            <a:ext cx="11094415" cy="566928"/>
          </a:xfrm>
          <a:prstGeom prst="rect">
            <a:avLst/>
          </a:prstGeom>
          <a:noFill/>
          <a:ln/>
        </p:spPr>
        <p:txBody>
          <a:bodyPr wrap="square" lIns="0" tIns="0" rIns="0" bIns="0"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Everyone can read shifts, only admins can change them</a:t>
            </a:r>
            <a:endParaRPr lang="en-US" sz="3000" dirty="0"/>
          </a:p>
        </p:txBody>
      </p:sp>
      <p:sp>
        <p:nvSpPr>
          <p:cNvPr id="5" name="Shape 3"/>
          <p:cNvSpPr/>
          <p:nvPr/>
        </p:nvSpPr>
        <p:spPr>
          <a:xfrm>
            <a:off x="548640" y="1463040"/>
            <a:ext cx="6309360" cy="585216"/>
          </a:xfrm>
          <a:prstGeom prst="roundRect">
            <a:avLst>
              <a:gd name="adj" fmla="val 15625"/>
            </a:avLst>
          </a:prstGeom>
          <a:solidFill>
            <a:srgbClr val="13304F"/>
          </a:solidFill>
          <a:ln w="12700">
            <a:solidFill>
              <a:srgbClr val="13304F"/>
            </a:solidFill>
            <a:prstDash val="solid"/>
          </a:ln>
        </p:spPr>
        <p:txBody>
          <a:bodyPr/>
          <a:lstStyle/>
          <a:p>
            <a:endParaRPr lang="en-ZA"/>
          </a:p>
        </p:txBody>
      </p:sp>
      <p:sp>
        <p:nvSpPr>
          <p:cNvPr id="6" name="Shape 4"/>
          <p:cNvSpPr/>
          <p:nvPr/>
        </p:nvSpPr>
        <p:spPr>
          <a:xfrm>
            <a:off x="685800" y="1581912"/>
            <a:ext cx="960120" cy="347472"/>
          </a:xfrm>
          <a:prstGeom prst="roundRect">
            <a:avLst>
              <a:gd name="adj" fmla="val 50000"/>
            </a:avLst>
          </a:prstGeom>
          <a:solidFill>
            <a:srgbClr val="7BD389"/>
          </a:solidFill>
          <a:ln w="12700">
            <a:solidFill>
              <a:srgbClr val="7BD389"/>
            </a:solidFill>
            <a:prstDash val="solid"/>
          </a:ln>
        </p:spPr>
        <p:txBody>
          <a:bodyPr/>
          <a:lstStyle/>
          <a:p>
            <a:endParaRPr lang="en-ZA"/>
          </a:p>
        </p:txBody>
      </p:sp>
      <p:sp>
        <p:nvSpPr>
          <p:cNvPr id="7" name="Text 5"/>
          <p:cNvSpPr txBox="1"/>
          <p:nvPr/>
        </p:nvSpPr>
        <p:spPr>
          <a:xfrm>
            <a:off x="685800" y="1581912"/>
            <a:ext cx="960120" cy="347472"/>
          </a:xfrm>
          <a:prstGeom prst="rect">
            <a:avLst/>
          </a:prstGeom>
          <a:noFill/>
          <a:ln/>
        </p:spPr>
        <p:txBody>
          <a:bodyPr wrap="square" lIns="0" tIns="0" rIns="0" bIns="0" rtlCol="0" anchor="ctr"/>
          <a:lstStyle/>
          <a:p>
            <a:pPr marL="0" indent="0" algn="ctr">
              <a:buNone/>
            </a:pPr>
            <a:r>
              <a:rPr lang="en-US" sz="1100" b="1" dirty="0">
                <a:solidFill>
                  <a:srgbClr val="0B1D33"/>
                </a:solidFill>
                <a:latin typeface="Courier New" pitchFamily="34" charset="0"/>
                <a:ea typeface="Courier New" pitchFamily="34" charset="-122"/>
                <a:cs typeface="Courier New" pitchFamily="34" charset="-120"/>
              </a:rPr>
              <a:t>GET</a:t>
            </a:r>
            <a:endParaRPr lang="en-US" sz="1100" dirty="0"/>
          </a:p>
        </p:txBody>
      </p:sp>
      <p:sp>
        <p:nvSpPr>
          <p:cNvPr id="8" name="Text 6"/>
          <p:cNvSpPr txBox="1"/>
          <p:nvPr/>
        </p:nvSpPr>
        <p:spPr>
          <a:xfrm>
            <a:off x="1828800" y="1463040"/>
            <a:ext cx="3566160" cy="585216"/>
          </a:xfrm>
          <a:prstGeom prst="rect">
            <a:avLst/>
          </a:prstGeom>
          <a:noFill/>
          <a:ln/>
        </p:spPr>
        <p:txBody>
          <a:bodyPr wrap="square" lIns="0" tIns="0" rIns="0" bIns="0" rtlCol="0" anchor="ctr"/>
          <a:lstStyle/>
          <a:p>
            <a:pPr marL="0" indent="0" algn="l">
              <a:spcAft>
                <a:spcPts val="300"/>
              </a:spcAft>
              <a:buNone/>
            </a:pPr>
            <a:r>
              <a:rPr lang="en-US" sz="1200" dirty="0">
                <a:solidFill>
                  <a:srgbClr val="FFFFFF"/>
                </a:solidFill>
                <a:latin typeface="Courier New" pitchFamily="34" charset="0"/>
                <a:ea typeface="Courier New" pitchFamily="34" charset="-122"/>
                <a:cs typeface="Courier New" pitchFamily="34" charset="-120"/>
              </a:rPr>
              <a:t>/api/Shifts</a:t>
            </a:r>
            <a:endParaRPr lang="en-US" sz="1200" dirty="0"/>
          </a:p>
        </p:txBody>
      </p:sp>
      <p:sp>
        <p:nvSpPr>
          <p:cNvPr id="9" name="Shape 7"/>
          <p:cNvSpPr/>
          <p:nvPr/>
        </p:nvSpPr>
        <p:spPr>
          <a:xfrm>
            <a:off x="5532120" y="1581912"/>
            <a:ext cx="1188720" cy="347472"/>
          </a:xfrm>
          <a:prstGeom prst="roundRect">
            <a:avLst>
              <a:gd name="adj" fmla="val 50000"/>
            </a:avLst>
          </a:prstGeom>
          <a:solidFill>
            <a:srgbClr val="0B1D33"/>
          </a:solidFill>
          <a:ln w="12700">
            <a:solidFill>
              <a:srgbClr val="0B1D33"/>
            </a:solidFill>
            <a:prstDash val="solid"/>
          </a:ln>
        </p:spPr>
        <p:txBody>
          <a:bodyPr/>
          <a:lstStyle/>
          <a:p>
            <a:endParaRPr lang="en-ZA"/>
          </a:p>
        </p:txBody>
      </p:sp>
      <p:sp>
        <p:nvSpPr>
          <p:cNvPr id="10" name="Text 8"/>
          <p:cNvSpPr txBox="1"/>
          <p:nvPr/>
        </p:nvSpPr>
        <p:spPr>
          <a:xfrm>
            <a:off x="5532120" y="1581912"/>
            <a:ext cx="1188720" cy="347472"/>
          </a:xfrm>
          <a:prstGeom prst="rect">
            <a:avLst/>
          </a:prstGeom>
          <a:noFill/>
          <a:ln/>
        </p:spPr>
        <p:txBody>
          <a:bodyPr wrap="square" lIns="0" tIns="0" rIns="0" bIns="0" rtlCol="0" anchor="ctr"/>
          <a:lstStyle/>
          <a:p>
            <a:pPr marL="0" indent="0" algn="ctr">
              <a:buNone/>
            </a:pPr>
            <a:r>
              <a:rPr lang="en-US" sz="1100" b="1" dirty="0">
                <a:solidFill>
                  <a:srgbClr val="93ACC6"/>
                </a:solidFill>
                <a:latin typeface="Calibri" pitchFamily="34" charset="0"/>
                <a:ea typeface="Calibri" pitchFamily="34" charset="-122"/>
                <a:cs typeface="Calibri" pitchFamily="34" charset="-120"/>
              </a:rPr>
              <a:t>Any user</a:t>
            </a:r>
            <a:endParaRPr lang="en-US" sz="1100" dirty="0"/>
          </a:p>
        </p:txBody>
      </p:sp>
      <p:sp>
        <p:nvSpPr>
          <p:cNvPr id="11" name="Shape 9"/>
          <p:cNvSpPr/>
          <p:nvPr/>
        </p:nvSpPr>
        <p:spPr>
          <a:xfrm>
            <a:off x="548640" y="2176272"/>
            <a:ext cx="6309360" cy="585216"/>
          </a:xfrm>
          <a:prstGeom prst="roundRect">
            <a:avLst>
              <a:gd name="adj" fmla="val 15625"/>
            </a:avLst>
          </a:prstGeom>
          <a:solidFill>
            <a:srgbClr val="13304F"/>
          </a:solidFill>
          <a:ln w="12700">
            <a:solidFill>
              <a:srgbClr val="13304F"/>
            </a:solidFill>
            <a:prstDash val="solid"/>
          </a:ln>
        </p:spPr>
        <p:txBody>
          <a:bodyPr/>
          <a:lstStyle/>
          <a:p>
            <a:endParaRPr lang="en-ZA"/>
          </a:p>
        </p:txBody>
      </p:sp>
      <p:sp>
        <p:nvSpPr>
          <p:cNvPr id="12" name="Shape 10"/>
          <p:cNvSpPr/>
          <p:nvPr/>
        </p:nvSpPr>
        <p:spPr>
          <a:xfrm>
            <a:off x="685800" y="2295144"/>
            <a:ext cx="960120" cy="347472"/>
          </a:xfrm>
          <a:prstGeom prst="roundRect">
            <a:avLst>
              <a:gd name="adj" fmla="val 50000"/>
            </a:avLst>
          </a:prstGeom>
          <a:solidFill>
            <a:srgbClr val="7BD389"/>
          </a:solidFill>
          <a:ln w="12700">
            <a:solidFill>
              <a:srgbClr val="7BD389"/>
            </a:solidFill>
            <a:prstDash val="solid"/>
          </a:ln>
        </p:spPr>
        <p:txBody>
          <a:bodyPr/>
          <a:lstStyle/>
          <a:p>
            <a:endParaRPr lang="en-ZA"/>
          </a:p>
        </p:txBody>
      </p:sp>
      <p:sp>
        <p:nvSpPr>
          <p:cNvPr id="13" name="Text 11"/>
          <p:cNvSpPr txBox="1"/>
          <p:nvPr/>
        </p:nvSpPr>
        <p:spPr>
          <a:xfrm>
            <a:off x="685800" y="2295144"/>
            <a:ext cx="960120" cy="347472"/>
          </a:xfrm>
          <a:prstGeom prst="rect">
            <a:avLst/>
          </a:prstGeom>
          <a:noFill/>
          <a:ln/>
        </p:spPr>
        <p:txBody>
          <a:bodyPr wrap="square" lIns="0" tIns="0" rIns="0" bIns="0" rtlCol="0" anchor="ctr"/>
          <a:lstStyle/>
          <a:p>
            <a:pPr marL="0" indent="0" algn="ctr">
              <a:buNone/>
            </a:pPr>
            <a:r>
              <a:rPr lang="en-US" sz="1100" b="1" dirty="0">
                <a:solidFill>
                  <a:srgbClr val="0B1D33"/>
                </a:solidFill>
                <a:latin typeface="Courier New" pitchFamily="34" charset="0"/>
                <a:ea typeface="Courier New" pitchFamily="34" charset="-122"/>
                <a:cs typeface="Courier New" pitchFamily="34" charset="-120"/>
              </a:rPr>
              <a:t>GET</a:t>
            </a:r>
            <a:endParaRPr lang="en-US" sz="1100" dirty="0"/>
          </a:p>
        </p:txBody>
      </p:sp>
      <p:sp>
        <p:nvSpPr>
          <p:cNvPr id="14" name="Text 12"/>
          <p:cNvSpPr txBox="1"/>
          <p:nvPr/>
        </p:nvSpPr>
        <p:spPr>
          <a:xfrm>
            <a:off x="1828800" y="2176272"/>
            <a:ext cx="3566160" cy="585216"/>
          </a:xfrm>
          <a:prstGeom prst="rect">
            <a:avLst/>
          </a:prstGeom>
          <a:noFill/>
          <a:ln/>
        </p:spPr>
        <p:txBody>
          <a:bodyPr wrap="square" lIns="0" tIns="0" rIns="0" bIns="0" rtlCol="0" anchor="ctr"/>
          <a:lstStyle/>
          <a:p>
            <a:pPr marL="0" indent="0" algn="l">
              <a:spcAft>
                <a:spcPts val="300"/>
              </a:spcAft>
              <a:buNone/>
            </a:pPr>
            <a:r>
              <a:rPr lang="en-US" sz="1200" dirty="0">
                <a:solidFill>
                  <a:srgbClr val="FFFFFF"/>
                </a:solidFill>
                <a:latin typeface="Courier New" pitchFamily="34" charset="0"/>
                <a:ea typeface="Courier New" pitchFamily="34" charset="-122"/>
                <a:cs typeface="Courier New" pitchFamily="34" charset="-120"/>
              </a:rPr>
              <a:t>/api/Shifts/week?weekStartDate=</a:t>
            </a:r>
            <a:endParaRPr lang="en-US" sz="1200" dirty="0"/>
          </a:p>
        </p:txBody>
      </p:sp>
      <p:sp>
        <p:nvSpPr>
          <p:cNvPr id="15" name="Shape 13"/>
          <p:cNvSpPr/>
          <p:nvPr/>
        </p:nvSpPr>
        <p:spPr>
          <a:xfrm>
            <a:off x="5532120" y="2295144"/>
            <a:ext cx="1188720" cy="347472"/>
          </a:xfrm>
          <a:prstGeom prst="roundRect">
            <a:avLst>
              <a:gd name="adj" fmla="val 50000"/>
            </a:avLst>
          </a:prstGeom>
          <a:solidFill>
            <a:srgbClr val="0B1D33"/>
          </a:solidFill>
          <a:ln w="12700">
            <a:solidFill>
              <a:srgbClr val="0B1D33"/>
            </a:solidFill>
            <a:prstDash val="solid"/>
          </a:ln>
        </p:spPr>
        <p:txBody>
          <a:bodyPr/>
          <a:lstStyle/>
          <a:p>
            <a:endParaRPr lang="en-ZA"/>
          </a:p>
        </p:txBody>
      </p:sp>
      <p:sp>
        <p:nvSpPr>
          <p:cNvPr id="16" name="Text 14"/>
          <p:cNvSpPr txBox="1"/>
          <p:nvPr/>
        </p:nvSpPr>
        <p:spPr>
          <a:xfrm>
            <a:off x="5532120" y="2295144"/>
            <a:ext cx="1188720" cy="347472"/>
          </a:xfrm>
          <a:prstGeom prst="rect">
            <a:avLst/>
          </a:prstGeom>
          <a:noFill/>
          <a:ln/>
        </p:spPr>
        <p:txBody>
          <a:bodyPr wrap="square" lIns="0" tIns="0" rIns="0" bIns="0" rtlCol="0" anchor="ctr"/>
          <a:lstStyle/>
          <a:p>
            <a:pPr marL="0" indent="0" algn="ctr">
              <a:buNone/>
            </a:pPr>
            <a:r>
              <a:rPr lang="en-US" sz="1100" b="1" dirty="0">
                <a:solidFill>
                  <a:srgbClr val="93ACC6"/>
                </a:solidFill>
                <a:latin typeface="Calibri" pitchFamily="34" charset="0"/>
                <a:ea typeface="Calibri" pitchFamily="34" charset="-122"/>
                <a:cs typeface="Calibri" pitchFamily="34" charset="-120"/>
              </a:rPr>
              <a:t>Any user</a:t>
            </a:r>
            <a:endParaRPr lang="en-US" sz="1100" dirty="0"/>
          </a:p>
        </p:txBody>
      </p:sp>
      <p:sp>
        <p:nvSpPr>
          <p:cNvPr id="17" name="Shape 15"/>
          <p:cNvSpPr/>
          <p:nvPr/>
        </p:nvSpPr>
        <p:spPr>
          <a:xfrm>
            <a:off x="548640" y="2889504"/>
            <a:ext cx="6309360" cy="585216"/>
          </a:xfrm>
          <a:prstGeom prst="roundRect">
            <a:avLst>
              <a:gd name="adj" fmla="val 15625"/>
            </a:avLst>
          </a:prstGeom>
          <a:solidFill>
            <a:srgbClr val="13304F"/>
          </a:solidFill>
          <a:ln w="12700">
            <a:solidFill>
              <a:srgbClr val="13304F"/>
            </a:solidFill>
            <a:prstDash val="solid"/>
          </a:ln>
        </p:spPr>
        <p:txBody>
          <a:bodyPr/>
          <a:lstStyle/>
          <a:p>
            <a:endParaRPr lang="en-ZA"/>
          </a:p>
        </p:txBody>
      </p:sp>
      <p:sp>
        <p:nvSpPr>
          <p:cNvPr id="18" name="Shape 16"/>
          <p:cNvSpPr/>
          <p:nvPr/>
        </p:nvSpPr>
        <p:spPr>
          <a:xfrm>
            <a:off x="685800" y="3008376"/>
            <a:ext cx="960120" cy="347472"/>
          </a:xfrm>
          <a:prstGeom prst="roundRect">
            <a:avLst>
              <a:gd name="adj" fmla="val 50000"/>
            </a:avLst>
          </a:prstGeom>
          <a:solidFill>
            <a:srgbClr val="7BD389"/>
          </a:solidFill>
          <a:ln w="12700">
            <a:solidFill>
              <a:srgbClr val="7BD389"/>
            </a:solidFill>
            <a:prstDash val="solid"/>
          </a:ln>
        </p:spPr>
        <p:txBody>
          <a:bodyPr/>
          <a:lstStyle/>
          <a:p>
            <a:endParaRPr lang="en-ZA"/>
          </a:p>
        </p:txBody>
      </p:sp>
      <p:sp>
        <p:nvSpPr>
          <p:cNvPr id="19" name="Text 17"/>
          <p:cNvSpPr txBox="1"/>
          <p:nvPr/>
        </p:nvSpPr>
        <p:spPr>
          <a:xfrm>
            <a:off x="685800" y="3008376"/>
            <a:ext cx="960120" cy="347472"/>
          </a:xfrm>
          <a:prstGeom prst="rect">
            <a:avLst/>
          </a:prstGeom>
          <a:noFill/>
          <a:ln/>
        </p:spPr>
        <p:txBody>
          <a:bodyPr wrap="square" lIns="0" tIns="0" rIns="0" bIns="0" rtlCol="0" anchor="ctr"/>
          <a:lstStyle/>
          <a:p>
            <a:pPr marL="0" indent="0" algn="ctr">
              <a:buNone/>
            </a:pPr>
            <a:r>
              <a:rPr lang="en-US" sz="1100" b="1" dirty="0">
                <a:solidFill>
                  <a:srgbClr val="0B1D33"/>
                </a:solidFill>
                <a:latin typeface="Courier New" pitchFamily="34" charset="0"/>
                <a:ea typeface="Courier New" pitchFamily="34" charset="-122"/>
                <a:cs typeface="Courier New" pitchFamily="34" charset="-120"/>
              </a:rPr>
              <a:t>GET</a:t>
            </a:r>
            <a:endParaRPr lang="en-US" sz="1100" dirty="0"/>
          </a:p>
        </p:txBody>
      </p:sp>
      <p:sp>
        <p:nvSpPr>
          <p:cNvPr id="20" name="Text 18"/>
          <p:cNvSpPr txBox="1"/>
          <p:nvPr/>
        </p:nvSpPr>
        <p:spPr>
          <a:xfrm>
            <a:off x="1828800" y="2889504"/>
            <a:ext cx="3566160" cy="585216"/>
          </a:xfrm>
          <a:prstGeom prst="rect">
            <a:avLst/>
          </a:prstGeom>
          <a:noFill/>
          <a:ln/>
        </p:spPr>
        <p:txBody>
          <a:bodyPr wrap="square" lIns="0" tIns="0" rIns="0" bIns="0" rtlCol="0" anchor="ctr"/>
          <a:lstStyle/>
          <a:p>
            <a:pPr marL="0" indent="0" algn="l">
              <a:spcAft>
                <a:spcPts val="300"/>
              </a:spcAft>
              <a:buNone/>
            </a:pPr>
            <a:r>
              <a:rPr lang="en-US" sz="1200" dirty="0">
                <a:solidFill>
                  <a:srgbClr val="FFFFFF"/>
                </a:solidFill>
                <a:latin typeface="Courier New" pitchFamily="34" charset="0"/>
                <a:ea typeface="Courier New" pitchFamily="34" charset="-122"/>
                <a:cs typeface="Courier New" pitchFamily="34" charset="-120"/>
              </a:rPr>
              <a:t>/api/Shifts/locations</a:t>
            </a:r>
            <a:endParaRPr lang="en-US" sz="1200" dirty="0"/>
          </a:p>
        </p:txBody>
      </p:sp>
      <p:sp>
        <p:nvSpPr>
          <p:cNvPr id="21" name="Shape 19"/>
          <p:cNvSpPr/>
          <p:nvPr/>
        </p:nvSpPr>
        <p:spPr>
          <a:xfrm>
            <a:off x="5532120" y="3008376"/>
            <a:ext cx="1188720" cy="347472"/>
          </a:xfrm>
          <a:prstGeom prst="roundRect">
            <a:avLst>
              <a:gd name="adj" fmla="val 50000"/>
            </a:avLst>
          </a:prstGeom>
          <a:solidFill>
            <a:srgbClr val="0B1D33"/>
          </a:solidFill>
          <a:ln w="12700">
            <a:solidFill>
              <a:srgbClr val="0B1D33"/>
            </a:solidFill>
            <a:prstDash val="solid"/>
          </a:ln>
        </p:spPr>
        <p:txBody>
          <a:bodyPr/>
          <a:lstStyle/>
          <a:p>
            <a:endParaRPr lang="en-ZA"/>
          </a:p>
        </p:txBody>
      </p:sp>
      <p:sp>
        <p:nvSpPr>
          <p:cNvPr id="22" name="Text 20"/>
          <p:cNvSpPr txBox="1"/>
          <p:nvPr/>
        </p:nvSpPr>
        <p:spPr>
          <a:xfrm>
            <a:off x="5532120" y="3008376"/>
            <a:ext cx="1188720" cy="347472"/>
          </a:xfrm>
          <a:prstGeom prst="rect">
            <a:avLst/>
          </a:prstGeom>
          <a:noFill/>
          <a:ln/>
        </p:spPr>
        <p:txBody>
          <a:bodyPr wrap="square" lIns="0" tIns="0" rIns="0" bIns="0" rtlCol="0" anchor="ctr"/>
          <a:lstStyle/>
          <a:p>
            <a:pPr marL="0" indent="0" algn="ctr">
              <a:buNone/>
            </a:pPr>
            <a:r>
              <a:rPr lang="en-US" sz="1100" b="1" dirty="0">
                <a:solidFill>
                  <a:srgbClr val="93ACC6"/>
                </a:solidFill>
                <a:latin typeface="Calibri" pitchFamily="34" charset="0"/>
                <a:ea typeface="Calibri" pitchFamily="34" charset="-122"/>
                <a:cs typeface="Calibri" pitchFamily="34" charset="-120"/>
              </a:rPr>
              <a:t>Any user</a:t>
            </a:r>
            <a:endParaRPr lang="en-US" sz="1100" dirty="0"/>
          </a:p>
        </p:txBody>
      </p:sp>
      <p:sp>
        <p:nvSpPr>
          <p:cNvPr id="23" name="Shape 21"/>
          <p:cNvSpPr/>
          <p:nvPr/>
        </p:nvSpPr>
        <p:spPr>
          <a:xfrm>
            <a:off x="548640" y="3602736"/>
            <a:ext cx="6309360" cy="585216"/>
          </a:xfrm>
          <a:prstGeom prst="roundRect">
            <a:avLst>
              <a:gd name="adj" fmla="val 15625"/>
            </a:avLst>
          </a:prstGeom>
          <a:solidFill>
            <a:srgbClr val="13304F"/>
          </a:solidFill>
          <a:ln w="12700">
            <a:solidFill>
              <a:srgbClr val="13304F"/>
            </a:solidFill>
            <a:prstDash val="solid"/>
          </a:ln>
        </p:spPr>
        <p:txBody>
          <a:bodyPr/>
          <a:lstStyle/>
          <a:p>
            <a:endParaRPr lang="en-ZA"/>
          </a:p>
        </p:txBody>
      </p:sp>
      <p:sp>
        <p:nvSpPr>
          <p:cNvPr id="24" name="Shape 22"/>
          <p:cNvSpPr/>
          <p:nvPr/>
        </p:nvSpPr>
        <p:spPr>
          <a:xfrm>
            <a:off x="685800" y="3721608"/>
            <a:ext cx="960120" cy="347472"/>
          </a:xfrm>
          <a:prstGeom prst="roundRect">
            <a:avLst>
              <a:gd name="adj" fmla="val 50000"/>
            </a:avLst>
          </a:prstGeom>
          <a:solidFill>
            <a:srgbClr val="F6AE2D"/>
          </a:solidFill>
          <a:ln w="12700">
            <a:solidFill>
              <a:srgbClr val="F6AE2D"/>
            </a:solidFill>
            <a:prstDash val="solid"/>
          </a:ln>
        </p:spPr>
        <p:txBody>
          <a:bodyPr/>
          <a:lstStyle/>
          <a:p>
            <a:endParaRPr lang="en-ZA"/>
          </a:p>
        </p:txBody>
      </p:sp>
      <p:sp>
        <p:nvSpPr>
          <p:cNvPr id="25" name="Text 23"/>
          <p:cNvSpPr txBox="1"/>
          <p:nvPr/>
        </p:nvSpPr>
        <p:spPr>
          <a:xfrm>
            <a:off x="685800" y="3721608"/>
            <a:ext cx="960120" cy="347472"/>
          </a:xfrm>
          <a:prstGeom prst="rect">
            <a:avLst/>
          </a:prstGeom>
          <a:noFill/>
          <a:ln/>
        </p:spPr>
        <p:txBody>
          <a:bodyPr wrap="square" lIns="0" tIns="0" rIns="0" bIns="0" rtlCol="0" anchor="ctr"/>
          <a:lstStyle/>
          <a:p>
            <a:pPr marL="0" indent="0" algn="ctr">
              <a:buNone/>
            </a:pPr>
            <a:r>
              <a:rPr lang="en-US" sz="1100" b="1" dirty="0">
                <a:solidFill>
                  <a:srgbClr val="0B1D33"/>
                </a:solidFill>
                <a:latin typeface="Courier New" pitchFamily="34" charset="0"/>
                <a:ea typeface="Courier New" pitchFamily="34" charset="-122"/>
                <a:cs typeface="Courier New" pitchFamily="34" charset="-120"/>
              </a:rPr>
              <a:t>POST</a:t>
            </a:r>
            <a:endParaRPr lang="en-US" sz="1100" dirty="0"/>
          </a:p>
        </p:txBody>
      </p:sp>
      <p:sp>
        <p:nvSpPr>
          <p:cNvPr id="26" name="Text 24"/>
          <p:cNvSpPr txBox="1"/>
          <p:nvPr/>
        </p:nvSpPr>
        <p:spPr>
          <a:xfrm>
            <a:off x="1828800" y="3602736"/>
            <a:ext cx="3566160" cy="585216"/>
          </a:xfrm>
          <a:prstGeom prst="rect">
            <a:avLst/>
          </a:prstGeom>
          <a:noFill/>
          <a:ln/>
        </p:spPr>
        <p:txBody>
          <a:bodyPr wrap="square" lIns="0" tIns="0" rIns="0" bIns="0" rtlCol="0" anchor="ctr"/>
          <a:lstStyle/>
          <a:p>
            <a:pPr marL="0" indent="0" algn="l">
              <a:spcAft>
                <a:spcPts val="300"/>
              </a:spcAft>
              <a:buNone/>
            </a:pPr>
            <a:r>
              <a:rPr lang="en-US" sz="1200" dirty="0">
                <a:solidFill>
                  <a:srgbClr val="FFFFFF"/>
                </a:solidFill>
                <a:latin typeface="Courier New" pitchFamily="34" charset="0"/>
                <a:ea typeface="Courier New" pitchFamily="34" charset="-122"/>
                <a:cs typeface="Courier New" pitchFamily="34" charset="-120"/>
              </a:rPr>
              <a:t>/api/Shifts</a:t>
            </a:r>
            <a:endParaRPr lang="en-US" sz="1200" dirty="0"/>
          </a:p>
        </p:txBody>
      </p:sp>
      <p:sp>
        <p:nvSpPr>
          <p:cNvPr id="27" name="Shape 25"/>
          <p:cNvSpPr/>
          <p:nvPr/>
        </p:nvSpPr>
        <p:spPr>
          <a:xfrm>
            <a:off x="5532120" y="3721608"/>
            <a:ext cx="1188720" cy="347472"/>
          </a:xfrm>
          <a:prstGeom prst="roundRect">
            <a:avLst>
              <a:gd name="adj" fmla="val 50000"/>
            </a:avLst>
          </a:prstGeom>
          <a:solidFill>
            <a:srgbClr val="1A3D63"/>
          </a:solidFill>
          <a:ln w="12700">
            <a:solidFill>
              <a:srgbClr val="1A3D63"/>
            </a:solidFill>
            <a:prstDash val="solid"/>
          </a:ln>
        </p:spPr>
        <p:txBody>
          <a:bodyPr/>
          <a:lstStyle/>
          <a:p>
            <a:endParaRPr lang="en-ZA"/>
          </a:p>
        </p:txBody>
      </p:sp>
      <p:sp>
        <p:nvSpPr>
          <p:cNvPr id="28" name="Text 26"/>
          <p:cNvSpPr txBox="1"/>
          <p:nvPr/>
        </p:nvSpPr>
        <p:spPr>
          <a:xfrm>
            <a:off x="5532120" y="3721608"/>
            <a:ext cx="1188720" cy="347472"/>
          </a:xfrm>
          <a:prstGeom prst="rect">
            <a:avLst/>
          </a:prstGeom>
          <a:noFill/>
          <a:ln/>
        </p:spPr>
        <p:txBody>
          <a:bodyPr wrap="square" lIns="0" tIns="0" rIns="0" bIns="0" rtlCol="0" anchor="ctr"/>
          <a:lstStyle/>
          <a:p>
            <a:pPr marL="0" indent="0" algn="ctr">
              <a:buNone/>
            </a:pPr>
            <a:r>
              <a:rPr lang="en-US" sz="1100" b="1" dirty="0">
                <a:solidFill>
                  <a:srgbClr val="F6AE2D"/>
                </a:solidFill>
                <a:latin typeface="Calibri" pitchFamily="34" charset="0"/>
                <a:ea typeface="Calibri" pitchFamily="34" charset="-122"/>
                <a:cs typeface="Calibri" pitchFamily="34" charset="-120"/>
              </a:rPr>
              <a:t>Admin</a:t>
            </a:r>
            <a:endParaRPr lang="en-US" sz="1100" dirty="0"/>
          </a:p>
        </p:txBody>
      </p:sp>
      <p:sp>
        <p:nvSpPr>
          <p:cNvPr id="29" name="Shape 27"/>
          <p:cNvSpPr/>
          <p:nvPr/>
        </p:nvSpPr>
        <p:spPr>
          <a:xfrm>
            <a:off x="548640" y="4315968"/>
            <a:ext cx="6309360" cy="585216"/>
          </a:xfrm>
          <a:prstGeom prst="roundRect">
            <a:avLst>
              <a:gd name="adj" fmla="val 15625"/>
            </a:avLst>
          </a:prstGeom>
          <a:solidFill>
            <a:srgbClr val="13304F"/>
          </a:solidFill>
          <a:ln w="12700">
            <a:solidFill>
              <a:srgbClr val="13304F"/>
            </a:solidFill>
            <a:prstDash val="solid"/>
          </a:ln>
        </p:spPr>
        <p:txBody>
          <a:bodyPr/>
          <a:lstStyle/>
          <a:p>
            <a:endParaRPr lang="en-ZA"/>
          </a:p>
        </p:txBody>
      </p:sp>
      <p:sp>
        <p:nvSpPr>
          <p:cNvPr id="30" name="Shape 28"/>
          <p:cNvSpPr/>
          <p:nvPr/>
        </p:nvSpPr>
        <p:spPr>
          <a:xfrm>
            <a:off x="685800" y="4434840"/>
            <a:ext cx="960120" cy="347472"/>
          </a:xfrm>
          <a:prstGeom prst="roundRect">
            <a:avLst>
              <a:gd name="adj" fmla="val 50000"/>
            </a:avLst>
          </a:prstGeom>
          <a:solidFill>
            <a:srgbClr val="5AA9E6"/>
          </a:solidFill>
          <a:ln w="12700">
            <a:solidFill>
              <a:srgbClr val="5AA9E6"/>
            </a:solidFill>
            <a:prstDash val="solid"/>
          </a:ln>
        </p:spPr>
        <p:txBody>
          <a:bodyPr/>
          <a:lstStyle/>
          <a:p>
            <a:endParaRPr lang="en-ZA"/>
          </a:p>
        </p:txBody>
      </p:sp>
      <p:sp>
        <p:nvSpPr>
          <p:cNvPr id="31" name="Text 29"/>
          <p:cNvSpPr txBox="1"/>
          <p:nvPr/>
        </p:nvSpPr>
        <p:spPr>
          <a:xfrm>
            <a:off x="685800" y="4434840"/>
            <a:ext cx="960120" cy="347472"/>
          </a:xfrm>
          <a:prstGeom prst="rect">
            <a:avLst/>
          </a:prstGeom>
          <a:noFill/>
          <a:ln/>
        </p:spPr>
        <p:txBody>
          <a:bodyPr wrap="square" lIns="0" tIns="0" rIns="0" bIns="0" rtlCol="0" anchor="ctr"/>
          <a:lstStyle/>
          <a:p>
            <a:pPr marL="0" indent="0" algn="ctr">
              <a:buNone/>
            </a:pPr>
            <a:r>
              <a:rPr lang="en-US" sz="1100" b="1" dirty="0">
                <a:solidFill>
                  <a:srgbClr val="0B1D33"/>
                </a:solidFill>
                <a:latin typeface="Courier New" pitchFamily="34" charset="0"/>
                <a:ea typeface="Courier New" pitchFamily="34" charset="-122"/>
                <a:cs typeface="Courier New" pitchFamily="34" charset="-120"/>
              </a:rPr>
              <a:t>PUT</a:t>
            </a:r>
            <a:endParaRPr lang="en-US" sz="1100" dirty="0"/>
          </a:p>
        </p:txBody>
      </p:sp>
      <p:sp>
        <p:nvSpPr>
          <p:cNvPr id="32" name="Text 30"/>
          <p:cNvSpPr txBox="1"/>
          <p:nvPr/>
        </p:nvSpPr>
        <p:spPr>
          <a:xfrm>
            <a:off x="1828800" y="4315968"/>
            <a:ext cx="3566160" cy="585216"/>
          </a:xfrm>
          <a:prstGeom prst="rect">
            <a:avLst/>
          </a:prstGeom>
          <a:noFill/>
          <a:ln/>
        </p:spPr>
        <p:txBody>
          <a:bodyPr wrap="square" lIns="0" tIns="0" rIns="0" bIns="0" rtlCol="0" anchor="ctr"/>
          <a:lstStyle/>
          <a:p>
            <a:pPr marL="0" indent="0" algn="l">
              <a:spcAft>
                <a:spcPts val="300"/>
              </a:spcAft>
              <a:buNone/>
            </a:pPr>
            <a:r>
              <a:rPr lang="en-US" sz="1200" dirty="0">
                <a:solidFill>
                  <a:srgbClr val="FFFFFF"/>
                </a:solidFill>
                <a:latin typeface="Courier New" pitchFamily="34" charset="0"/>
                <a:ea typeface="Courier New" pitchFamily="34" charset="-122"/>
                <a:cs typeface="Courier New" pitchFamily="34" charset="-120"/>
              </a:rPr>
              <a:t>/api/Shifts/{id}</a:t>
            </a:r>
            <a:endParaRPr lang="en-US" sz="1200" dirty="0"/>
          </a:p>
        </p:txBody>
      </p:sp>
      <p:sp>
        <p:nvSpPr>
          <p:cNvPr id="33" name="Shape 31"/>
          <p:cNvSpPr/>
          <p:nvPr/>
        </p:nvSpPr>
        <p:spPr>
          <a:xfrm>
            <a:off x="5532120" y="4434840"/>
            <a:ext cx="1188720" cy="347472"/>
          </a:xfrm>
          <a:prstGeom prst="roundRect">
            <a:avLst>
              <a:gd name="adj" fmla="val 50000"/>
            </a:avLst>
          </a:prstGeom>
          <a:solidFill>
            <a:srgbClr val="1A3D63"/>
          </a:solidFill>
          <a:ln w="12700">
            <a:solidFill>
              <a:srgbClr val="1A3D63"/>
            </a:solidFill>
            <a:prstDash val="solid"/>
          </a:ln>
        </p:spPr>
        <p:txBody>
          <a:bodyPr/>
          <a:lstStyle/>
          <a:p>
            <a:endParaRPr lang="en-ZA"/>
          </a:p>
        </p:txBody>
      </p:sp>
      <p:sp>
        <p:nvSpPr>
          <p:cNvPr id="34" name="Text 32"/>
          <p:cNvSpPr txBox="1"/>
          <p:nvPr/>
        </p:nvSpPr>
        <p:spPr>
          <a:xfrm>
            <a:off x="5532120" y="4434840"/>
            <a:ext cx="1188720" cy="347472"/>
          </a:xfrm>
          <a:prstGeom prst="rect">
            <a:avLst/>
          </a:prstGeom>
          <a:noFill/>
          <a:ln/>
        </p:spPr>
        <p:txBody>
          <a:bodyPr wrap="square" lIns="0" tIns="0" rIns="0" bIns="0" rtlCol="0" anchor="ctr"/>
          <a:lstStyle/>
          <a:p>
            <a:pPr marL="0" indent="0" algn="ctr">
              <a:buNone/>
            </a:pPr>
            <a:r>
              <a:rPr lang="en-US" sz="1100" b="1" dirty="0">
                <a:solidFill>
                  <a:srgbClr val="F6AE2D"/>
                </a:solidFill>
                <a:latin typeface="Calibri" pitchFamily="34" charset="0"/>
                <a:ea typeface="Calibri" pitchFamily="34" charset="-122"/>
                <a:cs typeface="Calibri" pitchFamily="34" charset="-120"/>
              </a:rPr>
              <a:t>Admin</a:t>
            </a:r>
            <a:endParaRPr lang="en-US" sz="1100" dirty="0"/>
          </a:p>
        </p:txBody>
      </p:sp>
      <p:sp>
        <p:nvSpPr>
          <p:cNvPr id="35" name="Shape 33"/>
          <p:cNvSpPr/>
          <p:nvPr/>
        </p:nvSpPr>
        <p:spPr>
          <a:xfrm>
            <a:off x="548640" y="5029200"/>
            <a:ext cx="6309360" cy="585216"/>
          </a:xfrm>
          <a:prstGeom prst="roundRect">
            <a:avLst>
              <a:gd name="adj" fmla="val 15625"/>
            </a:avLst>
          </a:prstGeom>
          <a:solidFill>
            <a:srgbClr val="13304F"/>
          </a:solidFill>
          <a:ln w="12700">
            <a:solidFill>
              <a:srgbClr val="13304F"/>
            </a:solidFill>
            <a:prstDash val="solid"/>
          </a:ln>
        </p:spPr>
        <p:txBody>
          <a:bodyPr/>
          <a:lstStyle/>
          <a:p>
            <a:endParaRPr lang="en-ZA"/>
          </a:p>
        </p:txBody>
      </p:sp>
      <p:sp>
        <p:nvSpPr>
          <p:cNvPr id="36" name="Shape 34"/>
          <p:cNvSpPr/>
          <p:nvPr/>
        </p:nvSpPr>
        <p:spPr>
          <a:xfrm>
            <a:off x="685800" y="5148072"/>
            <a:ext cx="960120" cy="347472"/>
          </a:xfrm>
          <a:prstGeom prst="roundRect">
            <a:avLst>
              <a:gd name="adj" fmla="val 50000"/>
            </a:avLst>
          </a:prstGeom>
          <a:solidFill>
            <a:srgbClr val="F07167"/>
          </a:solidFill>
          <a:ln w="12700">
            <a:solidFill>
              <a:srgbClr val="F07167"/>
            </a:solidFill>
            <a:prstDash val="solid"/>
          </a:ln>
        </p:spPr>
        <p:txBody>
          <a:bodyPr/>
          <a:lstStyle/>
          <a:p>
            <a:endParaRPr lang="en-ZA"/>
          </a:p>
        </p:txBody>
      </p:sp>
      <p:sp>
        <p:nvSpPr>
          <p:cNvPr id="37" name="Text 35"/>
          <p:cNvSpPr txBox="1"/>
          <p:nvPr/>
        </p:nvSpPr>
        <p:spPr>
          <a:xfrm>
            <a:off x="685800" y="5148072"/>
            <a:ext cx="960120" cy="347472"/>
          </a:xfrm>
          <a:prstGeom prst="rect">
            <a:avLst/>
          </a:prstGeom>
          <a:noFill/>
          <a:ln/>
        </p:spPr>
        <p:txBody>
          <a:bodyPr wrap="square" lIns="0" tIns="0" rIns="0" bIns="0" rtlCol="0" anchor="ctr"/>
          <a:lstStyle/>
          <a:p>
            <a:pPr marL="0" indent="0" algn="ctr">
              <a:buNone/>
            </a:pPr>
            <a:r>
              <a:rPr lang="en-US" sz="1100" b="1" dirty="0">
                <a:solidFill>
                  <a:srgbClr val="0B1D33"/>
                </a:solidFill>
                <a:latin typeface="Courier New" pitchFamily="34" charset="0"/>
                <a:ea typeface="Courier New" pitchFamily="34" charset="-122"/>
                <a:cs typeface="Courier New" pitchFamily="34" charset="-120"/>
              </a:rPr>
              <a:t>DELETE</a:t>
            </a:r>
            <a:endParaRPr lang="en-US" sz="1100" dirty="0"/>
          </a:p>
        </p:txBody>
      </p:sp>
      <p:sp>
        <p:nvSpPr>
          <p:cNvPr id="38" name="Text 36"/>
          <p:cNvSpPr txBox="1"/>
          <p:nvPr/>
        </p:nvSpPr>
        <p:spPr>
          <a:xfrm>
            <a:off x="1828800" y="5029200"/>
            <a:ext cx="3566160" cy="585216"/>
          </a:xfrm>
          <a:prstGeom prst="rect">
            <a:avLst/>
          </a:prstGeom>
          <a:noFill/>
          <a:ln/>
        </p:spPr>
        <p:txBody>
          <a:bodyPr wrap="square" lIns="0" tIns="0" rIns="0" bIns="0" rtlCol="0" anchor="ctr"/>
          <a:lstStyle/>
          <a:p>
            <a:pPr marL="0" indent="0" algn="l">
              <a:spcAft>
                <a:spcPts val="300"/>
              </a:spcAft>
              <a:buNone/>
            </a:pPr>
            <a:r>
              <a:rPr lang="en-US" sz="1200" dirty="0">
                <a:solidFill>
                  <a:srgbClr val="FFFFFF"/>
                </a:solidFill>
                <a:latin typeface="Courier New" pitchFamily="34" charset="0"/>
                <a:ea typeface="Courier New" pitchFamily="34" charset="-122"/>
                <a:cs typeface="Courier New" pitchFamily="34" charset="-120"/>
              </a:rPr>
              <a:t>/api/Shifts/{id}</a:t>
            </a:r>
            <a:endParaRPr lang="en-US" sz="1200" dirty="0"/>
          </a:p>
        </p:txBody>
      </p:sp>
      <p:sp>
        <p:nvSpPr>
          <p:cNvPr id="39" name="Shape 37"/>
          <p:cNvSpPr/>
          <p:nvPr/>
        </p:nvSpPr>
        <p:spPr>
          <a:xfrm>
            <a:off x="5532120" y="5148072"/>
            <a:ext cx="1188720" cy="347472"/>
          </a:xfrm>
          <a:prstGeom prst="roundRect">
            <a:avLst>
              <a:gd name="adj" fmla="val 50000"/>
            </a:avLst>
          </a:prstGeom>
          <a:solidFill>
            <a:srgbClr val="1A3D63"/>
          </a:solidFill>
          <a:ln w="12700">
            <a:solidFill>
              <a:srgbClr val="1A3D63"/>
            </a:solidFill>
            <a:prstDash val="solid"/>
          </a:ln>
        </p:spPr>
        <p:txBody>
          <a:bodyPr/>
          <a:lstStyle/>
          <a:p>
            <a:endParaRPr lang="en-ZA"/>
          </a:p>
        </p:txBody>
      </p:sp>
      <p:sp>
        <p:nvSpPr>
          <p:cNvPr id="40" name="Text 38"/>
          <p:cNvSpPr txBox="1"/>
          <p:nvPr/>
        </p:nvSpPr>
        <p:spPr>
          <a:xfrm>
            <a:off x="5532120" y="5148072"/>
            <a:ext cx="1188720" cy="347472"/>
          </a:xfrm>
          <a:prstGeom prst="rect">
            <a:avLst/>
          </a:prstGeom>
          <a:noFill/>
          <a:ln/>
        </p:spPr>
        <p:txBody>
          <a:bodyPr wrap="square" lIns="0" tIns="0" rIns="0" bIns="0" rtlCol="0" anchor="ctr"/>
          <a:lstStyle/>
          <a:p>
            <a:pPr marL="0" indent="0" algn="ctr">
              <a:buNone/>
            </a:pPr>
            <a:r>
              <a:rPr lang="en-US" sz="1100" b="1" dirty="0">
                <a:solidFill>
                  <a:srgbClr val="F6AE2D"/>
                </a:solidFill>
                <a:latin typeface="Calibri" pitchFamily="34" charset="0"/>
                <a:ea typeface="Calibri" pitchFamily="34" charset="-122"/>
                <a:cs typeface="Calibri" pitchFamily="34" charset="-120"/>
              </a:rPr>
              <a:t>Admin</a:t>
            </a:r>
            <a:endParaRPr lang="en-US" sz="1100" dirty="0"/>
          </a:p>
        </p:txBody>
      </p:sp>
      <p:sp>
        <p:nvSpPr>
          <p:cNvPr id="41" name="Text 39"/>
          <p:cNvSpPr txBox="1"/>
          <p:nvPr/>
        </p:nvSpPr>
        <p:spPr>
          <a:xfrm>
            <a:off x="548640" y="5806440"/>
            <a:ext cx="6309360" cy="365760"/>
          </a:xfrm>
          <a:prstGeom prst="rect">
            <a:avLst/>
          </a:prstGeom>
          <a:noFill/>
          <a:ln/>
        </p:spPr>
        <p:txBody>
          <a:bodyPr wrap="square" lIns="0" tIns="0" rIns="0" bIns="0" rtlCol="0" anchor="t"/>
          <a:lstStyle/>
          <a:p>
            <a:pPr marL="0" indent="0" algn="l">
              <a:spcAft>
                <a:spcPts val="300"/>
              </a:spcAft>
              <a:buNone/>
            </a:pPr>
            <a:r>
              <a:rPr lang="en-US" sz="1250" i="1" dirty="0">
                <a:solidFill>
                  <a:srgbClr val="93ACC6"/>
                </a:solidFill>
                <a:latin typeface="Calibri" pitchFamily="34" charset="0"/>
                <a:ea typeface="Calibri" pitchFamily="34" charset="-122"/>
                <a:cs typeface="Calibri" pitchFamily="34" charset="-120"/>
              </a:rPr>
              <a:t>Deleting is refused once a shift is on a roster.</a:t>
            </a:r>
            <a:endParaRPr lang="en-US" sz="1250" dirty="0"/>
          </a:p>
        </p:txBody>
      </p:sp>
      <p:sp>
        <p:nvSpPr>
          <p:cNvPr id="42" name="Shape 40"/>
          <p:cNvSpPr/>
          <p:nvPr/>
        </p:nvSpPr>
        <p:spPr>
          <a:xfrm>
            <a:off x="7178040" y="1463040"/>
            <a:ext cx="4465015" cy="2139239"/>
          </a:xfrm>
          <a:prstGeom prst="roundRect">
            <a:avLst>
              <a:gd name="adj" fmla="val 3420"/>
            </a:avLst>
          </a:prstGeom>
          <a:solidFill>
            <a:srgbClr val="1E1E1E"/>
          </a:solidFill>
          <a:ln w="9525">
            <a:solidFill>
              <a:srgbClr val="333337"/>
            </a:solidFill>
            <a:prstDash val="solid"/>
          </a:ln>
          <a:effectLst>
            <a:outerShdw blurRad="127000" dist="38100" dir="5400000" algn="bl" rotWithShape="0">
              <a:srgbClr val="000000">
                <a:alpha val="40000"/>
              </a:srgbClr>
            </a:outerShdw>
          </a:effectLst>
        </p:spPr>
        <p:txBody>
          <a:bodyPr/>
          <a:lstStyle/>
          <a:p>
            <a:endParaRPr lang="en-ZA"/>
          </a:p>
        </p:txBody>
      </p:sp>
      <p:sp>
        <p:nvSpPr>
          <p:cNvPr id="43" name="Shape 41"/>
          <p:cNvSpPr/>
          <p:nvPr/>
        </p:nvSpPr>
        <p:spPr>
          <a:xfrm>
            <a:off x="7178040" y="1463040"/>
            <a:ext cx="4465015" cy="329184"/>
          </a:xfrm>
          <a:prstGeom prst="roundRect">
            <a:avLst>
              <a:gd name="adj" fmla="val 22222"/>
            </a:avLst>
          </a:prstGeom>
          <a:solidFill>
            <a:srgbClr val="2D2D30"/>
          </a:solidFill>
          <a:ln w="12700">
            <a:solidFill>
              <a:srgbClr val="2D2D30"/>
            </a:solidFill>
            <a:prstDash val="solid"/>
          </a:ln>
        </p:spPr>
        <p:txBody>
          <a:bodyPr/>
          <a:lstStyle/>
          <a:p>
            <a:endParaRPr lang="en-ZA"/>
          </a:p>
        </p:txBody>
      </p:sp>
      <p:sp>
        <p:nvSpPr>
          <p:cNvPr id="44" name="Shape 42"/>
          <p:cNvSpPr/>
          <p:nvPr/>
        </p:nvSpPr>
        <p:spPr>
          <a:xfrm>
            <a:off x="7178040" y="1627632"/>
            <a:ext cx="4465015" cy="164592"/>
          </a:xfrm>
          <a:prstGeom prst="rect">
            <a:avLst/>
          </a:prstGeom>
          <a:solidFill>
            <a:srgbClr val="2D2D30"/>
          </a:solidFill>
          <a:ln w="12700">
            <a:solidFill>
              <a:srgbClr val="2D2D30"/>
            </a:solidFill>
            <a:prstDash val="solid"/>
          </a:ln>
        </p:spPr>
        <p:txBody>
          <a:bodyPr/>
          <a:lstStyle/>
          <a:p>
            <a:endParaRPr lang="en-ZA"/>
          </a:p>
        </p:txBody>
      </p:sp>
      <p:sp>
        <p:nvSpPr>
          <p:cNvPr id="45" name="Text 43"/>
          <p:cNvSpPr txBox="1"/>
          <p:nvPr/>
        </p:nvSpPr>
        <p:spPr>
          <a:xfrm>
            <a:off x="7342632" y="1463040"/>
            <a:ext cx="4190695" cy="329184"/>
          </a:xfrm>
          <a:prstGeom prst="rect">
            <a:avLst/>
          </a:prstGeom>
          <a:noFill/>
          <a:ln/>
        </p:spPr>
        <p:txBody>
          <a:bodyPr wrap="square" lIns="0" tIns="0" rIns="0" bIns="0" rtlCol="0" anchor="ctr"/>
          <a:lstStyle/>
          <a:p>
            <a:pPr marL="0" indent="0">
              <a:buNone/>
            </a:pPr>
            <a:r>
              <a:rPr lang="en-US" sz="1050" b="1" dirty="0">
                <a:solidFill>
                  <a:srgbClr val="E8E8E8"/>
                </a:solidFill>
                <a:latin typeface="Calibri" pitchFamily="34" charset="0"/>
                <a:ea typeface="Calibri" pitchFamily="34" charset="-122"/>
                <a:cs typeface="Calibri" pitchFamily="34" charset="-120"/>
              </a:rPr>
              <a:t>CreateShiftDto.cs</a:t>
            </a:r>
            <a:r>
              <a:rPr lang="en-US" sz="1050" dirty="0">
                <a:solidFill>
                  <a:srgbClr val="8C8C8C"/>
                </a:solidFill>
                <a:latin typeface="Calibri" pitchFamily="34" charset="0"/>
                <a:ea typeface="Calibri" pitchFamily="34" charset="-122"/>
                <a:cs typeface="Calibri" pitchFamily="34" charset="-120"/>
              </a:rPr>
              <a:t>   DTOs/Shifts</a:t>
            </a:r>
            <a:endParaRPr lang="en-US" sz="1050" dirty="0"/>
          </a:p>
        </p:txBody>
      </p:sp>
      <p:sp>
        <p:nvSpPr>
          <p:cNvPr id="46" name="Shape 44"/>
          <p:cNvSpPr/>
          <p:nvPr/>
        </p:nvSpPr>
        <p:spPr>
          <a:xfrm>
            <a:off x="7214616" y="1920240"/>
            <a:ext cx="4391863" cy="345338"/>
          </a:xfrm>
          <a:prstGeom prst="rect">
            <a:avLst/>
          </a:prstGeom>
          <a:solidFill>
            <a:srgbClr val="5ED3C6">
              <a:alpha val="16000"/>
            </a:srgbClr>
          </a:solidFill>
          <a:ln w="12700">
            <a:solidFill>
              <a:srgbClr val="5ED3C6">
                <a:alpha val="0"/>
              </a:srgbClr>
            </a:solidFill>
            <a:prstDash val="solid"/>
          </a:ln>
        </p:spPr>
        <p:txBody>
          <a:bodyPr/>
          <a:lstStyle/>
          <a:p>
            <a:endParaRPr lang="en-ZA"/>
          </a:p>
        </p:txBody>
      </p:sp>
      <p:sp>
        <p:nvSpPr>
          <p:cNvPr id="47" name="Shape 45"/>
          <p:cNvSpPr/>
          <p:nvPr/>
        </p:nvSpPr>
        <p:spPr>
          <a:xfrm>
            <a:off x="7214616" y="2610917"/>
            <a:ext cx="4391863" cy="172669"/>
          </a:xfrm>
          <a:prstGeom prst="rect">
            <a:avLst/>
          </a:prstGeom>
          <a:solidFill>
            <a:srgbClr val="5ED3C6">
              <a:alpha val="16000"/>
            </a:srgbClr>
          </a:solidFill>
          <a:ln w="12700">
            <a:solidFill>
              <a:srgbClr val="5ED3C6">
                <a:alpha val="0"/>
              </a:srgbClr>
            </a:solidFill>
            <a:prstDash val="solid"/>
          </a:ln>
        </p:spPr>
        <p:txBody>
          <a:bodyPr/>
          <a:lstStyle/>
          <a:p>
            <a:endParaRPr lang="en-ZA"/>
          </a:p>
        </p:txBody>
      </p:sp>
      <p:sp>
        <p:nvSpPr>
          <p:cNvPr id="48" name="Shape 46"/>
          <p:cNvSpPr/>
          <p:nvPr/>
        </p:nvSpPr>
        <p:spPr>
          <a:xfrm>
            <a:off x="7214616" y="3128924"/>
            <a:ext cx="4391863" cy="172669"/>
          </a:xfrm>
          <a:prstGeom prst="rect">
            <a:avLst/>
          </a:prstGeom>
          <a:solidFill>
            <a:srgbClr val="5ED3C6">
              <a:alpha val="16000"/>
            </a:srgbClr>
          </a:solidFill>
          <a:ln w="12700">
            <a:solidFill>
              <a:srgbClr val="5ED3C6">
                <a:alpha val="0"/>
              </a:srgbClr>
            </a:solidFill>
            <a:prstDash val="solid"/>
          </a:ln>
        </p:spPr>
        <p:txBody>
          <a:bodyPr/>
          <a:lstStyle/>
          <a:p>
            <a:endParaRPr lang="en-ZA"/>
          </a:p>
        </p:txBody>
      </p:sp>
      <p:sp>
        <p:nvSpPr>
          <p:cNvPr id="49" name="Text 47"/>
          <p:cNvSpPr txBox="1"/>
          <p:nvPr/>
        </p:nvSpPr>
        <p:spPr>
          <a:xfrm>
            <a:off x="7223760" y="1920240"/>
            <a:ext cx="365760" cy="1554023"/>
          </a:xfrm>
          <a:prstGeom prst="rect">
            <a:avLst/>
          </a:prstGeom>
          <a:noFill/>
          <a:ln/>
        </p:spPr>
        <p:txBody>
          <a:bodyPr wrap="square" lIns="0" tIns="0" rIns="0" bIns="0" rtlCol="0" anchor="t"/>
          <a:lstStyle/>
          <a:p>
            <a:pPr marL="0" indent="0" algn="r">
              <a:lnSpc>
                <a:spcPts val="1360"/>
              </a:lnSpc>
              <a:buNone/>
            </a:pPr>
            <a:r>
              <a:rPr lang="en-US" sz="1030" dirty="0">
                <a:solidFill>
                  <a:srgbClr val="858585"/>
                </a:solidFill>
                <a:latin typeface="Courier New" pitchFamily="34" charset="0"/>
                <a:ea typeface="Courier New" pitchFamily="34" charset="-122"/>
                <a:cs typeface="Courier New" pitchFamily="34" charset="-120"/>
              </a:rPr>
              <a:t>11</a:t>
            </a:r>
            <a:endParaRPr lang="en-US" sz="1030" dirty="0"/>
          </a:p>
          <a:p>
            <a:pPr marL="0" indent="0" algn="r">
              <a:lnSpc>
                <a:spcPts val="1360"/>
              </a:lnSpc>
              <a:buNone/>
            </a:pPr>
            <a:r>
              <a:rPr lang="en-US" sz="1030" dirty="0">
                <a:solidFill>
                  <a:srgbClr val="858585"/>
                </a:solidFill>
                <a:latin typeface="Courier New" pitchFamily="34" charset="0"/>
                <a:ea typeface="Courier New" pitchFamily="34" charset="-122"/>
                <a:cs typeface="Courier New" pitchFamily="34" charset="-120"/>
              </a:rPr>
              <a:t>12</a:t>
            </a:r>
            <a:endParaRPr lang="en-US" sz="1030" dirty="0"/>
          </a:p>
          <a:p>
            <a:pPr marL="0" indent="0" algn="r">
              <a:lnSpc>
                <a:spcPts val="1360"/>
              </a:lnSpc>
              <a:buNone/>
            </a:pPr>
            <a:r>
              <a:rPr lang="en-US" sz="1030" dirty="0">
                <a:solidFill>
                  <a:srgbClr val="858585"/>
                </a:solidFill>
                <a:latin typeface="Courier New" pitchFamily="34" charset="0"/>
                <a:ea typeface="Courier New" pitchFamily="34" charset="-122"/>
                <a:cs typeface="Courier New" pitchFamily="34" charset="-120"/>
              </a:rPr>
              <a:t>13</a:t>
            </a:r>
            <a:endParaRPr lang="en-US" sz="1030" dirty="0"/>
          </a:p>
          <a:p>
            <a:pPr marL="0" indent="0" algn="r">
              <a:lnSpc>
                <a:spcPts val="1360"/>
              </a:lnSpc>
              <a:buNone/>
            </a:pPr>
            <a:r>
              <a:rPr lang="en-US" sz="1030" dirty="0">
                <a:solidFill>
                  <a:srgbClr val="858585"/>
                </a:solidFill>
                <a:latin typeface="Courier New" pitchFamily="34" charset="0"/>
                <a:ea typeface="Courier New" pitchFamily="34" charset="-122"/>
                <a:cs typeface="Courier New" pitchFamily="34" charset="-120"/>
              </a:rPr>
              <a:t> </a:t>
            </a:r>
            <a:endParaRPr lang="en-US" sz="1030" dirty="0"/>
          </a:p>
          <a:p>
            <a:pPr marL="0" indent="0" algn="r">
              <a:lnSpc>
                <a:spcPts val="1360"/>
              </a:lnSpc>
              <a:buNone/>
            </a:pPr>
            <a:r>
              <a:rPr lang="en-US" sz="1030" dirty="0">
                <a:solidFill>
                  <a:srgbClr val="858585"/>
                </a:solidFill>
                <a:latin typeface="Courier New" pitchFamily="34" charset="0"/>
                <a:ea typeface="Courier New" pitchFamily="34" charset="-122"/>
                <a:cs typeface="Courier New" pitchFamily="34" charset="-120"/>
              </a:rPr>
              <a:t>24</a:t>
            </a:r>
            <a:endParaRPr lang="en-US" sz="1030" dirty="0"/>
          </a:p>
          <a:p>
            <a:pPr marL="0" indent="0" algn="r">
              <a:lnSpc>
                <a:spcPts val="1360"/>
              </a:lnSpc>
              <a:buNone/>
            </a:pPr>
            <a:r>
              <a:rPr lang="en-US" sz="1030" dirty="0">
                <a:solidFill>
                  <a:srgbClr val="858585"/>
                </a:solidFill>
                <a:latin typeface="Courier New" pitchFamily="34" charset="0"/>
                <a:ea typeface="Courier New" pitchFamily="34" charset="-122"/>
                <a:cs typeface="Courier New" pitchFamily="34" charset="-120"/>
              </a:rPr>
              <a:t>25</a:t>
            </a:r>
            <a:endParaRPr lang="en-US" sz="1030" dirty="0"/>
          </a:p>
          <a:p>
            <a:pPr marL="0" indent="0" algn="r">
              <a:lnSpc>
                <a:spcPts val="1360"/>
              </a:lnSpc>
              <a:buNone/>
            </a:pPr>
            <a:r>
              <a:rPr lang="en-US" sz="1030" dirty="0">
                <a:solidFill>
                  <a:srgbClr val="858585"/>
                </a:solidFill>
                <a:latin typeface="Courier New" pitchFamily="34" charset="0"/>
                <a:ea typeface="Courier New" pitchFamily="34" charset="-122"/>
                <a:cs typeface="Courier New" pitchFamily="34" charset="-120"/>
              </a:rPr>
              <a:t>26</a:t>
            </a:r>
            <a:endParaRPr lang="en-US" sz="1030" dirty="0"/>
          </a:p>
          <a:p>
            <a:pPr marL="0" indent="0" algn="r">
              <a:lnSpc>
                <a:spcPts val="1360"/>
              </a:lnSpc>
              <a:buNone/>
            </a:pPr>
            <a:r>
              <a:rPr lang="en-US" sz="1030" dirty="0">
                <a:solidFill>
                  <a:srgbClr val="858585"/>
                </a:solidFill>
                <a:latin typeface="Courier New" pitchFamily="34" charset="0"/>
                <a:ea typeface="Courier New" pitchFamily="34" charset="-122"/>
                <a:cs typeface="Courier New" pitchFamily="34" charset="-120"/>
              </a:rPr>
              <a:t>27</a:t>
            </a:r>
            <a:endParaRPr lang="en-US" sz="1030" dirty="0"/>
          </a:p>
          <a:p>
            <a:pPr marL="0" indent="0" algn="r">
              <a:lnSpc>
                <a:spcPts val="1360"/>
              </a:lnSpc>
              <a:buNone/>
            </a:pPr>
            <a:r>
              <a:rPr lang="en-US" sz="1030" dirty="0">
                <a:solidFill>
                  <a:srgbClr val="858585"/>
                </a:solidFill>
                <a:latin typeface="Courier New" pitchFamily="34" charset="0"/>
                <a:ea typeface="Courier New" pitchFamily="34" charset="-122"/>
                <a:cs typeface="Courier New" pitchFamily="34" charset="-120"/>
              </a:rPr>
              <a:t>28</a:t>
            </a:r>
            <a:endParaRPr lang="en-US" sz="1030" dirty="0"/>
          </a:p>
        </p:txBody>
      </p:sp>
      <p:sp>
        <p:nvSpPr>
          <p:cNvPr id="50" name="Text 48"/>
          <p:cNvSpPr txBox="1"/>
          <p:nvPr/>
        </p:nvSpPr>
        <p:spPr>
          <a:xfrm>
            <a:off x="7818120" y="1920240"/>
            <a:ext cx="3733495" cy="1554023"/>
          </a:xfrm>
          <a:prstGeom prst="rect">
            <a:avLst/>
          </a:prstGeom>
          <a:noFill/>
          <a:ln/>
        </p:spPr>
        <p:txBody>
          <a:bodyPr wrap="none" lIns="0" tIns="0" rIns="0" bIns="0" rtlCol="0" anchor="t"/>
          <a:lstStyle/>
          <a:p>
            <a:pPr marL="0" indent="0">
              <a:lnSpc>
                <a:spcPts val="1360"/>
              </a:lnSpc>
              <a:buNone/>
            </a:pPr>
            <a:r>
              <a:rPr lang="en-US" sz="1030" dirty="0">
                <a:solidFill>
                  <a:srgbClr val="D4D4D4"/>
                </a:solidFill>
                <a:latin typeface="Courier New" pitchFamily="34" charset="0"/>
                <a:ea typeface="Courier New" pitchFamily="34" charset="-122"/>
                <a:cs typeface="Courier New" pitchFamily="34" charset="-120"/>
              </a:rPr>
              <a:t>[</a:t>
            </a:r>
            <a:r>
              <a:rPr lang="en-US" sz="1030" dirty="0">
                <a:solidFill>
                  <a:srgbClr val="4EC9B0"/>
                </a:solidFill>
                <a:latin typeface="Courier New" pitchFamily="34" charset="0"/>
                <a:ea typeface="Courier New" pitchFamily="34" charset="-122"/>
                <a:cs typeface="Courier New" pitchFamily="34" charset="-120"/>
              </a:rPr>
              <a:t>Required</a:t>
            </a:r>
            <a:r>
              <a:rPr lang="en-US" sz="1030" dirty="0">
                <a:solidFill>
                  <a:srgbClr val="D4D4D4"/>
                </a:solidFill>
                <a:latin typeface="Courier New" pitchFamily="34" charset="0"/>
                <a:ea typeface="Courier New" pitchFamily="34" charset="-122"/>
                <a:cs typeface="Courier New" pitchFamily="34" charset="-120"/>
              </a:rPr>
              <a:t>]</a:t>
            </a:r>
            <a:endParaRPr lang="en-US" sz="1030" dirty="0"/>
          </a:p>
          <a:p>
            <a:pPr marL="0" indent="0">
              <a:lnSpc>
                <a:spcPts val="1360"/>
              </a:lnSpc>
              <a:buNone/>
            </a:pPr>
            <a:r>
              <a:rPr lang="en-US" sz="1030" dirty="0">
                <a:solidFill>
                  <a:srgbClr val="D4D4D4"/>
                </a:solidFill>
                <a:latin typeface="Courier New" pitchFamily="34" charset="0"/>
                <a:ea typeface="Courier New" pitchFamily="34" charset="-122"/>
                <a:cs typeface="Courier New" pitchFamily="34" charset="-120"/>
              </a:rPr>
              <a:t>[</a:t>
            </a:r>
            <a:r>
              <a:rPr lang="en-US" sz="1030" dirty="0">
                <a:solidFill>
                  <a:srgbClr val="DCDCAA"/>
                </a:solidFill>
                <a:latin typeface="Courier New" pitchFamily="34" charset="0"/>
                <a:ea typeface="Courier New" pitchFamily="34" charset="-122"/>
                <a:cs typeface="Courier New" pitchFamily="34" charset="-120"/>
              </a:rPr>
              <a:t>MaxLength</a:t>
            </a:r>
            <a:r>
              <a:rPr lang="en-US" sz="1030" dirty="0">
                <a:solidFill>
                  <a:srgbClr val="D4D4D4"/>
                </a:solidFill>
                <a:latin typeface="Courier New" pitchFamily="34" charset="0"/>
                <a:ea typeface="Courier New" pitchFamily="34" charset="-122"/>
                <a:cs typeface="Courier New" pitchFamily="34" charset="-120"/>
              </a:rPr>
              <a:t>(</a:t>
            </a:r>
            <a:r>
              <a:rPr lang="en-US" sz="1030" dirty="0">
                <a:solidFill>
                  <a:srgbClr val="B5CEA8"/>
                </a:solidFill>
                <a:latin typeface="Courier New" pitchFamily="34" charset="0"/>
                <a:ea typeface="Courier New" pitchFamily="34" charset="-122"/>
                <a:cs typeface="Courier New" pitchFamily="34" charset="-120"/>
              </a:rPr>
              <a:t>100</a:t>
            </a:r>
            <a:r>
              <a:rPr lang="en-US" sz="1030" dirty="0">
                <a:solidFill>
                  <a:srgbClr val="D4D4D4"/>
                </a:solidFill>
                <a:latin typeface="Courier New" pitchFamily="34" charset="0"/>
                <a:ea typeface="Courier New" pitchFamily="34" charset="-122"/>
                <a:cs typeface="Courier New" pitchFamily="34" charset="-120"/>
              </a:rPr>
              <a:t>)]</a:t>
            </a:r>
            <a:endParaRPr lang="en-US" sz="1030" dirty="0"/>
          </a:p>
          <a:p>
            <a:pPr marL="0" indent="0">
              <a:lnSpc>
                <a:spcPts val="1360"/>
              </a:lnSpc>
              <a:buNone/>
            </a:pPr>
            <a:r>
              <a:rPr lang="en-US" sz="1030" dirty="0">
                <a:solidFill>
                  <a:srgbClr val="569CD6"/>
                </a:solidFill>
                <a:latin typeface="Courier New" pitchFamily="34" charset="0"/>
                <a:ea typeface="Courier New" pitchFamily="34" charset="-122"/>
                <a:cs typeface="Courier New" pitchFamily="34" charset="-120"/>
              </a:rPr>
              <a:t>public</a:t>
            </a:r>
            <a:r>
              <a:rPr lang="en-US" sz="1030" dirty="0">
                <a:solidFill>
                  <a:srgbClr val="D4D4D4"/>
                </a:solidFill>
                <a:latin typeface="Courier New" pitchFamily="34" charset="0"/>
                <a:ea typeface="Courier New" pitchFamily="34" charset="-122"/>
                <a:cs typeface="Courier New" pitchFamily="34" charset="-120"/>
              </a:rPr>
              <a:t> </a:t>
            </a:r>
            <a:r>
              <a:rPr lang="en-US" sz="1030" dirty="0">
                <a:solidFill>
                  <a:srgbClr val="569CD6"/>
                </a:solidFill>
                <a:latin typeface="Courier New" pitchFamily="34" charset="0"/>
                <a:ea typeface="Courier New" pitchFamily="34" charset="-122"/>
                <a:cs typeface="Courier New" pitchFamily="34" charset="-120"/>
              </a:rPr>
              <a:t>string</a:t>
            </a:r>
            <a:r>
              <a:rPr lang="en-US" sz="1030" dirty="0">
                <a:solidFill>
                  <a:srgbClr val="D4D4D4"/>
                </a:solidFill>
                <a:latin typeface="Courier New" pitchFamily="34" charset="0"/>
                <a:ea typeface="Courier New" pitchFamily="34" charset="-122"/>
                <a:cs typeface="Courier New" pitchFamily="34" charset="-120"/>
              </a:rPr>
              <a:t> </a:t>
            </a:r>
            <a:r>
              <a:rPr lang="en-US" sz="1030" dirty="0">
                <a:solidFill>
                  <a:srgbClr val="4EC9B0"/>
                </a:solidFill>
                <a:latin typeface="Courier New" pitchFamily="34" charset="0"/>
                <a:ea typeface="Courier New" pitchFamily="34" charset="-122"/>
                <a:cs typeface="Courier New" pitchFamily="34" charset="-120"/>
              </a:rPr>
              <a:t>ShiftName</a:t>
            </a:r>
            <a:r>
              <a:rPr lang="en-US" sz="1030" dirty="0">
                <a:solidFill>
                  <a:srgbClr val="D4D4D4"/>
                </a:solidFill>
                <a:latin typeface="Courier New" pitchFamily="34" charset="0"/>
                <a:ea typeface="Courier New" pitchFamily="34" charset="-122"/>
                <a:cs typeface="Courier New" pitchFamily="34" charset="-120"/>
              </a:rPr>
              <a:t> {</a:t>
            </a:r>
            <a:r>
              <a:rPr lang="en-US" sz="1030" dirty="0">
                <a:solidFill>
                  <a:srgbClr val="569CD6"/>
                </a:solidFill>
                <a:latin typeface="Courier New" pitchFamily="34" charset="0"/>
                <a:ea typeface="Courier New" pitchFamily="34" charset="-122"/>
                <a:cs typeface="Courier New" pitchFamily="34" charset="-120"/>
              </a:rPr>
              <a:t>get</a:t>
            </a:r>
            <a:r>
              <a:rPr lang="en-US" sz="1030" dirty="0">
                <a:solidFill>
                  <a:srgbClr val="D4D4D4"/>
                </a:solidFill>
                <a:latin typeface="Courier New" pitchFamily="34" charset="0"/>
                <a:ea typeface="Courier New" pitchFamily="34" charset="-122"/>
                <a:cs typeface="Courier New" pitchFamily="34" charset="-120"/>
              </a:rPr>
              <a:t>; </a:t>
            </a:r>
            <a:r>
              <a:rPr lang="en-US" sz="1030" dirty="0">
                <a:solidFill>
                  <a:srgbClr val="569CD6"/>
                </a:solidFill>
                <a:latin typeface="Courier New" pitchFamily="34" charset="0"/>
                <a:ea typeface="Courier New" pitchFamily="34" charset="-122"/>
                <a:cs typeface="Courier New" pitchFamily="34" charset="-120"/>
              </a:rPr>
              <a:t>set</a:t>
            </a:r>
            <a:r>
              <a:rPr lang="en-US" sz="1030" dirty="0">
                <a:solidFill>
                  <a:srgbClr val="D4D4D4"/>
                </a:solidFill>
                <a:latin typeface="Courier New" pitchFamily="34" charset="0"/>
                <a:ea typeface="Courier New" pitchFamily="34" charset="-122"/>
                <a:cs typeface="Courier New" pitchFamily="34" charset="-120"/>
              </a:rPr>
              <a:t> ;} = </a:t>
            </a:r>
            <a:r>
              <a:rPr lang="en-US" sz="1030" dirty="0">
                <a:solidFill>
                  <a:srgbClr val="569CD6"/>
                </a:solidFill>
                <a:latin typeface="Courier New" pitchFamily="34" charset="0"/>
                <a:ea typeface="Courier New" pitchFamily="34" charset="-122"/>
                <a:cs typeface="Courier New" pitchFamily="34" charset="-120"/>
              </a:rPr>
              <a:t>null</a:t>
            </a:r>
            <a:r>
              <a:rPr lang="en-US" sz="1030" dirty="0">
                <a:solidFill>
                  <a:srgbClr val="D4D4D4"/>
                </a:solidFill>
                <a:latin typeface="Courier New" pitchFamily="34" charset="0"/>
                <a:ea typeface="Courier New" pitchFamily="34" charset="-122"/>
                <a:cs typeface="Courier New" pitchFamily="34" charset="-120"/>
              </a:rPr>
              <a:t>!;</a:t>
            </a:r>
            <a:endParaRPr lang="en-US" sz="1030" dirty="0"/>
          </a:p>
          <a:p>
            <a:pPr marL="0" indent="0">
              <a:lnSpc>
                <a:spcPts val="1360"/>
              </a:lnSpc>
              <a:buNone/>
            </a:pPr>
            <a:r>
              <a:rPr lang="en-US" sz="1030" dirty="0">
                <a:solidFill>
                  <a:srgbClr val="6A9955"/>
                </a:solidFill>
                <a:latin typeface="Courier New" pitchFamily="34" charset="0"/>
                <a:ea typeface="Courier New" pitchFamily="34" charset="-122"/>
                <a:cs typeface="Courier New" pitchFamily="34" charset="-120"/>
              </a:rPr>
              <a:t>…</a:t>
            </a:r>
            <a:endParaRPr lang="en-US" sz="1030" dirty="0"/>
          </a:p>
          <a:p>
            <a:pPr marL="0" indent="0">
              <a:lnSpc>
                <a:spcPts val="1360"/>
              </a:lnSpc>
              <a:buNone/>
            </a:pPr>
            <a:r>
              <a:rPr lang="en-US" sz="1030" dirty="0">
                <a:solidFill>
                  <a:srgbClr val="D4D4D4"/>
                </a:solidFill>
                <a:latin typeface="Courier New" pitchFamily="34" charset="0"/>
                <a:ea typeface="Courier New" pitchFamily="34" charset="-122"/>
                <a:cs typeface="Courier New" pitchFamily="34" charset="-120"/>
              </a:rPr>
              <a:t>[</a:t>
            </a:r>
            <a:r>
              <a:rPr lang="en-US" sz="1030" dirty="0">
                <a:solidFill>
                  <a:srgbClr val="DCDCAA"/>
                </a:solidFill>
                <a:latin typeface="Courier New" pitchFamily="34" charset="0"/>
                <a:ea typeface="Courier New" pitchFamily="34" charset="-122"/>
                <a:cs typeface="Courier New" pitchFamily="34" charset="-120"/>
              </a:rPr>
              <a:t>Range</a:t>
            </a:r>
            <a:r>
              <a:rPr lang="en-US" sz="1030" dirty="0">
                <a:solidFill>
                  <a:srgbClr val="D4D4D4"/>
                </a:solidFill>
                <a:latin typeface="Courier New" pitchFamily="34" charset="0"/>
                <a:ea typeface="Courier New" pitchFamily="34" charset="-122"/>
                <a:cs typeface="Courier New" pitchFamily="34" charset="-120"/>
              </a:rPr>
              <a:t>(</a:t>
            </a:r>
            <a:r>
              <a:rPr lang="en-US" sz="1030" dirty="0">
                <a:solidFill>
                  <a:srgbClr val="B5CEA8"/>
                </a:solidFill>
                <a:latin typeface="Courier New" pitchFamily="34" charset="0"/>
                <a:ea typeface="Courier New" pitchFamily="34" charset="-122"/>
                <a:cs typeface="Courier New" pitchFamily="34" charset="-120"/>
              </a:rPr>
              <a:t>0</a:t>
            </a:r>
            <a:r>
              <a:rPr lang="en-US" sz="1030" dirty="0">
                <a:solidFill>
                  <a:srgbClr val="D4D4D4"/>
                </a:solidFill>
                <a:latin typeface="Courier New" pitchFamily="34" charset="0"/>
                <a:ea typeface="Courier New" pitchFamily="34" charset="-122"/>
                <a:cs typeface="Courier New" pitchFamily="34" charset="-120"/>
              </a:rPr>
              <a:t>, </a:t>
            </a:r>
            <a:r>
              <a:rPr lang="en-US" sz="1030" dirty="0">
                <a:solidFill>
                  <a:srgbClr val="569CD6"/>
                </a:solidFill>
                <a:latin typeface="Courier New" pitchFamily="34" charset="0"/>
                <a:ea typeface="Courier New" pitchFamily="34" charset="-122"/>
                <a:cs typeface="Courier New" pitchFamily="34" charset="-120"/>
              </a:rPr>
              <a:t>int</a:t>
            </a:r>
            <a:r>
              <a:rPr lang="en-US" sz="1030" dirty="0">
                <a:solidFill>
                  <a:srgbClr val="D4D4D4"/>
                </a:solidFill>
                <a:latin typeface="Courier New" pitchFamily="34" charset="0"/>
                <a:ea typeface="Courier New" pitchFamily="34" charset="-122"/>
                <a:cs typeface="Courier New" pitchFamily="34" charset="-120"/>
              </a:rPr>
              <a:t>.</a:t>
            </a:r>
            <a:r>
              <a:rPr lang="en-US" sz="1030" dirty="0">
                <a:solidFill>
                  <a:srgbClr val="4EC9B0"/>
                </a:solidFill>
                <a:latin typeface="Courier New" pitchFamily="34" charset="0"/>
                <a:ea typeface="Courier New" pitchFamily="34" charset="-122"/>
                <a:cs typeface="Courier New" pitchFamily="34" charset="-120"/>
              </a:rPr>
              <a:t>MaxValue</a:t>
            </a:r>
            <a:r>
              <a:rPr lang="en-US" sz="1030" dirty="0">
                <a:solidFill>
                  <a:srgbClr val="D4D4D4"/>
                </a:solidFill>
                <a:latin typeface="Courier New" pitchFamily="34" charset="0"/>
                <a:ea typeface="Courier New" pitchFamily="34" charset="-122"/>
                <a:cs typeface="Courier New" pitchFamily="34" charset="-120"/>
              </a:rPr>
              <a:t>)]</a:t>
            </a:r>
            <a:endParaRPr lang="en-US" sz="1030" dirty="0"/>
          </a:p>
          <a:p>
            <a:pPr marL="0" indent="0">
              <a:lnSpc>
                <a:spcPts val="1360"/>
              </a:lnSpc>
              <a:buNone/>
            </a:pPr>
            <a:r>
              <a:rPr lang="en-US" sz="1030" dirty="0">
                <a:solidFill>
                  <a:srgbClr val="569CD6"/>
                </a:solidFill>
                <a:latin typeface="Courier New" pitchFamily="34" charset="0"/>
                <a:ea typeface="Courier New" pitchFamily="34" charset="-122"/>
                <a:cs typeface="Courier New" pitchFamily="34" charset="-120"/>
              </a:rPr>
              <a:t>public</a:t>
            </a:r>
            <a:r>
              <a:rPr lang="en-US" sz="1030" dirty="0">
                <a:solidFill>
                  <a:srgbClr val="D4D4D4"/>
                </a:solidFill>
                <a:latin typeface="Courier New" pitchFamily="34" charset="0"/>
                <a:ea typeface="Courier New" pitchFamily="34" charset="-122"/>
                <a:cs typeface="Courier New" pitchFamily="34" charset="-120"/>
              </a:rPr>
              <a:t> </a:t>
            </a:r>
            <a:r>
              <a:rPr lang="en-US" sz="1030" dirty="0">
                <a:solidFill>
                  <a:srgbClr val="569CD6"/>
                </a:solidFill>
                <a:latin typeface="Courier New" pitchFamily="34" charset="0"/>
                <a:ea typeface="Courier New" pitchFamily="34" charset="-122"/>
                <a:cs typeface="Courier New" pitchFamily="34" charset="-120"/>
              </a:rPr>
              <a:t>int</a:t>
            </a:r>
            <a:r>
              <a:rPr lang="en-US" sz="1030" dirty="0">
                <a:solidFill>
                  <a:srgbClr val="D4D4D4"/>
                </a:solidFill>
                <a:latin typeface="Courier New" pitchFamily="34" charset="0"/>
                <a:ea typeface="Courier New" pitchFamily="34" charset="-122"/>
                <a:cs typeface="Courier New" pitchFamily="34" charset="-120"/>
              </a:rPr>
              <a:t>? </a:t>
            </a:r>
            <a:r>
              <a:rPr lang="en-US" sz="1030" dirty="0">
                <a:solidFill>
                  <a:srgbClr val="4EC9B0"/>
                </a:solidFill>
                <a:latin typeface="Courier New" pitchFamily="34" charset="0"/>
                <a:ea typeface="Courier New" pitchFamily="34" charset="-122"/>
                <a:cs typeface="Courier New" pitchFamily="34" charset="-120"/>
              </a:rPr>
              <a:t>BirdCount</a:t>
            </a:r>
            <a:r>
              <a:rPr lang="en-US" sz="1030" dirty="0">
                <a:solidFill>
                  <a:srgbClr val="D4D4D4"/>
                </a:solidFill>
                <a:latin typeface="Courier New" pitchFamily="34" charset="0"/>
                <a:ea typeface="Courier New" pitchFamily="34" charset="-122"/>
                <a:cs typeface="Courier New" pitchFamily="34" charset="-120"/>
              </a:rPr>
              <a:t> {</a:t>
            </a:r>
            <a:r>
              <a:rPr lang="en-US" sz="1030" dirty="0">
                <a:solidFill>
                  <a:srgbClr val="569CD6"/>
                </a:solidFill>
                <a:latin typeface="Courier New" pitchFamily="34" charset="0"/>
                <a:ea typeface="Courier New" pitchFamily="34" charset="-122"/>
                <a:cs typeface="Courier New" pitchFamily="34" charset="-120"/>
              </a:rPr>
              <a:t>get</a:t>
            </a:r>
            <a:r>
              <a:rPr lang="en-US" sz="1030" dirty="0">
                <a:solidFill>
                  <a:srgbClr val="D4D4D4"/>
                </a:solidFill>
                <a:latin typeface="Courier New" pitchFamily="34" charset="0"/>
                <a:ea typeface="Courier New" pitchFamily="34" charset="-122"/>
                <a:cs typeface="Courier New" pitchFamily="34" charset="-120"/>
              </a:rPr>
              <a:t>; </a:t>
            </a:r>
            <a:r>
              <a:rPr lang="en-US" sz="1030" dirty="0">
                <a:solidFill>
                  <a:srgbClr val="569CD6"/>
                </a:solidFill>
                <a:latin typeface="Courier New" pitchFamily="34" charset="0"/>
                <a:ea typeface="Courier New" pitchFamily="34" charset="-122"/>
                <a:cs typeface="Courier New" pitchFamily="34" charset="-120"/>
              </a:rPr>
              <a:t>set</a:t>
            </a:r>
            <a:r>
              <a:rPr lang="en-US" sz="1030" dirty="0">
                <a:solidFill>
                  <a:srgbClr val="D4D4D4"/>
                </a:solidFill>
                <a:latin typeface="Courier New" pitchFamily="34" charset="0"/>
                <a:ea typeface="Courier New" pitchFamily="34" charset="-122"/>
                <a:cs typeface="Courier New" pitchFamily="34" charset="-120"/>
              </a:rPr>
              <a:t>;}</a:t>
            </a:r>
            <a:endParaRPr lang="en-US" sz="1030" dirty="0"/>
          </a:p>
          <a:p>
            <a:pPr marL="0" indent="0">
              <a:lnSpc>
                <a:spcPts val="1360"/>
              </a:lnSpc>
              <a:buNone/>
            </a:pPr>
            <a:r>
              <a:rPr lang="en-US" sz="1030" dirty="0">
                <a:solidFill>
                  <a:srgbClr val="D4D4D4"/>
                </a:solidFill>
                <a:latin typeface="Courier New" pitchFamily="34" charset="0"/>
                <a:ea typeface="Courier New" pitchFamily="34" charset="-122"/>
                <a:cs typeface="Courier New" pitchFamily="34" charset="-120"/>
              </a:rPr>
              <a:t> </a:t>
            </a:r>
            <a:endParaRPr lang="en-US" sz="1030" dirty="0"/>
          </a:p>
          <a:p>
            <a:pPr marL="0" indent="0">
              <a:lnSpc>
                <a:spcPts val="1360"/>
              </a:lnSpc>
              <a:buNone/>
            </a:pPr>
            <a:r>
              <a:rPr lang="en-US" sz="1030" dirty="0">
                <a:solidFill>
                  <a:srgbClr val="D4D4D4"/>
                </a:solidFill>
                <a:latin typeface="Courier New" pitchFamily="34" charset="0"/>
                <a:ea typeface="Courier New" pitchFamily="34" charset="-122"/>
                <a:cs typeface="Courier New" pitchFamily="34" charset="-120"/>
              </a:rPr>
              <a:t>[</a:t>
            </a:r>
            <a:r>
              <a:rPr lang="en-US" sz="1030" dirty="0">
                <a:solidFill>
                  <a:srgbClr val="DCDCAA"/>
                </a:solidFill>
                <a:latin typeface="Courier New" pitchFamily="34" charset="0"/>
                <a:ea typeface="Courier New" pitchFamily="34" charset="-122"/>
                <a:cs typeface="Courier New" pitchFamily="34" charset="-120"/>
              </a:rPr>
              <a:t>Range</a:t>
            </a:r>
            <a:r>
              <a:rPr lang="en-US" sz="1030" dirty="0">
                <a:solidFill>
                  <a:srgbClr val="D4D4D4"/>
                </a:solidFill>
                <a:latin typeface="Courier New" pitchFamily="34" charset="0"/>
                <a:ea typeface="Courier New" pitchFamily="34" charset="-122"/>
                <a:cs typeface="Courier New" pitchFamily="34" charset="-120"/>
              </a:rPr>
              <a:t>(</a:t>
            </a:r>
            <a:r>
              <a:rPr lang="en-US" sz="1030" dirty="0">
                <a:solidFill>
                  <a:srgbClr val="B5CEA8"/>
                </a:solidFill>
                <a:latin typeface="Courier New" pitchFamily="34" charset="0"/>
                <a:ea typeface="Courier New" pitchFamily="34" charset="-122"/>
                <a:cs typeface="Courier New" pitchFamily="34" charset="-120"/>
              </a:rPr>
              <a:t>1</a:t>
            </a:r>
            <a:r>
              <a:rPr lang="en-US" sz="1030" dirty="0">
                <a:solidFill>
                  <a:srgbClr val="D4D4D4"/>
                </a:solidFill>
                <a:latin typeface="Courier New" pitchFamily="34" charset="0"/>
                <a:ea typeface="Courier New" pitchFamily="34" charset="-122"/>
                <a:cs typeface="Courier New" pitchFamily="34" charset="-120"/>
              </a:rPr>
              <a:t>, </a:t>
            </a:r>
            <a:r>
              <a:rPr lang="en-US" sz="1030" dirty="0">
                <a:solidFill>
                  <a:srgbClr val="569CD6"/>
                </a:solidFill>
                <a:latin typeface="Courier New" pitchFamily="34" charset="0"/>
                <a:ea typeface="Courier New" pitchFamily="34" charset="-122"/>
                <a:cs typeface="Courier New" pitchFamily="34" charset="-120"/>
              </a:rPr>
              <a:t>int</a:t>
            </a:r>
            <a:r>
              <a:rPr lang="en-US" sz="1030" dirty="0">
                <a:solidFill>
                  <a:srgbClr val="D4D4D4"/>
                </a:solidFill>
                <a:latin typeface="Courier New" pitchFamily="34" charset="0"/>
                <a:ea typeface="Courier New" pitchFamily="34" charset="-122"/>
                <a:cs typeface="Courier New" pitchFamily="34" charset="-120"/>
              </a:rPr>
              <a:t>.</a:t>
            </a:r>
            <a:r>
              <a:rPr lang="en-US" sz="1030" dirty="0">
                <a:solidFill>
                  <a:srgbClr val="4EC9B0"/>
                </a:solidFill>
                <a:latin typeface="Courier New" pitchFamily="34" charset="0"/>
                <a:ea typeface="Courier New" pitchFamily="34" charset="-122"/>
                <a:cs typeface="Courier New" pitchFamily="34" charset="-120"/>
              </a:rPr>
              <a:t>MaxValue</a:t>
            </a:r>
            <a:r>
              <a:rPr lang="en-US" sz="1030" dirty="0">
                <a:solidFill>
                  <a:srgbClr val="D4D4D4"/>
                </a:solidFill>
                <a:latin typeface="Courier New" pitchFamily="34" charset="0"/>
                <a:ea typeface="Courier New" pitchFamily="34" charset="-122"/>
                <a:cs typeface="Courier New" pitchFamily="34" charset="-120"/>
              </a:rPr>
              <a:t>)]</a:t>
            </a:r>
            <a:endParaRPr lang="en-US" sz="1030" dirty="0"/>
          </a:p>
          <a:p>
            <a:pPr marL="0" indent="0">
              <a:lnSpc>
                <a:spcPts val="1360"/>
              </a:lnSpc>
              <a:buNone/>
            </a:pPr>
            <a:r>
              <a:rPr lang="en-US" sz="1030" dirty="0">
                <a:solidFill>
                  <a:srgbClr val="569CD6"/>
                </a:solidFill>
                <a:latin typeface="Courier New" pitchFamily="34" charset="0"/>
                <a:ea typeface="Courier New" pitchFamily="34" charset="-122"/>
                <a:cs typeface="Courier New" pitchFamily="34" charset="-120"/>
              </a:rPr>
              <a:t>public</a:t>
            </a:r>
            <a:r>
              <a:rPr lang="en-US" sz="1030" dirty="0">
                <a:solidFill>
                  <a:srgbClr val="D4D4D4"/>
                </a:solidFill>
                <a:latin typeface="Courier New" pitchFamily="34" charset="0"/>
                <a:ea typeface="Courier New" pitchFamily="34" charset="-122"/>
                <a:cs typeface="Courier New" pitchFamily="34" charset="-120"/>
              </a:rPr>
              <a:t> </a:t>
            </a:r>
            <a:r>
              <a:rPr lang="en-US" sz="1030" dirty="0">
                <a:solidFill>
                  <a:srgbClr val="569CD6"/>
                </a:solidFill>
                <a:latin typeface="Courier New" pitchFamily="34" charset="0"/>
                <a:ea typeface="Courier New" pitchFamily="34" charset="-122"/>
                <a:cs typeface="Courier New" pitchFamily="34" charset="-120"/>
              </a:rPr>
              <a:t>int</a:t>
            </a:r>
            <a:r>
              <a:rPr lang="en-US" sz="1030" dirty="0">
                <a:solidFill>
                  <a:srgbClr val="D4D4D4"/>
                </a:solidFill>
                <a:latin typeface="Courier New" pitchFamily="34" charset="0"/>
                <a:ea typeface="Courier New" pitchFamily="34" charset="-122"/>
                <a:cs typeface="Courier New" pitchFamily="34" charset="-120"/>
              </a:rPr>
              <a:t>? </a:t>
            </a:r>
            <a:r>
              <a:rPr lang="en-US" sz="1030" dirty="0">
                <a:solidFill>
                  <a:srgbClr val="4EC9B0"/>
                </a:solidFill>
                <a:latin typeface="Courier New" pitchFamily="34" charset="0"/>
                <a:ea typeface="Courier New" pitchFamily="34" charset="-122"/>
                <a:cs typeface="Courier New" pitchFamily="34" charset="-120"/>
              </a:rPr>
              <a:t>Capacity</a:t>
            </a:r>
            <a:r>
              <a:rPr lang="en-US" sz="1030" dirty="0">
                <a:solidFill>
                  <a:srgbClr val="D4D4D4"/>
                </a:solidFill>
                <a:latin typeface="Courier New" pitchFamily="34" charset="0"/>
                <a:ea typeface="Courier New" pitchFamily="34" charset="-122"/>
                <a:cs typeface="Courier New" pitchFamily="34" charset="-120"/>
              </a:rPr>
              <a:t> { </a:t>
            </a:r>
            <a:r>
              <a:rPr lang="en-US" sz="1030" dirty="0">
                <a:solidFill>
                  <a:srgbClr val="569CD6"/>
                </a:solidFill>
                <a:latin typeface="Courier New" pitchFamily="34" charset="0"/>
                <a:ea typeface="Courier New" pitchFamily="34" charset="-122"/>
                <a:cs typeface="Courier New" pitchFamily="34" charset="-120"/>
              </a:rPr>
              <a:t>get</a:t>
            </a:r>
            <a:r>
              <a:rPr lang="en-US" sz="1030" dirty="0">
                <a:solidFill>
                  <a:srgbClr val="D4D4D4"/>
                </a:solidFill>
                <a:latin typeface="Courier New" pitchFamily="34" charset="0"/>
                <a:ea typeface="Courier New" pitchFamily="34" charset="-122"/>
                <a:cs typeface="Courier New" pitchFamily="34" charset="-120"/>
              </a:rPr>
              <a:t>; </a:t>
            </a:r>
            <a:r>
              <a:rPr lang="en-US" sz="1030" dirty="0">
                <a:solidFill>
                  <a:srgbClr val="569CD6"/>
                </a:solidFill>
                <a:latin typeface="Courier New" pitchFamily="34" charset="0"/>
                <a:ea typeface="Courier New" pitchFamily="34" charset="-122"/>
                <a:cs typeface="Courier New" pitchFamily="34" charset="-120"/>
              </a:rPr>
              <a:t>set</a:t>
            </a:r>
            <a:r>
              <a:rPr lang="en-US" sz="1030" dirty="0">
                <a:solidFill>
                  <a:srgbClr val="D4D4D4"/>
                </a:solidFill>
                <a:latin typeface="Courier New" pitchFamily="34" charset="0"/>
                <a:ea typeface="Courier New" pitchFamily="34" charset="-122"/>
                <a:cs typeface="Courier New" pitchFamily="34" charset="-120"/>
              </a:rPr>
              <a:t>; }</a:t>
            </a:r>
            <a:endParaRPr lang="en-US" sz="1030" dirty="0"/>
          </a:p>
        </p:txBody>
      </p:sp>
      <p:sp>
        <p:nvSpPr>
          <p:cNvPr id="51" name="Text 49"/>
          <p:cNvSpPr txBox="1"/>
          <p:nvPr/>
        </p:nvSpPr>
        <p:spPr>
          <a:xfrm>
            <a:off x="7178040" y="4343400"/>
            <a:ext cx="4465015" cy="1097280"/>
          </a:xfrm>
          <a:prstGeom prst="rect">
            <a:avLst/>
          </a:prstGeom>
          <a:noFill/>
          <a:ln/>
        </p:spPr>
        <p:txBody>
          <a:bodyPr wrap="square" lIns="0" tIns="0" rIns="0" bIns="0" rtlCol="0" anchor="t"/>
          <a:lstStyle/>
          <a:p>
            <a:pPr marL="0" indent="0" algn="l">
              <a:spcAft>
                <a:spcPts val="300"/>
              </a:spcAft>
              <a:buNone/>
            </a:pPr>
            <a:r>
              <a:rPr lang="en-US" sz="1350" b="1" dirty="0">
                <a:solidFill>
                  <a:srgbClr val="FFFFFF"/>
                </a:solidFill>
                <a:latin typeface="Calibri" pitchFamily="34" charset="0"/>
                <a:ea typeface="Calibri" pitchFamily="34" charset="-122"/>
                <a:cs typeface="Calibri" pitchFamily="34" charset="-120"/>
              </a:rPr>
              <a:t>Checked before the service runs. </a:t>
            </a:r>
            <a:r>
              <a:rPr lang="en-US" sz="1350" dirty="0">
                <a:solidFill>
                  <a:srgbClr val="93ACC6"/>
                </a:solidFill>
                <a:latin typeface="Calibri" pitchFamily="34" charset="0"/>
                <a:ea typeface="Calibri" pitchFamily="34" charset="-122"/>
                <a:cs typeface="Calibri" pitchFamily="34" charset="-120"/>
              </a:rPr>
              <a:t>A missing name or a capacity below 1 returns a 400 with the reason.</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1D33"/>
        </a:solidFill>
        <a:effectLst/>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F6AE2D"/>
          </a:solidFill>
          <a:ln w="12700">
            <a:solidFill>
              <a:srgbClr val="F6AE2D"/>
            </a:solidFill>
            <a:prstDash val="solid"/>
          </a:ln>
        </p:spPr>
        <p:txBody>
          <a:bodyPr/>
          <a:lstStyle/>
          <a:p>
            <a:endParaRPr lang="en-ZA"/>
          </a:p>
        </p:txBody>
      </p:sp>
      <p:sp>
        <p:nvSpPr>
          <p:cNvPr id="3" name="Text 1"/>
          <p:cNvSpPr txBox="1"/>
          <p:nvPr/>
        </p:nvSpPr>
        <p:spPr>
          <a:xfrm>
            <a:off x="548640" y="384048"/>
            <a:ext cx="8229600" cy="274320"/>
          </a:xfrm>
          <a:prstGeom prst="rect">
            <a:avLst/>
          </a:prstGeom>
          <a:noFill/>
          <a:ln/>
        </p:spPr>
        <p:txBody>
          <a:bodyPr wrap="square" lIns="0" tIns="0" rIns="0" bIns="0" rtlCol="0" anchor="ctr"/>
          <a:lstStyle/>
          <a:p>
            <a:pPr marL="0" indent="0">
              <a:buNone/>
            </a:pPr>
            <a:r>
              <a:rPr lang="en-US" sz="1100" b="1" kern="0" spc="400" dirty="0">
                <a:solidFill>
                  <a:srgbClr val="F6AE2D"/>
                </a:solidFill>
                <a:latin typeface="Calibri" pitchFamily="34" charset="0"/>
                <a:ea typeface="Calibri" pitchFamily="34" charset="-122"/>
                <a:cs typeface="Calibri" pitchFamily="34" charset="-120"/>
              </a:rPr>
              <a:t>SHIFT CAPACITY</a:t>
            </a:r>
            <a:endParaRPr lang="en-US" sz="1100" dirty="0"/>
          </a:p>
        </p:txBody>
      </p:sp>
      <p:sp>
        <p:nvSpPr>
          <p:cNvPr id="4" name="Text 2"/>
          <p:cNvSpPr txBox="1"/>
          <p:nvPr/>
        </p:nvSpPr>
        <p:spPr>
          <a:xfrm>
            <a:off x="548640" y="658368"/>
            <a:ext cx="11094415" cy="566928"/>
          </a:xfrm>
          <a:prstGeom prst="rect">
            <a:avLst/>
          </a:prstGeom>
          <a:noFill/>
          <a:ln/>
        </p:spPr>
        <p:txBody>
          <a:bodyPr wrap="square" lIns="0" tIns="0" rIns="0" bIns="0"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How many volunteers a shift needs</a:t>
            </a:r>
            <a:endParaRPr lang="en-US" sz="3000" dirty="0"/>
          </a:p>
        </p:txBody>
      </p:sp>
      <p:sp>
        <p:nvSpPr>
          <p:cNvPr id="5" name="Shape 3"/>
          <p:cNvSpPr/>
          <p:nvPr/>
        </p:nvSpPr>
        <p:spPr>
          <a:xfrm>
            <a:off x="548640" y="1463040"/>
            <a:ext cx="3515258" cy="3383280"/>
          </a:xfrm>
          <a:prstGeom prst="roundRect">
            <a:avLst>
              <a:gd name="adj" fmla="val 2703"/>
            </a:avLst>
          </a:prstGeom>
          <a:solidFill>
            <a:srgbClr val="13304F"/>
          </a:solidFill>
          <a:ln w="12700">
            <a:solidFill>
              <a:srgbClr val="13304F"/>
            </a:solidFill>
            <a:prstDash val="solid"/>
          </a:ln>
        </p:spPr>
        <p:txBody>
          <a:bodyPr/>
          <a:lstStyle/>
          <a:p>
            <a:endParaRPr lang="en-ZA"/>
          </a:p>
        </p:txBody>
      </p:sp>
      <p:sp>
        <p:nvSpPr>
          <p:cNvPr id="6" name="Shape 4"/>
          <p:cNvSpPr/>
          <p:nvPr/>
        </p:nvSpPr>
        <p:spPr>
          <a:xfrm>
            <a:off x="548640" y="1463040"/>
            <a:ext cx="3515258" cy="91440"/>
          </a:xfrm>
          <a:prstGeom prst="rect">
            <a:avLst/>
          </a:prstGeom>
          <a:solidFill>
            <a:srgbClr val="5ED3C6"/>
          </a:solidFill>
          <a:ln w="12700">
            <a:solidFill>
              <a:srgbClr val="5ED3C6"/>
            </a:solidFill>
            <a:prstDash val="solid"/>
          </a:ln>
        </p:spPr>
        <p:txBody>
          <a:bodyPr/>
          <a:lstStyle/>
          <a:p>
            <a:endParaRPr lang="en-ZA"/>
          </a:p>
        </p:txBody>
      </p:sp>
      <p:sp>
        <p:nvSpPr>
          <p:cNvPr id="7" name="Text 5"/>
          <p:cNvSpPr txBox="1"/>
          <p:nvPr/>
        </p:nvSpPr>
        <p:spPr>
          <a:xfrm>
            <a:off x="822960" y="1737360"/>
            <a:ext cx="2966618" cy="320040"/>
          </a:xfrm>
          <a:prstGeom prst="rect">
            <a:avLst/>
          </a:prstGeom>
          <a:noFill/>
          <a:ln/>
        </p:spPr>
        <p:txBody>
          <a:bodyPr wrap="square" lIns="0" tIns="0" rIns="0" bIns="0" rtlCol="0" anchor="t"/>
          <a:lstStyle/>
          <a:p>
            <a:pPr marL="0" indent="0" algn="l">
              <a:spcAft>
                <a:spcPts val="300"/>
              </a:spcAft>
              <a:buNone/>
            </a:pPr>
            <a:r>
              <a:rPr lang="en-US" sz="1200" b="1" dirty="0">
                <a:solidFill>
                  <a:srgbClr val="5ED3C6"/>
                </a:solidFill>
                <a:latin typeface="Calibri" pitchFamily="34" charset="0"/>
                <a:ea typeface="Calibri" pitchFamily="34" charset="-122"/>
                <a:cs typeface="Calibri" pitchFamily="34" charset="-120"/>
              </a:rPr>
              <a:t>SUPPORTING AREAS</a:t>
            </a:r>
            <a:endParaRPr lang="en-US" sz="1200" dirty="0"/>
          </a:p>
        </p:txBody>
      </p:sp>
      <p:sp>
        <p:nvSpPr>
          <p:cNvPr id="8" name="Text 6"/>
          <p:cNvSpPr txBox="1"/>
          <p:nvPr/>
        </p:nvSpPr>
        <p:spPr>
          <a:xfrm>
            <a:off x="822960" y="2103120"/>
            <a:ext cx="2966618" cy="1005840"/>
          </a:xfrm>
          <a:prstGeom prst="rect">
            <a:avLst/>
          </a:prstGeom>
          <a:noFill/>
          <a:ln/>
        </p:spPr>
        <p:txBody>
          <a:bodyPr wrap="square" lIns="0" tIns="0" rIns="0" bIns="0" rtlCol="0" anchor="ctr"/>
          <a:lstStyle/>
          <a:p>
            <a:pPr marL="0" indent="0" algn="l">
              <a:spcAft>
                <a:spcPts val="300"/>
              </a:spcAft>
              <a:buNone/>
            </a:pPr>
            <a:r>
              <a:rPr lang="en-US" sz="4800" b="1" dirty="0">
                <a:solidFill>
                  <a:srgbClr val="FFFFFF"/>
                </a:solidFill>
                <a:latin typeface="Calibri" pitchFamily="34" charset="0"/>
                <a:ea typeface="Calibri" pitchFamily="34" charset="-122"/>
                <a:cs typeface="Calibri" pitchFamily="34" charset="-120"/>
              </a:rPr>
              <a:t>Manual</a:t>
            </a:r>
            <a:endParaRPr lang="en-US" sz="4800" dirty="0"/>
          </a:p>
        </p:txBody>
      </p:sp>
      <p:sp>
        <p:nvSpPr>
          <p:cNvPr id="9" name="Text 7"/>
          <p:cNvSpPr txBox="1"/>
          <p:nvPr/>
        </p:nvSpPr>
        <p:spPr>
          <a:xfrm>
            <a:off x="822960" y="3200400"/>
            <a:ext cx="2966618" cy="731520"/>
          </a:xfrm>
          <a:prstGeom prst="rect">
            <a:avLst/>
          </a:prstGeom>
          <a:noFill/>
          <a:ln/>
        </p:spPr>
        <p:txBody>
          <a:bodyPr wrap="square" lIns="0" tIns="0" rIns="0" bIns="0" rtlCol="0" anchor="t"/>
          <a:lstStyle/>
          <a:p>
            <a:pPr marL="0" indent="0" algn="l">
              <a:spcAft>
                <a:spcPts val="300"/>
              </a:spcAft>
              <a:buNone/>
            </a:pPr>
            <a:r>
              <a:rPr lang="en-US" sz="1350" dirty="0">
                <a:solidFill>
                  <a:srgbClr val="E3ECF6"/>
                </a:solidFill>
                <a:latin typeface="Calibri" pitchFamily="34" charset="0"/>
                <a:ea typeface="Calibri" pitchFamily="34" charset="-122"/>
                <a:cs typeface="Calibri" pitchFamily="34" charset="-120"/>
              </a:rPr>
              <a:t>The admin enters the capacity.</a:t>
            </a:r>
            <a:endParaRPr lang="en-US" sz="1350" dirty="0"/>
          </a:p>
        </p:txBody>
      </p:sp>
      <p:sp>
        <p:nvSpPr>
          <p:cNvPr id="10" name="Shape 8"/>
          <p:cNvSpPr/>
          <p:nvPr/>
        </p:nvSpPr>
        <p:spPr>
          <a:xfrm>
            <a:off x="822960" y="4160520"/>
            <a:ext cx="2966618" cy="411480"/>
          </a:xfrm>
          <a:prstGeom prst="roundRect">
            <a:avLst>
              <a:gd name="adj" fmla="val 50000"/>
            </a:avLst>
          </a:prstGeom>
          <a:solidFill>
            <a:srgbClr val="0B1D33"/>
          </a:solidFill>
          <a:ln w="12700">
            <a:solidFill>
              <a:srgbClr val="0B1D33"/>
            </a:solidFill>
            <a:prstDash val="solid"/>
          </a:ln>
        </p:spPr>
        <p:txBody>
          <a:bodyPr/>
          <a:lstStyle/>
          <a:p>
            <a:endParaRPr lang="en-ZA"/>
          </a:p>
        </p:txBody>
      </p:sp>
      <p:sp>
        <p:nvSpPr>
          <p:cNvPr id="11" name="Text 9"/>
          <p:cNvSpPr txBox="1"/>
          <p:nvPr/>
        </p:nvSpPr>
        <p:spPr>
          <a:xfrm>
            <a:off x="822960" y="4160520"/>
            <a:ext cx="2966618" cy="411480"/>
          </a:xfrm>
          <a:prstGeom prst="rect">
            <a:avLst/>
          </a:prstGeom>
          <a:noFill/>
          <a:ln/>
        </p:spPr>
        <p:txBody>
          <a:bodyPr wrap="square" lIns="0" tIns="0" rIns="0" bIns="0" rtlCol="0" anchor="ctr"/>
          <a:lstStyle/>
          <a:p>
            <a:pPr marL="0" indent="0" algn="ctr">
              <a:buNone/>
            </a:pPr>
            <a:r>
              <a:rPr lang="en-US" sz="1200" b="1" dirty="0">
                <a:solidFill>
                  <a:srgbClr val="5ED3C6"/>
                </a:solidFill>
                <a:latin typeface="Calibri" pitchFamily="34" charset="0"/>
                <a:ea typeface="Calibri" pitchFamily="34" charset="-122"/>
                <a:cs typeface="Calibri" pitchFamily="34" charset="-120"/>
              </a:rPr>
              <a:t>e.g. Laundry: 2</a:t>
            </a:r>
            <a:endParaRPr lang="en-US" sz="1200" dirty="0"/>
          </a:p>
        </p:txBody>
      </p:sp>
      <p:sp>
        <p:nvSpPr>
          <p:cNvPr id="12" name="Shape 10"/>
          <p:cNvSpPr/>
          <p:nvPr/>
        </p:nvSpPr>
        <p:spPr>
          <a:xfrm>
            <a:off x="4338218" y="1463040"/>
            <a:ext cx="3515258" cy="3383280"/>
          </a:xfrm>
          <a:prstGeom prst="roundRect">
            <a:avLst>
              <a:gd name="adj" fmla="val 2703"/>
            </a:avLst>
          </a:prstGeom>
          <a:solidFill>
            <a:srgbClr val="13304F"/>
          </a:solidFill>
          <a:ln w="12700">
            <a:solidFill>
              <a:srgbClr val="13304F"/>
            </a:solidFill>
            <a:prstDash val="solid"/>
          </a:ln>
        </p:spPr>
        <p:txBody>
          <a:bodyPr/>
          <a:lstStyle/>
          <a:p>
            <a:endParaRPr lang="en-ZA"/>
          </a:p>
        </p:txBody>
      </p:sp>
      <p:sp>
        <p:nvSpPr>
          <p:cNvPr id="13" name="Shape 11"/>
          <p:cNvSpPr/>
          <p:nvPr/>
        </p:nvSpPr>
        <p:spPr>
          <a:xfrm>
            <a:off x="4338218" y="1463040"/>
            <a:ext cx="3515258" cy="91440"/>
          </a:xfrm>
          <a:prstGeom prst="rect">
            <a:avLst/>
          </a:prstGeom>
          <a:solidFill>
            <a:srgbClr val="F6AE2D"/>
          </a:solidFill>
          <a:ln w="12700">
            <a:solidFill>
              <a:srgbClr val="F6AE2D"/>
            </a:solidFill>
            <a:prstDash val="solid"/>
          </a:ln>
        </p:spPr>
        <p:txBody>
          <a:bodyPr/>
          <a:lstStyle/>
          <a:p>
            <a:endParaRPr lang="en-ZA"/>
          </a:p>
        </p:txBody>
      </p:sp>
      <p:sp>
        <p:nvSpPr>
          <p:cNvPr id="14" name="Text 12"/>
          <p:cNvSpPr txBox="1"/>
          <p:nvPr/>
        </p:nvSpPr>
        <p:spPr>
          <a:xfrm>
            <a:off x="4612538" y="1737360"/>
            <a:ext cx="2966618" cy="320040"/>
          </a:xfrm>
          <a:prstGeom prst="rect">
            <a:avLst/>
          </a:prstGeom>
          <a:noFill/>
          <a:ln/>
        </p:spPr>
        <p:txBody>
          <a:bodyPr wrap="square" lIns="0" tIns="0" rIns="0" bIns="0" rtlCol="0" anchor="t"/>
          <a:lstStyle/>
          <a:p>
            <a:pPr marL="0" indent="0" algn="l">
              <a:spcAft>
                <a:spcPts val="300"/>
              </a:spcAft>
              <a:buNone/>
            </a:pPr>
            <a:r>
              <a:rPr lang="en-US" sz="1200" b="1" dirty="0">
                <a:solidFill>
                  <a:srgbClr val="F6AE2D"/>
                </a:solidFill>
                <a:latin typeface="Calibri" pitchFamily="34" charset="0"/>
                <a:ea typeface="Calibri" pitchFamily="34" charset="-122"/>
                <a:cs typeface="Calibri" pitchFamily="34" charset="-120"/>
              </a:rPr>
              <a:t>PEN ROUTINES</a:t>
            </a:r>
            <a:endParaRPr lang="en-US" sz="1200" dirty="0"/>
          </a:p>
        </p:txBody>
      </p:sp>
      <p:sp>
        <p:nvSpPr>
          <p:cNvPr id="15" name="Text 13"/>
          <p:cNvSpPr txBox="1"/>
          <p:nvPr/>
        </p:nvSpPr>
        <p:spPr>
          <a:xfrm>
            <a:off x="4612538" y="2103120"/>
            <a:ext cx="2966618" cy="1005840"/>
          </a:xfrm>
          <a:prstGeom prst="rect">
            <a:avLst/>
          </a:prstGeom>
          <a:noFill/>
          <a:ln/>
        </p:spPr>
        <p:txBody>
          <a:bodyPr wrap="square" lIns="0" tIns="0" rIns="0" bIns="0" rtlCol="0" anchor="ctr"/>
          <a:lstStyle/>
          <a:p>
            <a:pPr marL="0" indent="0" algn="l">
              <a:spcAft>
                <a:spcPts val="300"/>
              </a:spcAft>
              <a:buNone/>
            </a:pPr>
            <a:r>
              <a:rPr lang="en-US" sz="4800" b="1" dirty="0">
                <a:solidFill>
                  <a:srgbClr val="FFFFFF"/>
                </a:solidFill>
                <a:latin typeface="Calibri" pitchFamily="34" charset="0"/>
                <a:ea typeface="Calibri" pitchFamily="34" charset="-122"/>
                <a:cs typeface="Calibri" pitchFamily="34" charset="-120"/>
              </a:rPr>
              <a:t>1 per 30</a:t>
            </a:r>
            <a:endParaRPr lang="en-US" sz="4800" dirty="0"/>
          </a:p>
        </p:txBody>
      </p:sp>
      <p:sp>
        <p:nvSpPr>
          <p:cNvPr id="16" name="Text 14"/>
          <p:cNvSpPr txBox="1"/>
          <p:nvPr/>
        </p:nvSpPr>
        <p:spPr>
          <a:xfrm>
            <a:off x="4612538" y="3200400"/>
            <a:ext cx="2966618" cy="731520"/>
          </a:xfrm>
          <a:prstGeom prst="rect">
            <a:avLst/>
          </a:prstGeom>
          <a:noFill/>
          <a:ln/>
        </p:spPr>
        <p:txBody>
          <a:bodyPr wrap="square" lIns="0" tIns="0" rIns="0" bIns="0" rtlCol="0" anchor="t"/>
          <a:lstStyle/>
          <a:p>
            <a:pPr marL="0" indent="0" algn="l">
              <a:spcAft>
                <a:spcPts val="300"/>
              </a:spcAft>
              <a:buNone/>
            </a:pPr>
            <a:r>
              <a:rPr lang="en-US" sz="1350" dirty="0">
                <a:solidFill>
                  <a:srgbClr val="E3ECF6"/>
                </a:solidFill>
                <a:latin typeface="Calibri" pitchFamily="34" charset="0"/>
                <a:ea typeface="Calibri" pitchFamily="34" charset="-122"/>
                <a:cs typeface="Calibri" pitchFamily="34" charset="-120"/>
              </a:rPr>
              <a:t>One volunteer for every 30 birds, rounded up.</a:t>
            </a:r>
            <a:endParaRPr lang="en-US" sz="1350" dirty="0"/>
          </a:p>
        </p:txBody>
      </p:sp>
      <p:sp>
        <p:nvSpPr>
          <p:cNvPr id="17" name="Shape 15"/>
          <p:cNvSpPr/>
          <p:nvPr/>
        </p:nvSpPr>
        <p:spPr>
          <a:xfrm>
            <a:off x="4612538" y="4160520"/>
            <a:ext cx="2966618" cy="411480"/>
          </a:xfrm>
          <a:prstGeom prst="roundRect">
            <a:avLst>
              <a:gd name="adj" fmla="val 50000"/>
            </a:avLst>
          </a:prstGeom>
          <a:solidFill>
            <a:srgbClr val="0B1D33"/>
          </a:solidFill>
          <a:ln w="12700">
            <a:solidFill>
              <a:srgbClr val="0B1D33"/>
            </a:solidFill>
            <a:prstDash val="solid"/>
          </a:ln>
        </p:spPr>
        <p:txBody>
          <a:bodyPr/>
          <a:lstStyle/>
          <a:p>
            <a:endParaRPr lang="en-ZA"/>
          </a:p>
        </p:txBody>
      </p:sp>
      <p:sp>
        <p:nvSpPr>
          <p:cNvPr id="18" name="Text 16"/>
          <p:cNvSpPr txBox="1"/>
          <p:nvPr/>
        </p:nvSpPr>
        <p:spPr>
          <a:xfrm>
            <a:off x="4612538" y="4160520"/>
            <a:ext cx="2966618" cy="411480"/>
          </a:xfrm>
          <a:prstGeom prst="rect">
            <a:avLst/>
          </a:prstGeom>
          <a:noFill/>
          <a:ln/>
        </p:spPr>
        <p:txBody>
          <a:bodyPr wrap="square" lIns="0" tIns="0" rIns="0" bIns="0" rtlCol="0" anchor="ctr"/>
          <a:lstStyle/>
          <a:p>
            <a:pPr marL="0" indent="0" algn="ctr">
              <a:buNone/>
            </a:pPr>
            <a:r>
              <a:rPr lang="en-US" sz="1200" b="1" dirty="0">
                <a:solidFill>
                  <a:srgbClr val="F6AE2D"/>
                </a:solidFill>
                <a:latin typeface="Calibri" pitchFamily="34" charset="0"/>
                <a:ea typeface="Calibri" pitchFamily="34" charset="-122"/>
                <a:cs typeface="Calibri" pitchFamily="34" charset="-120"/>
              </a:rPr>
              <a:t>75 birds → 3 volunteers</a:t>
            </a:r>
            <a:endParaRPr lang="en-US" sz="1200" dirty="0"/>
          </a:p>
        </p:txBody>
      </p:sp>
      <p:sp>
        <p:nvSpPr>
          <p:cNvPr id="19" name="Shape 17"/>
          <p:cNvSpPr/>
          <p:nvPr/>
        </p:nvSpPr>
        <p:spPr>
          <a:xfrm>
            <a:off x="8127797" y="1463040"/>
            <a:ext cx="3515258" cy="3383280"/>
          </a:xfrm>
          <a:prstGeom prst="roundRect">
            <a:avLst>
              <a:gd name="adj" fmla="val 2703"/>
            </a:avLst>
          </a:prstGeom>
          <a:solidFill>
            <a:srgbClr val="13304F"/>
          </a:solidFill>
          <a:ln w="12700">
            <a:solidFill>
              <a:srgbClr val="13304F"/>
            </a:solidFill>
            <a:prstDash val="solid"/>
          </a:ln>
        </p:spPr>
        <p:txBody>
          <a:bodyPr/>
          <a:lstStyle/>
          <a:p>
            <a:endParaRPr lang="en-ZA"/>
          </a:p>
        </p:txBody>
      </p:sp>
      <p:sp>
        <p:nvSpPr>
          <p:cNvPr id="20" name="Shape 18"/>
          <p:cNvSpPr/>
          <p:nvPr/>
        </p:nvSpPr>
        <p:spPr>
          <a:xfrm>
            <a:off x="8127797" y="1463040"/>
            <a:ext cx="3515258" cy="91440"/>
          </a:xfrm>
          <a:prstGeom prst="rect">
            <a:avLst/>
          </a:prstGeom>
          <a:solidFill>
            <a:srgbClr val="F07167"/>
          </a:solidFill>
          <a:ln w="12700">
            <a:solidFill>
              <a:srgbClr val="F07167"/>
            </a:solidFill>
            <a:prstDash val="solid"/>
          </a:ln>
        </p:spPr>
        <p:txBody>
          <a:bodyPr/>
          <a:lstStyle/>
          <a:p>
            <a:endParaRPr lang="en-ZA"/>
          </a:p>
        </p:txBody>
      </p:sp>
      <p:sp>
        <p:nvSpPr>
          <p:cNvPr id="21" name="Text 19"/>
          <p:cNvSpPr txBox="1"/>
          <p:nvPr/>
        </p:nvSpPr>
        <p:spPr>
          <a:xfrm>
            <a:off x="8402117" y="1737360"/>
            <a:ext cx="2966618" cy="320040"/>
          </a:xfrm>
          <a:prstGeom prst="rect">
            <a:avLst/>
          </a:prstGeom>
          <a:noFill/>
          <a:ln/>
        </p:spPr>
        <p:txBody>
          <a:bodyPr wrap="square" lIns="0" tIns="0" rIns="0" bIns="0" rtlCol="0" anchor="t"/>
          <a:lstStyle/>
          <a:p>
            <a:pPr marL="0" indent="0" algn="l">
              <a:spcAft>
                <a:spcPts val="300"/>
              </a:spcAft>
              <a:buNone/>
            </a:pPr>
            <a:r>
              <a:rPr lang="en-US" sz="1200" b="1" dirty="0">
                <a:solidFill>
                  <a:srgbClr val="F07167"/>
                </a:solidFill>
                <a:latin typeface="Calibri" pitchFamily="34" charset="0"/>
                <a:ea typeface="Calibri" pitchFamily="34" charset="-122"/>
                <a:cs typeface="Calibri" pitchFamily="34" charset="-120"/>
              </a:rPr>
              <a:t>QUARANTINE</a:t>
            </a:r>
            <a:endParaRPr lang="en-US" sz="1200" dirty="0"/>
          </a:p>
        </p:txBody>
      </p:sp>
      <p:sp>
        <p:nvSpPr>
          <p:cNvPr id="22" name="Text 20"/>
          <p:cNvSpPr txBox="1"/>
          <p:nvPr/>
        </p:nvSpPr>
        <p:spPr>
          <a:xfrm>
            <a:off x="8402117" y="2103120"/>
            <a:ext cx="2966618" cy="1005840"/>
          </a:xfrm>
          <a:prstGeom prst="rect">
            <a:avLst/>
          </a:prstGeom>
          <a:noFill/>
          <a:ln/>
        </p:spPr>
        <p:txBody>
          <a:bodyPr wrap="square" lIns="0" tIns="0" rIns="0" bIns="0" rtlCol="0" anchor="ctr"/>
          <a:lstStyle/>
          <a:p>
            <a:pPr marL="0" indent="0" algn="l">
              <a:spcAft>
                <a:spcPts val="300"/>
              </a:spcAft>
              <a:buNone/>
            </a:pPr>
            <a:r>
              <a:rPr lang="en-US" sz="4800" b="1" dirty="0">
                <a:solidFill>
                  <a:srgbClr val="FFFFFF"/>
                </a:solidFill>
                <a:latin typeface="Calibri" pitchFamily="34" charset="0"/>
                <a:ea typeface="Calibri" pitchFamily="34" charset="-122"/>
                <a:cs typeface="Calibri" pitchFamily="34" charset="-120"/>
              </a:rPr>
              <a:t>1</a:t>
            </a:r>
            <a:endParaRPr lang="en-US" sz="4800" dirty="0"/>
          </a:p>
        </p:txBody>
      </p:sp>
      <p:sp>
        <p:nvSpPr>
          <p:cNvPr id="23" name="Text 21"/>
          <p:cNvSpPr txBox="1"/>
          <p:nvPr/>
        </p:nvSpPr>
        <p:spPr>
          <a:xfrm>
            <a:off x="8402117" y="3200400"/>
            <a:ext cx="2966618" cy="731520"/>
          </a:xfrm>
          <a:prstGeom prst="rect">
            <a:avLst/>
          </a:prstGeom>
          <a:noFill/>
          <a:ln/>
        </p:spPr>
        <p:txBody>
          <a:bodyPr wrap="square" lIns="0" tIns="0" rIns="0" bIns="0" rtlCol="0" anchor="t"/>
          <a:lstStyle/>
          <a:p>
            <a:pPr marL="0" indent="0" algn="l">
              <a:spcAft>
                <a:spcPts val="300"/>
              </a:spcAft>
              <a:buNone/>
            </a:pPr>
            <a:r>
              <a:rPr lang="en-US" sz="1350" dirty="0">
                <a:solidFill>
                  <a:srgbClr val="E3ECF6"/>
                </a:solidFill>
                <a:latin typeface="Calibri" pitchFamily="34" charset="0"/>
                <a:ea typeface="Calibri" pitchFamily="34" charset="-122"/>
                <a:cs typeface="Calibri" pitchFamily="34" charset="-120"/>
              </a:rPr>
              <a:t>Always exactly one volunteer, to limit contact.</a:t>
            </a:r>
            <a:endParaRPr lang="en-US" sz="1350" dirty="0"/>
          </a:p>
        </p:txBody>
      </p:sp>
      <p:sp>
        <p:nvSpPr>
          <p:cNvPr id="24" name="Shape 22"/>
          <p:cNvSpPr/>
          <p:nvPr/>
        </p:nvSpPr>
        <p:spPr>
          <a:xfrm>
            <a:off x="8402117" y="4160520"/>
            <a:ext cx="2966618" cy="411480"/>
          </a:xfrm>
          <a:prstGeom prst="roundRect">
            <a:avLst>
              <a:gd name="adj" fmla="val 50000"/>
            </a:avLst>
          </a:prstGeom>
          <a:solidFill>
            <a:srgbClr val="0B1D33"/>
          </a:solidFill>
          <a:ln w="12700">
            <a:solidFill>
              <a:srgbClr val="0B1D33"/>
            </a:solidFill>
            <a:prstDash val="solid"/>
          </a:ln>
        </p:spPr>
        <p:txBody>
          <a:bodyPr/>
          <a:lstStyle/>
          <a:p>
            <a:endParaRPr lang="en-ZA"/>
          </a:p>
        </p:txBody>
      </p:sp>
      <p:sp>
        <p:nvSpPr>
          <p:cNvPr id="25" name="Text 23"/>
          <p:cNvSpPr txBox="1"/>
          <p:nvPr/>
        </p:nvSpPr>
        <p:spPr>
          <a:xfrm>
            <a:off x="8402117" y="4160520"/>
            <a:ext cx="2966618" cy="411480"/>
          </a:xfrm>
          <a:prstGeom prst="rect">
            <a:avLst/>
          </a:prstGeom>
          <a:noFill/>
          <a:ln/>
        </p:spPr>
        <p:txBody>
          <a:bodyPr wrap="square" lIns="0" tIns="0" rIns="0" bIns="0" rtlCol="0" anchor="ctr"/>
          <a:lstStyle/>
          <a:p>
            <a:pPr marL="0" indent="0" algn="ctr">
              <a:buNone/>
            </a:pPr>
            <a:r>
              <a:rPr lang="en-US" sz="1200" b="1" dirty="0">
                <a:solidFill>
                  <a:srgbClr val="F07167"/>
                </a:solidFill>
                <a:latin typeface="Calibri" pitchFamily="34" charset="0"/>
                <a:ea typeface="Calibri" pitchFamily="34" charset="-122"/>
                <a:cs typeface="Calibri" pitchFamily="34" charset="-120"/>
              </a:rPr>
              <a:t>Any bird count → 1</a:t>
            </a:r>
            <a:endParaRPr lang="en-US" sz="1200" dirty="0"/>
          </a:p>
        </p:txBody>
      </p:sp>
      <p:sp>
        <p:nvSpPr>
          <p:cNvPr id="26" name="Shape 24"/>
          <p:cNvSpPr/>
          <p:nvPr/>
        </p:nvSpPr>
        <p:spPr>
          <a:xfrm>
            <a:off x="548640" y="5120640"/>
            <a:ext cx="11094415" cy="548640"/>
          </a:xfrm>
          <a:prstGeom prst="roundRect">
            <a:avLst>
              <a:gd name="adj" fmla="val 10000"/>
            </a:avLst>
          </a:prstGeom>
          <a:solidFill>
            <a:srgbClr val="1E1E1E"/>
          </a:solidFill>
          <a:ln w="9525">
            <a:solidFill>
              <a:srgbClr val="333337"/>
            </a:solidFill>
            <a:prstDash val="solid"/>
          </a:ln>
        </p:spPr>
        <p:txBody>
          <a:bodyPr/>
          <a:lstStyle/>
          <a:p>
            <a:endParaRPr lang="en-ZA"/>
          </a:p>
        </p:txBody>
      </p:sp>
      <p:sp>
        <p:nvSpPr>
          <p:cNvPr id="27" name="Text 25"/>
          <p:cNvSpPr txBox="1"/>
          <p:nvPr/>
        </p:nvSpPr>
        <p:spPr>
          <a:xfrm>
            <a:off x="713232" y="5120640"/>
            <a:ext cx="10820095" cy="548640"/>
          </a:xfrm>
          <a:prstGeom prst="rect">
            <a:avLst/>
          </a:prstGeom>
          <a:noFill/>
          <a:ln/>
        </p:spPr>
        <p:txBody>
          <a:bodyPr wrap="square" lIns="0" tIns="0" rIns="0" bIns="0" rtlCol="0" anchor="ctr"/>
          <a:lstStyle/>
          <a:p>
            <a:pPr marL="0" indent="0">
              <a:buNone/>
            </a:pPr>
            <a:r>
              <a:rPr lang="en-US" sz="1400" dirty="0">
                <a:solidFill>
                  <a:srgbClr val="9CDCFE"/>
                </a:solidFill>
                <a:latin typeface="Courier New" pitchFamily="34" charset="0"/>
                <a:ea typeface="Courier New" pitchFamily="34" charset="-122"/>
                <a:cs typeface="Courier New" pitchFamily="34" charset="-120"/>
              </a:rPr>
              <a:t>capacity</a:t>
            </a:r>
            <a:r>
              <a:rPr lang="en-US" sz="1400" dirty="0">
                <a:solidFill>
                  <a:srgbClr val="D4D4D4"/>
                </a:solidFill>
                <a:latin typeface="Courier New" pitchFamily="34" charset="0"/>
                <a:ea typeface="Courier New" pitchFamily="34" charset="-122"/>
                <a:cs typeface="Courier New" pitchFamily="34" charset="-120"/>
              </a:rPr>
              <a:t> = (</a:t>
            </a:r>
            <a:r>
              <a:rPr lang="en-US" sz="1400" dirty="0">
                <a:solidFill>
                  <a:srgbClr val="569CD6"/>
                </a:solidFill>
                <a:latin typeface="Courier New" pitchFamily="34" charset="0"/>
                <a:ea typeface="Courier New" pitchFamily="34" charset="-122"/>
                <a:cs typeface="Courier New" pitchFamily="34" charset="-120"/>
              </a:rPr>
              <a:t>int</a:t>
            </a:r>
            <a:r>
              <a:rPr lang="en-US" sz="1400" dirty="0">
                <a:solidFill>
                  <a:srgbClr val="D4D4D4"/>
                </a:solidFill>
                <a:latin typeface="Courier New" pitchFamily="34" charset="0"/>
                <a:ea typeface="Courier New" pitchFamily="34" charset="-122"/>
                <a:cs typeface="Courier New" pitchFamily="34" charset="-120"/>
              </a:rPr>
              <a:t>)</a:t>
            </a:r>
            <a:r>
              <a:rPr lang="en-US" sz="1400" dirty="0">
                <a:solidFill>
                  <a:srgbClr val="4EC9B0"/>
                </a:solidFill>
                <a:latin typeface="Courier New" pitchFamily="34" charset="0"/>
                <a:ea typeface="Courier New" pitchFamily="34" charset="-122"/>
                <a:cs typeface="Courier New" pitchFamily="34" charset="-120"/>
              </a:rPr>
              <a:t>Math</a:t>
            </a:r>
            <a:r>
              <a:rPr lang="en-US" sz="1400" dirty="0">
                <a:solidFill>
                  <a:srgbClr val="D4D4D4"/>
                </a:solidFill>
                <a:latin typeface="Courier New" pitchFamily="34" charset="0"/>
                <a:ea typeface="Courier New" pitchFamily="34" charset="-122"/>
                <a:cs typeface="Courier New" pitchFamily="34" charset="-120"/>
              </a:rPr>
              <a:t>.</a:t>
            </a:r>
            <a:r>
              <a:rPr lang="en-US" sz="1400" dirty="0">
                <a:solidFill>
                  <a:srgbClr val="DCDCAA"/>
                </a:solidFill>
                <a:latin typeface="Courier New" pitchFamily="34" charset="0"/>
                <a:ea typeface="Courier New" pitchFamily="34" charset="-122"/>
                <a:cs typeface="Courier New" pitchFamily="34" charset="-120"/>
              </a:rPr>
              <a:t>Ceiling</a:t>
            </a:r>
            <a:r>
              <a:rPr lang="en-US" sz="1400" dirty="0">
                <a:solidFill>
                  <a:srgbClr val="D4D4D4"/>
                </a:solidFill>
                <a:latin typeface="Courier New" pitchFamily="34" charset="0"/>
                <a:ea typeface="Courier New" pitchFamily="34" charset="-122"/>
                <a:cs typeface="Courier New" pitchFamily="34" charset="-120"/>
              </a:rPr>
              <a:t>(</a:t>
            </a:r>
            <a:r>
              <a:rPr lang="en-US" sz="1400" dirty="0">
                <a:solidFill>
                  <a:srgbClr val="9CDCFE"/>
                </a:solidFill>
                <a:latin typeface="Courier New" pitchFamily="34" charset="0"/>
                <a:ea typeface="Courier New" pitchFamily="34" charset="-122"/>
                <a:cs typeface="Courier New" pitchFamily="34" charset="-120"/>
              </a:rPr>
              <a:t>birdCount</a:t>
            </a:r>
            <a:r>
              <a:rPr lang="en-US" sz="1400" dirty="0">
                <a:solidFill>
                  <a:srgbClr val="D4D4D4"/>
                </a:solidFill>
                <a:latin typeface="Courier New" pitchFamily="34" charset="0"/>
                <a:ea typeface="Courier New" pitchFamily="34" charset="-122"/>
                <a:cs typeface="Courier New" pitchFamily="34" charset="-120"/>
              </a:rPr>
              <a:t>.</a:t>
            </a:r>
            <a:r>
              <a:rPr lang="en-US" sz="1400" dirty="0">
                <a:solidFill>
                  <a:srgbClr val="4EC9B0"/>
                </a:solidFill>
                <a:latin typeface="Courier New" pitchFamily="34" charset="0"/>
                <a:ea typeface="Courier New" pitchFamily="34" charset="-122"/>
                <a:cs typeface="Courier New" pitchFamily="34" charset="-120"/>
              </a:rPr>
              <a:t>Value</a:t>
            </a:r>
            <a:r>
              <a:rPr lang="en-US" sz="1400" dirty="0">
                <a:solidFill>
                  <a:srgbClr val="D4D4D4"/>
                </a:solidFill>
                <a:latin typeface="Courier New" pitchFamily="34" charset="0"/>
                <a:ea typeface="Courier New" pitchFamily="34" charset="-122"/>
                <a:cs typeface="Courier New" pitchFamily="34" charset="-120"/>
              </a:rPr>
              <a:t> / </a:t>
            </a:r>
            <a:r>
              <a:rPr lang="en-US" sz="1400" dirty="0">
                <a:solidFill>
                  <a:srgbClr val="B5CEA8"/>
                </a:solidFill>
                <a:latin typeface="Courier New" pitchFamily="34" charset="0"/>
                <a:ea typeface="Courier New" pitchFamily="34" charset="-122"/>
                <a:cs typeface="Courier New" pitchFamily="34" charset="-120"/>
              </a:rPr>
              <a:t>30.0</a:t>
            </a:r>
            <a:r>
              <a:rPr lang="en-US" sz="1400" dirty="0">
                <a:solidFill>
                  <a:srgbClr val="D4D4D4"/>
                </a:solidFill>
                <a:latin typeface="Courier New" pitchFamily="34" charset="0"/>
                <a:ea typeface="Courier New" pitchFamily="34" charset="-122"/>
                <a:cs typeface="Courier New" pitchFamily="34" charset="-120"/>
              </a:rPr>
              <a:t>);</a:t>
            </a:r>
            <a:endParaRPr lang="en-US" sz="1400" dirty="0"/>
          </a:p>
        </p:txBody>
      </p:sp>
      <p:sp>
        <p:nvSpPr>
          <p:cNvPr id="28" name="Text 26"/>
          <p:cNvSpPr txBox="1"/>
          <p:nvPr/>
        </p:nvSpPr>
        <p:spPr>
          <a:xfrm>
            <a:off x="548640" y="5806440"/>
            <a:ext cx="11094415" cy="365760"/>
          </a:xfrm>
          <a:prstGeom prst="rect">
            <a:avLst/>
          </a:prstGeom>
          <a:noFill/>
          <a:ln/>
        </p:spPr>
        <p:txBody>
          <a:bodyPr wrap="square" lIns="0" tIns="0" rIns="0" bIns="0" rtlCol="0" anchor="t"/>
          <a:lstStyle/>
          <a:p>
            <a:pPr marL="0" indent="0" algn="l">
              <a:spcAft>
                <a:spcPts val="300"/>
              </a:spcAft>
              <a:buNone/>
            </a:pPr>
            <a:r>
              <a:rPr lang="en-US" sz="1200" i="1" dirty="0">
                <a:solidFill>
                  <a:srgbClr val="F6AE2D"/>
                </a:solidFill>
                <a:latin typeface="Calibri" pitchFamily="34" charset="0"/>
                <a:ea typeface="Calibri" pitchFamily="34" charset="-122"/>
                <a:cs typeface="Calibri" pitchFamily="34" charset="-120"/>
              </a:rPr>
              <a:t>The web app's form currently shows 1 per 25; the API's 30 is what gets saved.</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1D33"/>
        </a:solidFill>
        <a:effectLst/>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5ED3C6"/>
          </a:solidFill>
          <a:ln w="12700">
            <a:solidFill>
              <a:srgbClr val="5ED3C6"/>
            </a:solidFill>
            <a:prstDash val="solid"/>
          </a:ln>
        </p:spPr>
        <p:txBody>
          <a:bodyPr/>
          <a:lstStyle/>
          <a:p>
            <a:endParaRPr lang="en-ZA"/>
          </a:p>
        </p:txBody>
      </p:sp>
      <p:sp>
        <p:nvSpPr>
          <p:cNvPr id="3" name="Text 1"/>
          <p:cNvSpPr txBox="1"/>
          <p:nvPr/>
        </p:nvSpPr>
        <p:spPr>
          <a:xfrm>
            <a:off x="548640" y="384048"/>
            <a:ext cx="8229600" cy="274320"/>
          </a:xfrm>
          <a:prstGeom prst="rect">
            <a:avLst/>
          </a:prstGeom>
          <a:noFill/>
          <a:ln/>
        </p:spPr>
        <p:txBody>
          <a:bodyPr wrap="square" lIns="0" tIns="0" rIns="0" bIns="0" rtlCol="0" anchor="ctr"/>
          <a:lstStyle/>
          <a:p>
            <a:pPr marL="0" indent="0">
              <a:buNone/>
            </a:pPr>
            <a:r>
              <a:rPr lang="en-US" sz="1100" b="1" kern="0" spc="400" dirty="0">
                <a:solidFill>
                  <a:srgbClr val="5ED3C6"/>
                </a:solidFill>
                <a:latin typeface="Calibri" pitchFamily="34" charset="0"/>
                <a:ea typeface="Calibri" pitchFamily="34" charset="-122"/>
                <a:cs typeface="Calibri" pitchFamily="34" charset="-120"/>
              </a:rPr>
              <a:t>VACANCIES</a:t>
            </a:r>
            <a:endParaRPr lang="en-US" sz="1100" dirty="0"/>
          </a:p>
        </p:txBody>
      </p:sp>
      <p:sp>
        <p:nvSpPr>
          <p:cNvPr id="4" name="Text 2"/>
          <p:cNvSpPr txBox="1"/>
          <p:nvPr/>
        </p:nvSpPr>
        <p:spPr>
          <a:xfrm>
            <a:off x="548640" y="658368"/>
            <a:ext cx="11094415" cy="566928"/>
          </a:xfrm>
          <a:prstGeom prst="rect">
            <a:avLst/>
          </a:prstGeom>
          <a:noFill/>
          <a:ln/>
        </p:spPr>
        <p:txBody>
          <a:bodyPr wrap="square" lIns="0" tIns="0" rIns="0" bIns="0"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Open spots, worked out in one query</a:t>
            </a:r>
            <a:endParaRPr lang="en-US" sz="3000" dirty="0"/>
          </a:p>
        </p:txBody>
      </p:sp>
      <p:sp>
        <p:nvSpPr>
          <p:cNvPr id="5" name="Shape 3"/>
          <p:cNvSpPr/>
          <p:nvPr/>
        </p:nvSpPr>
        <p:spPr>
          <a:xfrm>
            <a:off x="548640" y="1417320"/>
            <a:ext cx="11094415" cy="822960"/>
          </a:xfrm>
          <a:prstGeom prst="roundRect">
            <a:avLst>
              <a:gd name="adj" fmla="val 11111"/>
            </a:avLst>
          </a:prstGeom>
          <a:solidFill>
            <a:srgbClr val="1A3D63"/>
          </a:solidFill>
          <a:ln w="15875">
            <a:solidFill>
              <a:srgbClr val="5ED3C6"/>
            </a:solidFill>
            <a:prstDash val="solid"/>
          </a:ln>
        </p:spPr>
        <p:txBody>
          <a:bodyPr/>
          <a:lstStyle/>
          <a:p>
            <a:endParaRPr lang="en-ZA"/>
          </a:p>
        </p:txBody>
      </p:sp>
      <p:sp>
        <p:nvSpPr>
          <p:cNvPr id="6" name="Text 4"/>
          <p:cNvSpPr txBox="1"/>
          <p:nvPr/>
        </p:nvSpPr>
        <p:spPr>
          <a:xfrm>
            <a:off x="822960" y="1417320"/>
            <a:ext cx="10545775" cy="822960"/>
          </a:xfrm>
          <a:prstGeom prst="rect">
            <a:avLst/>
          </a:prstGeom>
          <a:noFill/>
          <a:ln/>
        </p:spPr>
        <p:txBody>
          <a:bodyPr wrap="square" lIns="0" tIns="0" rIns="0" bIns="0" rtlCol="0" anchor="ctr"/>
          <a:lstStyle/>
          <a:p>
            <a:pPr marL="0" indent="0" algn="l">
              <a:spcAft>
                <a:spcPts val="300"/>
              </a:spcAft>
              <a:buNone/>
            </a:pPr>
            <a:r>
              <a:rPr lang="en-US" sz="2600" b="1" dirty="0">
                <a:solidFill>
                  <a:srgbClr val="5ED3C6"/>
                </a:solidFill>
                <a:latin typeface="Calibri" pitchFamily="34" charset="0"/>
                <a:ea typeface="Calibri" pitchFamily="34" charset="-122"/>
                <a:cs typeface="Calibri" pitchFamily="34" charset="-120"/>
              </a:rPr>
              <a:t>Vacancies</a:t>
            </a:r>
            <a:r>
              <a:rPr lang="en-US" sz="2600" dirty="0">
                <a:solidFill>
                  <a:srgbClr val="FFFFFF"/>
                </a:solidFill>
                <a:latin typeface="Calibri" pitchFamily="34" charset="0"/>
                <a:ea typeface="Calibri" pitchFamily="34" charset="-122"/>
                <a:cs typeface="Calibri" pitchFamily="34" charset="-120"/>
              </a:rPr>
              <a:t>  =  </a:t>
            </a:r>
            <a:r>
              <a:rPr lang="en-US" sz="2600" b="1" dirty="0">
                <a:solidFill>
                  <a:srgbClr val="F6AE2D"/>
                </a:solidFill>
                <a:latin typeface="Calibri" pitchFamily="34" charset="0"/>
                <a:ea typeface="Calibri" pitchFamily="34" charset="-122"/>
                <a:cs typeface="Calibri" pitchFamily="34" charset="-120"/>
              </a:rPr>
              <a:t>Capacity</a:t>
            </a:r>
            <a:r>
              <a:rPr lang="en-US" sz="2600" dirty="0">
                <a:solidFill>
                  <a:srgbClr val="FFFFFF"/>
                </a:solidFill>
                <a:latin typeface="Calibri" pitchFamily="34" charset="0"/>
                <a:ea typeface="Calibri" pitchFamily="34" charset="-122"/>
                <a:cs typeface="Calibri" pitchFamily="34" charset="-120"/>
              </a:rPr>
              <a:t>  −  </a:t>
            </a:r>
            <a:r>
              <a:rPr lang="en-US" sz="2600" b="1" dirty="0">
                <a:solidFill>
                  <a:srgbClr val="F07167"/>
                </a:solidFill>
                <a:latin typeface="Calibri" pitchFamily="34" charset="0"/>
                <a:ea typeface="Calibri" pitchFamily="34" charset="-122"/>
                <a:cs typeface="Calibri" pitchFamily="34" charset="-120"/>
              </a:rPr>
              <a:t>active bookings</a:t>
            </a:r>
            <a:r>
              <a:rPr lang="en-US" sz="1400" dirty="0">
                <a:solidFill>
                  <a:srgbClr val="93ACC6"/>
                </a:solidFill>
                <a:latin typeface="Calibri" pitchFamily="34" charset="0"/>
                <a:ea typeface="Calibri" pitchFamily="34" charset="-122"/>
                <a:cs typeface="Calibri" pitchFamily="34" charset="-120"/>
              </a:rPr>
              <a:t>    (cancelled ones don't count)</a:t>
            </a:r>
            <a:endParaRPr lang="en-US" sz="2600" dirty="0"/>
          </a:p>
        </p:txBody>
      </p:sp>
      <p:sp>
        <p:nvSpPr>
          <p:cNvPr id="7" name="Shape 5"/>
          <p:cNvSpPr/>
          <p:nvPr/>
        </p:nvSpPr>
        <p:spPr>
          <a:xfrm>
            <a:off x="548640" y="2514600"/>
            <a:ext cx="7726680" cy="2219706"/>
          </a:xfrm>
          <a:prstGeom prst="roundRect">
            <a:avLst>
              <a:gd name="adj" fmla="val 3296"/>
            </a:avLst>
          </a:prstGeom>
          <a:solidFill>
            <a:srgbClr val="1E1E1E"/>
          </a:solidFill>
          <a:ln w="9525">
            <a:solidFill>
              <a:srgbClr val="333337"/>
            </a:solidFill>
            <a:prstDash val="solid"/>
          </a:ln>
          <a:effectLst>
            <a:outerShdw blurRad="127000" dist="38100" dir="5400000" algn="bl" rotWithShape="0">
              <a:srgbClr val="000000">
                <a:alpha val="40000"/>
              </a:srgbClr>
            </a:outerShdw>
          </a:effectLst>
        </p:spPr>
        <p:txBody>
          <a:bodyPr/>
          <a:lstStyle/>
          <a:p>
            <a:endParaRPr lang="en-ZA"/>
          </a:p>
        </p:txBody>
      </p:sp>
      <p:sp>
        <p:nvSpPr>
          <p:cNvPr id="8" name="Shape 6"/>
          <p:cNvSpPr/>
          <p:nvPr/>
        </p:nvSpPr>
        <p:spPr>
          <a:xfrm>
            <a:off x="548640" y="2514600"/>
            <a:ext cx="7726680" cy="329184"/>
          </a:xfrm>
          <a:prstGeom prst="roundRect">
            <a:avLst>
              <a:gd name="adj" fmla="val 22222"/>
            </a:avLst>
          </a:prstGeom>
          <a:solidFill>
            <a:srgbClr val="2D2D30"/>
          </a:solidFill>
          <a:ln w="12700">
            <a:solidFill>
              <a:srgbClr val="2D2D30"/>
            </a:solidFill>
            <a:prstDash val="solid"/>
          </a:ln>
        </p:spPr>
        <p:txBody>
          <a:bodyPr/>
          <a:lstStyle/>
          <a:p>
            <a:endParaRPr lang="en-ZA"/>
          </a:p>
        </p:txBody>
      </p:sp>
      <p:sp>
        <p:nvSpPr>
          <p:cNvPr id="9" name="Shape 7"/>
          <p:cNvSpPr/>
          <p:nvPr/>
        </p:nvSpPr>
        <p:spPr>
          <a:xfrm>
            <a:off x="548640" y="2679192"/>
            <a:ext cx="7726680" cy="164592"/>
          </a:xfrm>
          <a:prstGeom prst="rect">
            <a:avLst/>
          </a:prstGeom>
          <a:solidFill>
            <a:srgbClr val="2D2D30"/>
          </a:solidFill>
          <a:ln w="12700">
            <a:solidFill>
              <a:srgbClr val="2D2D30"/>
            </a:solidFill>
            <a:prstDash val="solid"/>
          </a:ln>
        </p:spPr>
        <p:txBody>
          <a:bodyPr/>
          <a:lstStyle/>
          <a:p>
            <a:endParaRPr lang="en-ZA"/>
          </a:p>
        </p:txBody>
      </p:sp>
      <p:sp>
        <p:nvSpPr>
          <p:cNvPr id="10" name="Text 8"/>
          <p:cNvSpPr txBox="1"/>
          <p:nvPr/>
        </p:nvSpPr>
        <p:spPr>
          <a:xfrm>
            <a:off x="713232" y="2514600"/>
            <a:ext cx="7452360" cy="329184"/>
          </a:xfrm>
          <a:prstGeom prst="rect">
            <a:avLst/>
          </a:prstGeom>
          <a:noFill/>
          <a:ln/>
        </p:spPr>
        <p:txBody>
          <a:bodyPr wrap="square" lIns="0" tIns="0" rIns="0" bIns="0" rtlCol="0" anchor="ctr"/>
          <a:lstStyle/>
          <a:p>
            <a:pPr marL="0" indent="0">
              <a:buNone/>
            </a:pPr>
            <a:r>
              <a:rPr lang="en-US" sz="1050" b="1" dirty="0">
                <a:solidFill>
                  <a:srgbClr val="E8E8E8"/>
                </a:solidFill>
                <a:latin typeface="Calibri" pitchFamily="34" charset="0"/>
                <a:ea typeface="Calibri" pitchFamily="34" charset="-122"/>
                <a:cs typeface="Calibri" pitchFamily="34" charset="-120"/>
              </a:rPr>
              <a:t>VacancyService.cs</a:t>
            </a:r>
            <a:r>
              <a:rPr lang="en-US" sz="1050" dirty="0">
                <a:solidFill>
                  <a:srgbClr val="8C8C8C"/>
                </a:solidFill>
                <a:latin typeface="Calibri" pitchFamily="34" charset="0"/>
                <a:ea typeface="Calibri" pitchFamily="34" charset="-122"/>
                <a:cs typeface="Calibri" pitchFamily="34" charset="-120"/>
              </a:rPr>
              <a:t>   GetAllVacanciesAsync</a:t>
            </a:r>
            <a:endParaRPr lang="en-US" sz="1050" dirty="0"/>
          </a:p>
        </p:txBody>
      </p:sp>
      <p:sp>
        <p:nvSpPr>
          <p:cNvPr id="11" name="Shape 9"/>
          <p:cNvSpPr/>
          <p:nvPr/>
        </p:nvSpPr>
        <p:spPr>
          <a:xfrm>
            <a:off x="585216" y="3223260"/>
            <a:ext cx="7653528" cy="125730"/>
          </a:xfrm>
          <a:prstGeom prst="rect">
            <a:avLst/>
          </a:prstGeom>
          <a:solidFill>
            <a:srgbClr val="5ED3C6">
              <a:alpha val="16000"/>
            </a:srgbClr>
          </a:solidFill>
          <a:ln w="12700">
            <a:solidFill>
              <a:srgbClr val="5ED3C6">
                <a:alpha val="0"/>
              </a:srgbClr>
            </a:solidFill>
            <a:prstDash val="solid"/>
          </a:ln>
        </p:spPr>
        <p:txBody>
          <a:bodyPr/>
          <a:lstStyle/>
          <a:p>
            <a:endParaRPr lang="en-ZA"/>
          </a:p>
        </p:txBody>
      </p:sp>
      <p:sp>
        <p:nvSpPr>
          <p:cNvPr id="12" name="Shape 10"/>
          <p:cNvSpPr/>
          <p:nvPr/>
        </p:nvSpPr>
        <p:spPr>
          <a:xfrm>
            <a:off x="585216" y="3726180"/>
            <a:ext cx="7653528" cy="125730"/>
          </a:xfrm>
          <a:prstGeom prst="rect">
            <a:avLst/>
          </a:prstGeom>
          <a:solidFill>
            <a:srgbClr val="5ED3C6">
              <a:alpha val="16000"/>
            </a:srgbClr>
          </a:solidFill>
          <a:ln w="12700">
            <a:solidFill>
              <a:srgbClr val="5ED3C6">
                <a:alpha val="0"/>
              </a:srgbClr>
            </a:solidFill>
            <a:prstDash val="solid"/>
          </a:ln>
        </p:spPr>
        <p:txBody>
          <a:bodyPr/>
          <a:lstStyle/>
          <a:p>
            <a:endParaRPr lang="en-ZA"/>
          </a:p>
        </p:txBody>
      </p:sp>
      <p:sp>
        <p:nvSpPr>
          <p:cNvPr id="13" name="Shape 11"/>
          <p:cNvSpPr/>
          <p:nvPr/>
        </p:nvSpPr>
        <p:spPr>
          <a:xfrm>
            <a:off x="585216" y="4103370"/>
            <a:ext cx="7653528" cy="125730"/>
          </a:xfrm>
          <a:prstGeom prst="rect">
            <a:avLst/>
          </a:prstGeom>
          <a:solidFill>
            <a:srgbClr val="5ED3C6">
              <a:alpha val="16000"/>
            </a:srgbClr>
          </a:solidFill>
          <a:ln w="12700">
            <a:solidFill>
              <a:srgbClr val="5ED3C6">
                <a:alpha val="0"/>
              </a:srgbClr>
            </a:solidFill>
            <a:prstDash val="solid"/>
          </a:ln>
        </p:spPr>
        <p:txBody>
          <a:bodyPr/>
          <a:lstStyle/>
          <a:p>
            <a:endParaRPr lang="en-ZA"/>
          </a:p>
        </p:txBody>
      </p:sp>
      <p:sp>
        <p:nvSpPr>
          <p:cNvPr id="14" name="Text 12"/>
          <p:cNvSpPr txBox="1"/>
          <p:nvPr/>
        </p:nvSpPr>
        <p:spPr>
          <a:xfrm>
            <a:off x="594360" y="2971800"/>
            <a:ext cx="365760" cy="1634490"/>
          </a:xfrm>
          <a:prstGeom prst="rect">
            <a:avLst/>
          </a:prstGeom>
          <a:noFill/>
          <a:ln/>
        </p:spPr>
        <p:txBody>
          <a:bodyPr wrap="square" lIns="0" tIns="0" rIns="0" bIns="0" rtlCol="0" anchor="t"/>
          <a:lstStyle/>
          <a:p>
            <a:pPr marL="0" indent="0" algn="r">
              <a:lnSpc>
                <a:spcPts val="990"/>
              </a:lnSpc>
              <a:buNone/>
            </a:pPr>
            <a:r>
              <a:rPr lang="en-US" sz="750" dirty="0">
                <a:solidFill>
                  <a:srgbClr val="858585"/>
                </a:solidFill>
                <a:latin typeface="Courier New" pitchFamily="34" charset="0"/>
                <a:ea typeface="Courier New" pitchFamily="34" charset="-122"/>
                <a:cs typeface="Courier New" pitchFamily="34" charset="-120"/>
              </a:rPr>
              <a:t>22</a:t>
            </a:r>
            <a:endParaRPr lang="en-US" sz="750" dirty="0"/>
          </a:p>
          <a:p>
            <a:pPr marL="0" indent="0" algn="r">
              <a:lnSpc>
                <a:spcPts val="990"/>
              </a:lnSpc>
              <a:buNone/>
            </a:pPr>
            <a:r>
              <a:rPr lang="en-US" sz="750" dirty="0">
                <a:solidFill>
                  <a:srgbClr val="858585"/>
                </a:solidFill>
                <a:latin typeface="Courier New" pitchFamily="34" charset="0"/>
                <a:ea typeface="Courier New" pitchFamily="34" charset="-122"/>
                <a:cs typeface="Courier New" pitchFamily="34" charset="-120"/>
              </a:rPr>
              <a:t>23</a:t>
            </a:r>
            <a:endParaRPr lang="en-US" sz="750" dirty="0"/>
          </a:p>
          <a:p>
            <a:pPr marL="0" indent="0" algn="r">
              <a:lnSpc>
                <a:spcPts val="990"/>
              </a:lnSpc>
              <a:buNone/>
            </a:pPr>
            <a:r>
              <a:rPr lang="en-US" sz="750" dirty="0">
                <a:solidFill>
                  <a:srgbClr val="858585"/>
                </a:solidFill>
                <a:latin typeface="Courier New" pitchFamily="34" charset="0"/>
                <a:ea typeface="Courier New" pitchFamily="34" charset="-122"/>
                <a:cs typeface="Courier New" pitchFamily="34" charset="-120"/>
              </a:rPr>
              <a:t>24</a:t>
            </a:r>
            <a:endParaRPr lang="en-US" sz="750" dirty="0"/>
          </a:p>
          <a:p>
            <a:pPr marL="0" indent="0" algn="r">
              <a:lnSpc>
                <a:spcPts val="990"/>
              </a:lnSpc>
              <a:buNone/>
            </a:pPr>
            <a:r>
              <a:rPr lang="en-US" sz="750" dirty="0">
                <a:solidFill>
                  <a:srgbClr val="858585"/>
                </a:solidFill>
                <a:latin typeface="Courier New" pitchFamily="34" charset="0"/>
                <a:ea typeface="Courier New" pitchFamily="34" charset="-122"/>
                <a:cs typeface="Courier New" pitchFamily="34" charset="-120"/>
              </a:rPr>
              <a:t>25</a:t>
            </a:r>
            <a:endParaRPr lang="en-US" sz="750" dirty="0"/>
          </a:p>
          <a:p>
            <a:pPr marL="0" indent="0" algn="r">
              <a:lnSpc>
                <a:spcPts val="990"/>
              </a:lnSpc>
              <a:buNone/>
            </a:pPr>
            <a:r>
              <a:rPr lang="en-US" sz="750" dirty="0">
                <a:solidFill>
                  <a:srgbClr val="858585"/>
                </a:solidFill>
                <a:latin typeface="Courier New" pitchFamily="34" charset="0"/>
                <a:ea typeface="Courier New" pitchFamily="34" charset="-122"/>
                <a:cs typeface="Courier New" pitchFamily="34" charset="-120"/>
              </a:rPr>
              <a:t>26</a:t>
            </a:r>
            <a:endParaRPr lang="en-US" sz="750" dirty="0"/>
          </a:p>
          <a:p>
            <a:pPr marL="0" indent="0" algn="r">
              <a:lnSpc>
                <a:spcPts val="990"/>
              </a:lnSpc>
              <a:buNone/>
            </a:pPr>
            <a:r>
              <a:rPr lang="en-US" sz="750" dirty="0">
                <a:solidFill>
                  <a:srgbClr val="858585"/>
                </a:solidFill>
                <a:latin typeface="Courier New" pitchFamily="34" charset="0"/>
                <a:ea typeface="Courier New" pitchFamily="34" charset="-122"/>
                <a:cs typeface="Courier New" pitchFamily="34" charset="-120"/>
              </a:rPr>
              <a:t>27</a:t>
            </a:r>
            <a:endParaRPr lang="en-US" sz="750" dirty="0"/>
          </a:p>
          <a:p>
            <a:pPr marL="0" indent="0" algn="r">
              <a:lnSpc>
                <a:spcPts val="990"/>
              </a:lnSpc>
              <a:buNone/>
            </a:pPr>
            <a:r>
              <a:rPr lang="en-US" sz="750" dirty="0">
                <a:solidFill>
                  <a:srgbClr val="858585"/>
                </a:solidFill>
                <a:latin typeface="Courier New" pitchFamily="34" charset="0"/>
                <a:ea typeface="Courier New" pitchFamily="34" charset="-122"/>
                <a:cs typeface="Courier New" pitchFamily="34" charset="-120"/>
              </a:rPr>
              <a:t>28</a:t>
            </a:r>
            <a:endParaRPr lang="en-US" sz="750" dirty="0"/>
          </a:p>
          <a:p>
            <a:pPr marL="0" indent="0" algn="r">
              <a:lnSpc>
                <a:spcPts val="990"/>
              </a:lnSpc>
              <a:buNone/>
            </a:pPr>
            <a:r>
              <a:rPr lang="en-US" sz="750" dirty="0">
                <a:solidFill>
                  <a:srgbClr val="858585"/>
                </a:solidFill>
                <a:latin typeface="Courier New" pitchFamily="34" charset="0"/>
                <a:ea typeface="Courier New" pitchFamily="34" charset="-122"/>
                <a:cs typeface="Courier New" pitchFamily="34" charset="-120"/>
              </a:rPr>
              <a:t> </a:t>
            </a:r>
            <a:endParaRPr lang="en-US" sz="750" dirty="0"/>
          </a:p>
          <a:p>
            <a:pPr marL="0" indent="0" algn="r">
              <a:lnSpc>
                <a:spcPts val="990"/>
              </a:lnSpc>
              <a:buNone/>
            </a:pPr>
            <a:r>
              <a:rPr lang="en-US" sz="750" dirty="0">
                <a:solidFill>
                  <a:srgbClr val="858585"/>
                </a:solidFill>
                <a:latin typeface="Courier New" pitchFamily="34" charset="0"/>
                <a:ea typeface="Courier New" pitchFamily="34" charset="-122"/>
                <a:cs typeface="Courier New" pitchFamily="34" charset="-120"/>
              </a:rPr>
              <a:t>36</a:t>
            </a:r>
            <a:endParaRPr lang="en-US" sz="750" dirty="0"/>
          </a:p>
          <a:p>
            <a:pPr marL="0" indent="0" algn="r">
              <a:lnSpc>
                <a:spcPts val="990"/>
              </a:lnSpc>
              <a:buNone/>
            </a:pPr>
            <a:r>
              <a:rPr lang="en-US" sz="750" dirty="0">
                <a:solidFill>
                  <a:srgbClr val="858585"/>
                </a:solidFill>
                <a:latin typeface="Courier New" pitchFamily="34" charset="0"/>
                <a:ea typeface="Courier New" pitchFamily="34" charset="-122"/>
                <a:cs typeface="Courier New" pitchFamily="34" charset="-120"/>
              </a:rPr>
              <a:t>37</a:t>
            </a:r>
            <a:endParaRPr lang="en-US" sz="750" dirty="0"/>
          </a:p>
          <a:p>
            <a:pPr marL="0" indent="0" algn="r">
              <a:lnSpc>
                <a:spcPts val="990"/>
              </a:lnSpc>
              <a:buNone/>
            </a:pPr>
            <a:r>
              <a:rPr lang="en-US" sz="750" dirty="0">
                <a:solidFill>
                  <a:srgbClr val="858585"/>
                </a:solidFill>
                <a:latin typeface="Courier New" pitchFamily="34" charset="0"/>
                <a:ea typeface="Courier New" pitchFamily="34" charset="-122"/>
                <a:cs typeface="Courier New" pitchFamily="34" charset="-120"/>
              </a:rPr>
              <a:t>38</a:t>
            </a:r>
            <a:endParaRPr lang="en-US" sz="750" dirty="0"/>
          </a:p>
          <a:p>
            <a:pPr marL="0" indent="0" algn="r">
              <a:lnSpc>
                <a:spcPts val="990"/>
              </a:lnSpc>
              <a:buNone/>
            </a:pPr>
            <a:r>
              <a:rPr lang="en-US" sz="750" dirty="0">
                <a:solidFill>
                  <a:srgbClr val="858585"/>
                </a:solidFill>
                <a:latin typeface="Courier New" pitchFamily="34" charset="0"/>
                <a:ea typeface="Courier New" pitchFamily="34" charset="-122"/>
                <a:cs typeface="Courier New" pitchFamily="34" charset="-120"/>
              </a:rPr>
              <a:t>39</a:t>
            </a:r>
            <a:endParaRPr lang="en-US" sz="750" dirty="0"/>
          </a:p>
          <a:p>
            <a:pPr marL="0" indent="0" algn="r">
              <a:lnSpc>
                <a:spcPts val="990"/>
              </a:lnSpc>
              <a:buNone/>
            </a:pPr>
            <a:r>
              <a:rPr lang="en-US" sz="750" dirty="0">
                <a:solidFill>
                  <a:srgbClr val="858585"/>
                </a:solidFill>
                <a:latin typeface="Courier New" pitchFamily="34" charset="0"/>
                <a:ea typeface="Courier New" pitchFamily="34" charset="-122"/>
                <a:cs typeface="Courier New" pitchFamily="34" charset="-120"/>
              </a:rPr>
              <a:t>40</a:t>
            </a:r>
            <a:endParaRPr lang="en-US" sz="750" dirty="0"/>
          </a:p>
        </p:txBody>
      </p:sp>
      <p:sp>
        <p:nvSpPr>
          <p:cNvPr id="15" name="Text 13"/>
          <p:cNvSpPr txBox="1"/>
          <p:nvPr/>
        </p:nvSpPr>
        <p:spPr>
          <a:xfrm>
            <a:off x="1188720" y="2971800"/>
            <a:ext cx="6995160" cy="1634490"/>
          </a:xfrm>
          <a:prstGeom prst="rect">
            <a:avLst/>
          </a:prstGeom>
          <a:noFill/>
          <a:ln/>
        </p:spPr>
        <p:txBody>
          <a:bodyPr wrap="none" lIns="0" tIns="0" rIns="0" bIns="0" rtlCol="0" anchor="t"/>
          <a:lstStyle/>
          <a:p>
            <a:pPr marL="0" indent="0">
              <a:lnSpc>
                <a:spcPts val="990"/>
              </a:lnSpc>
              <a:buNone/>
            </a:pPr>
            <a:r>
              <a:rPr lang="en-US" sz="750" dirty="0">
                <a:solidFill>
                  <a:srgbClr val="C586C0"/>
                </a:solidFill>
                <a:latin typeface="Courier New" pitchFamily="34" charset="0"/>
                <a:ea typeface="Courier New" pitchFamily="34" charset="-122"/>
                <a:cs typeface="Courier New" pitchFamily="34" charset="-120"/>
              </a:rPr>
              <a:t>return</a:t>
            </a:r>
            <a:r>
              <a:rPr lang="en-US" sz="750" dirty="0">
                <a:solidFill>
                  <a:srgbClr val="D4D4D4"/>
                </a:solidFill>
                <a:latin typeface="Courier New" pitchFamily="34" charset="0"/>
                <a:ea typeface="Courier New" pitchFamily="34" charset="-122"/>
                <a:cs typeface="Courier New" pitchFamily="34" charset="-120"/>
              </a:rPr>
              <a:t> </a:t>
            </a:r>
            <a:r>
              <a:rPr lang="en-US" sz="750" dirty="0">
                <a:solidFill>
                  <a:srgbClr val="C586C0"/>
                </a:solidFill>
                <a:latin typeface="Courier New" pitchFamily="34" charset="0"/>
                <a:ea typeface="Courier New" pitchFamily="34" charset="-122"/>
                <a:cs typeface="Courier New" pitchFamily="34" charset="-120"/>
              </a:rPr>
              <a:t>await</a:t>
            </a:r>
            <a:r>
              <a:rPr lang="en-US" sz="750" dirty="0">
                <a:solidFill>
                  <a:srgbClr val="D4D4D4"/>
                </a:solidFill>
                <a:latin typeface="Courier New" pitchFamily="34" charset="0"/>
                <a:ea typeface="Courier New" pitchFamily="34" charset="-122"/>
                <a:cs typeface="Courier New" pitchFamily="34" charset="-120"/>
              </a:rPr>
              <a:t> </a:t>
            </a:r>
            <a:r>
              <a:rPr lang="en-US" sz="750" dirty="0">
                <a:solidFill>
                  <a:srgbClr val="9CDCFE"/>
                </a:solidFill>
                <a:latin typeface="Courier New" pitchFamily="34" charset="0"/>
                <a:ea typeface="Courier New" pitchFamily="34" charset="-122"/>
                <a:cs typeface="Courier New" pitchFamily="34" charset="-120"/>
              </a:rPr>
              <a:t>_context</a:t>
            </a:r>
            <a:r>
              <a:rPr lang="en-US" sz="750" dirty="0">
                <a:solidFill>
                  <a:srgbClr val="D4D4D4"/>
                </a:solidFill>
                <a:latin typeface="Courier New" pitchFamily="34" charset="0"/>
                <a:ea typeface="Courier New" pitchFamily="34" charset="-122"/>
                <a:cs typeface="Courier New" pitchFamily="34" charset="-120"/>
              </a:rPr>
              <a:t>.</a:t>
            </a:r>
            <a:r>
              <a:rPr lang="en-US" sz="750" dirty="0">
                <a:solidFill>
                  <a:srgbClr val="4EC9B0"/>
                </a:solidFill>
                <a:latin typeface="Courier New" pitchFamily="34" charset="0"/>
                <a:ea typeface="Courier New" pitchFamily="34" charset="-122"/>
                <a:cs typeface="Courier New" pitchFamily="34" charset="-120"/>
              </a:rPr>
              <a:t>Shifts</a:t>
            </a:r>
            <a:endParaRPr lang="en-US" sz="750" dirty="0"/>
          </a:p>
          <a:p>
            <a:pPr marL="0" indent="0">
              <a:lnSpc>
                <a:spcPts val="990"/>
              </a:lnSpc>
              <a:buNone/>
            </a:pPr>
            <a:r>
              <a:rPr lang="en-US" sz="750" dirty="0">
                <a:solidFill>
                  <a:srgbClr val="D4D4D4"/>
                </a:solidFill>
                <a:latin typeface="Courier New" pitchFamily="34" charset="0"/>
                <a:ea typeface="Courier New" pitchFamily="34" charset="-122"/>
                <a:cs typeface="Courier New" pitchFamily="34" charset="-120"/>
              </a:rPr>
              <a:t>    .</a:t>
            </a:r>
            <a:r>
              <a:rPr lang="en-US" sz="750" dirty="0">
                <a:solidFill>
                  <a:srgbClr val="DCDCAA"/>
                </a:solidFill>
                <a:latin typeface="Courier New" pitchFamily="34" charset="0"/>
                <a:ea typeface="Courier New" pitchFamily="34" charset="-122"/>
                <a:cs typeface="Courier New" pitchFamily="34" charset="-120"/>
              </a:rPr>
              <a:t>Where</a:t>
            </a:r>
            <a:r>
              <a:rPr lang="en-US" sz="750" dirty="0">
                <a:solidFill>
                  <a:srgbClr val="D4D4D4"/>
                </a:solidFill>
                <a:latin typeface="Courier New" pitchFamily="34" charset="0"/>
                <a:ea typeface="Courier New" pitchFamily="34" charset="-122"/>
                <a:cs typeface="Courier New" pitchFamily="34" charset="-120"/>
              </a:rPr>
              <a:t>(</a:t>
            </a:r>
            <a:r>
              <a:rPr lang="en-US" sz="750" dirty="0">
                <a:solidFill>
                  <a:srgbClr val="9CDCFE"/>
                </a:solidFill>
                <a:latin typeface="Courier New" pitchFamily="34" charset="0"/>
                <a:ea typeface="Courier New" pitchFamily="34" charset="-122"/>
                <a:cs typeface="Courier New" pitchFamily="34" charset="-120"/>
              </a:rPr>
              <a:t>s</a:t>
            </a:r>
            <a:r>
              <a:rPr lang="en-US" sz="750" dirty="0">
                <a:solidFill>
                  <a:srgbClr val="D4D4D4"/>
                </a:solidFill>
                <a:latin typeface="Courier New" pitchFamily="34" charset="0"/>
                <a:ea typeface="Courier New" pitchFamily="34" charset="-122"/>
                <a:cs typeface="Courier New" pitchFamily="34" charset="-120"/>
              </a:rPr>
              <a:t> =&gt;</a:t>
            </a:r>
            <a:endParaRPr lang="en-US" sz="750" dirty="0"/>
          </a:p>
          <a:p>
            <a:pPr marL="0" indent="0">
              <a:lnSpc>
                <a:spcPts val="990"/>
              </a:lnSpc>
              <a:buNone/>
            </a:pPr>
            <a:r>
              <a:rPr lang="en-US" sz="750" dirty="0">
                <a:solidFill>
                  <a:srgbClr val="D4D4D4"/>
                </a:solidFill>
                <a:latin typeface="Courier New" pitchFamily="34" charset="0"/>
                <a:ea typeface="Courier New" pitchFamily="34" charset="-122"/>
                <a:cs typeface="Courier New" pitchFamily="34" charset="-120"/>
              </a:rPr>
              <a:t>        </a:t>
            </a:r>
            <a:r>
              <a:rPr lang="en-US" sz="750" dirty="0">
                <a:solidFill>
                  <a:srgbClr val="9CDCFE"/>
                </a:solidFill>
                <a:latin typeface="Courier New" pitchFamily="34" charset="0"/>
                <a:ea typeface="Courier New" pitchFamily="34" charset="-122"/>
                <a:cs typeface="Courier New" pitchFamily="34" charset="-120"/>
              </a:rPr>
              <a:t>s</a:t>
            </a:r>
            <a:r>
              <a:rPr lang="en-US" sz="750" dirty="0">
                <a:solidFill>
                  <a:srgbClr val="D4D4D4"/>
                </a:solidFill>
                <a:latin typeface="Courier New" pitchFamily="34" charset="0"/>
                <a:ea typeface="Courier New" pitchFamily="34" charset="-122"/>
                <a:cs typeface="Courier New" pitchFamily="34" charset="-120"/>
              </a:rPr>
              <a:t>.</a:t>
            </a:r>
            <a:r>
              <a:rPr lang="en-US" sz="750" dirty="0">
                <a:solidFill>
                  <a:srgbClr val="4EC9B0"/>
                </a:solidFill>
                <a:latin typeface="Courier New" pitchFamily="34" charset="0"/>
                <a:ea typeface="Courier New" pitchFamily="34" charset="-122"/>
                <a:cs typeface="Courier New" pitchFamily="34" charset="-120"/>
              </a:rPr>
              <a:t>ShiftDate</a:t>
            </a:r>
            <a:r>
              <a:rPr lang="en-US" sz="750" dirty="0">
                <a:solidFill>
                  <a:srgbClr val="D4D4D4"/>
                </a:solidFill>
                <a:latin typeface="Courier New" pitchFamily="34" charset="0"/>
                <a:ea typeface="Courier New" pitchFamily="34" charset="-122"/>
                <a:cs typeface="Courier New" pitchFamily="34" charset="-120"/>
              </a:rPr>
              <a:t> &gt;= </a:t>
            </a:r>
            <a:r>
              <a:rPr lang="en-US" sz="750" dirty="0">
                <a:solidFill>
                  <a:srgbClr val="9CDCFE"/>
                </a:solidFill>
                <a:latin typeface="Courier New" pitchFamily="34" charset="0"/>
                <a:ea typeface="Courier New" pitchFamily="34" charset="-122"/>
                <a:cs typeface="Courier New" pitchFamily="34" charset="-120"/>
              </a:rPr>
              <a:t>today</a:t>
            </a:r>
            <a:r>
              <a:rPr lang="en-US" sz="750" dirty="0">
                <a:solidFill>
                  <a:srgbClr val="D4D4D4"/>
                </a:solidFill>
                <a:latin typeface="Courier New" pitchFamily="34" charset="0"/>
                <a:ea typeface="Courier New" pitchFamily="34" charset="-122"/>
                <a:cs typeface="Courier New" pitchFamily="34" charset="-120"/>
              </a:rPr>
              <a:t> &amp;&amp;</a:t>
            </a:r>
            <a:endParaRPr lang="en-US" sz="750" dirty="0"/>
          </a:p>
          <a:p>
            <a:pPr marL="0" indent="0">
              <a:lnSpc>
                <a:spcPts val="990"/>
              </a:lnSpc>
              <a:buNone/>
            </a:pPr>
            <a:r>
              <a:rPr lang="en-US" sz="750" dirty="0">
                <a:solidFill>
                  <a:srgbClr val="D4D4D4"/>
                </a:solidFill>
                <a:latin typeface="Courier New" pitchFamily="34" charset="0"/>
                <a:ea typeface="Courier New" pitchFamily="34" charset="-122"/>
                <a:cs typeface="Courier New" pitchFamily="34" charset="-120"/>
              </a:rPr>
              <a:t>        </a:t>
            </a:r>
            <a:r>
              <a:rPr lang="en-US" sz="750" dirty="0">
                <a:solidFill>
                  <a:srgbClr val="9CDCFE"/>
                </a:solidFill>
                <a:latin typeface="Courier New" pitchFamily="34" charset="0"/>
                <a:ea typeface="Courier New" pitchFamily="34" charset="-122"/>
                <a:cs typeface="Courier New" pitchFamily="34" charset="-120"/>
              </a:rPr>
              <a:t>s</a:t>
            </a:r>
            <a:r>
              <a:rPr lang="en-US" sz="750" dirty="0">
                <a:solidFill>
                  <a:srgbClr val="D4D4D4"/>
                </a:solidFill>
                <a:latin typeface="Courier New" pitchFamily="34" charset="0"/>
                <a:ea typeface="Courier New" pitchFamily="34" charset="-122"/>
                <a:cs typeface="Courier New" pitchFamily="34" charset="-120"/>
              </a:rPr>
              <a:t>.</a:t>
            </a:r>
            <a:r>
              <a:rPr lang="en-US" sz="750" dirty="0">
                <a:solidFill>
                  <a:srgbClr val="4EC9B0"/>
                </a:solidFill>
                <a:latin typeface="Courier New" pitchFamily="34" charset="0"/>
                <a:ea typeface="Courier New" pitchFamily="34" charset="-122"/>
                <a:cs typeface="Courier New" pitchFamily="34" charset="-120"/>
              </a:rPr>
              <a:t>Capacity</a:t>
            </a:r>
            <a:r>
              <a:rPr lang="en-US" sz="750" dirty="0">
                <a:solidFill>
                  <a:srgbClr val="D4D4D4"/>
                </a:solidFill>
                <a:latin typeface="Courier New" pitchFamily="34" charset="0"/>
                <a:ea typeface="Courier New" pitchFamily="34" charset="-122"/>
                <a:cs typeface="Courier New" pitchFamily="34" charset="-120"/>
              </a:rPr>
              <a:t> &gt; </a:t>
            </a:r>
            <a:r>
              <a:rPr lang="en-US" sz="750" dirty="0">
                <a:solidFill>
                  <a:srgbClr val="9CDCFE"/>
                </a:solidFill>
                <a:latin typeface="Courier New" pitchFamily="34" charset="0"/>
                <a:ea typeface="Courier New" pitchFamily="34" charset="-122"/>
                <a:cs typeface="Courier New" pitchFamily="34" charset="-120"/>
              </a:rPr>
              <a:t>s</a:t>
            </a:r>
            <a:r>
              <a:rPr lang="en-US" sz="750" dirty="0">
                <a:solidFill>
                  <a:srgbClr val="D4D4D4"/>
                </a:solidFill>
                <a:latin typeface="Courier New" pitchFamily="34" charset="0"/>
                <a:ea typeface="Courier New" pitchFamily="34" charset="-122"/>
                <a:cs typeface="Courier New" pitchFamily="34" charset="-120"/>
              </a:rPr>
              <a:t>.</a:t>
            </a:r>
            <a:r>
              <a:rPr lang="en-US" sz="750" dirty="0">
                <a:solidFill>
                  <a:srgbClr val="4EC9B0"/>
                </a:solidFill>
                <a:latin typeface="Courier New" pitchFamily="34" charset="0"/>
                <a:ea typeface="Courier New" pitchFamily="34" charset="-122"/>
                <a:cs typeface="Courier New" pitchFamily="34" charset="-120"/>
              </a:rPr>
              <a:t>RosterAssignments</a:t>
            </a:r>
            <a:r>
              <a:rPr lang="en-US" sz="750" dirty="0">
                <a:solidFill>
                  <a:srgbClr val="D4D4D4"/>
                </a:solidFill>
                <a:latin typeface="Courier New" pitchFamily="34" charset="0"/>
                <a:ea typeface="Courier New" pitchFamily="34" charset="-122"/>
                <a:cs typeface="Courier New" pitchFamily="34" charset="-120"/>
              </a:rPr>
              <a:t>.</a:t>
            </a:r>
            <a:r>
              <a:rPr lang="en-US" sz="750" dirty="0">
                <a:solidFill>
                  <a:srgbClr val="DCDCAA"/>
                </a:solidFill>
                <a:latin typeface="Courier New" pitchFamily="34" charset="0"/>
                <a:ea typeface="Courier New" pitchFamily="34" charset="-122"/>
                <a:cs typeface="Courier New" pitchFamily="34" charset="-120"/>
              </a:rPr>
              <a:t>Count</a:t>
            </a:r>
            <a:r>
              <a:rPr lang="en-US" sz="750" dirty="0">
                <a:solidFill>
                  <a:srgbClr val="D4D4D4"/>
                </a:solidFill>
                <a:latin typeface="Courier New" pitchFamily="34" charset="0"/>
                <a:ea typeface="Courier New" pitchFamily="34" charset="-122"/>
                <a:cs typeface="Courier New" pitchFamily="34" charset="-120"/>
              </a:rPr>
              <a:t>(</a:t>
            </a:r>
            <a:r>
              <a:rPr lang="en-US" sz="750" dirty="0">
                <a:solidFill>
                  <a:srgbClr val="9CDCFE"/>
                </a:solidFill>
                <a:latin typeface="Courier New" pitchFamily="34" charset="0"/>
                <a:ea typeface="Courier New" pitchFamily="34" charset="-122"/>
                <a:cs typeface="Courier New" pitchFamily="34" charset="-120"/>
              </a:rPr>
              <a:t>ra</a:t>
            </a:r>
            <a:r>
              <a:rPr lang="en-US" sz="750" dirty="0">
                <a:solidFill>
                  <a:srgbClr val="D4D4D4"/>
                </a:solidFill>
                <a:latin typeface="Courier New" pitchFamily="34" charset="0"/>
                <a:ea typeface="Courier New" pitchFamily="34" charset="-122"/>
                <a:cs typeface="Courier New" pitchFamily="34" charset="-120"/>
              </a:rPr>
              <a:t> =&gt; </a:t>
            </a:r>
            <a:r>
              <a:rPr lang="en-US" sz="750" dirty="0">
                <a:solidFill>
                  <a:srgbClr val="9CDCFE"/>
                </a:solidFill>
                <a:latin typeface="Courier New" pitchFamily="34" charset="0"/>
                <a:ea typeface="Courier New" pitchFamily="34" charset="-122"/>
                <a:cs typeface="Courier New" pitchFamily="34" charset="-120"/>
              </a:rPr>
              <a:t>ra</a:t>
            </a:r>
            <a:r>
              <a:rPr lang="en-US" sz="750" dirty="0">
                <a:solidFill>
                  <a:srgbClr val="D4D4D4"/>
                </a:solidFill>
                <a:latin typeface="Courier New" pitchFamily="34" charset="0"/>
                <a:ea typeface="Courier New" pitchFamily="34" charset="-122"/>
                <a:cs typeface="Courier New" pitchFamily="34" charset="-120"/>
              </a:rPr>
              <a:t>.</a:t>
            </a:r>
            <a:r>
              <a:rPr lang="en-US" sz="750" dirty="0">
                <a:solidFill>
                  <a:srgbClr val="4EC9B0"/>
                </a:solidFill>
                <a:latin typeface="Courier New" pitchFamily="34" charset="0"/>
                <a:ea typeface="Courier New" pitchFamily="34" charset="-122"/>
                <a:cs typeface="Courier New" pitchFamily="34" charset="-120"/>
              </a:rPr>
              <a:t>Status</a:t>
            </a:r>
            <a:r>
              <a:rPr lang="en-US" sz="750" dirty="0">
                <a:solidFill>
                  <a:srgbClr val="D4D4D4"/>
                </a:solidFill>
                <a:latin typeface="Courier New" pitchFamily="34" charset="0"/>
                <a:ea typeface="Courier New" pitchFamily="34" charset="-122"/>
                <a:cs typeface="Courier New" pitchFamily="34" charset="-120"/>
              </a:rPr>
              <a:t> != </a:t>
            </a:r>
            <a:r>
              <a:rPr lang="en-US" sz="750" dirty="0">
                <a:solidFill>
                  <a:srgbClr val="4EC9B0"/>
                </a:solidFill>
                <a:latin typeface="Courier New" pitchFamily="34" charset="0"/>
                <a:ea typeface="Courier New" pitchFamily="34" charset="-122"/>
                <a:cs typeface="Courier New" pitchFamily="34" charset="-120"/>
              </a:rPr>
              <a:t>RosterAssignmentStatus</a:t>
            </a:r>
            <a:r>
              <a:rPr lang="en-US" sz="750" dirty="0">
                <a:solidFill>
                  <a:srgbClr val="D4D4D4"/>
                </a:solidFill>
                <a:latin typeface="Courier New" pitchFamily="34" charset="0"/>
                <a:ea typeface="Courier New" pitchFamily="34" charset="-122"/>
                <a:cs typeface="Courier New" pitchFamily="34" charset="-120"/>
              </a:rPr>
              <a:t>.</a:t>
            </a:r>
            <a:r>
              <a:rPr lang="en-US" sz="750" dirty="0">
                <a:solidFill>
                  <a:srgbClr val="4EC9B0"/>
                </a:solidFill>
                <a:latin typeface="Courier New" pitchFamily="34" charset="0"/>
                <a:ea typeface="Courier New" pitchFamily="34" charset="-122"/>
                <a:cs typeface="Courier New" pitchFamily="34" charset="-120"/>
              </a:rPr>
              <a:t>Vacant</a:t>
            </a:r>
            <a:r>
              <a:rPr lang="en-US" sz="750" dirty="0">
                <a:solidFill>
                  <a:srgbClr val="D4D4D4"/>
                </a:solidFill>
                <a:latin typeface="Courier New" pitchFamily="34" charset="0"/>
                <a:ea typeface="Courier New" pitchFamily="34" charset="-122"/>
                <a:cs typeface="Courier New" pitchFamily="34" charset="-120"/>
              </a:rPr>
              <a:t>))</a:t>
            </a:r>
            <a:endParaRPr lang="en-US" sz="750" dirty="0"/>
          </a:p>
          <a:p>
            <a:pPr marL="0" indent="0">
              <a:lnSpc>
                <a:spcPts val="990"/>
              </a:lnSpc>
              <a:buNone/>
            </a:pPr>
            <a:r>
              <a:rPr lang="en-US" sz="750" dirty="0">
                <a:solidFill>
                  <a:srgbClr val="D4D4D4"/>
                </a:solidFill>
                <a:latin typeface="Courier New" pitchFamily="34" charset="0"/>
                <a:ea typeface="Courier New" pitchFamily="34" charset="-122"/>
                <a:cs typeface="Courier New" pitchFamily="34" charset="-120"/>
              </a:rPr>
              <a:t>    .</a:t>
            </a:r>
            <a:r>
              <a:rPr lang="en-US" sz="750" dirty="0">
                <a:solidFill>
                  <a:srgbClr val="DCDCAA"/>
                </a:solidFill>
                <a:latin typeface="Courier New" pitchFamily="34" charset="0"/>
                <a:ea typeface="Courier New" pitchFamily="34" charset="-122"/>
                <a:cs typeface="Courier New" pitchFamily="34" charset="-120"/>
              </a:rPr>
              <a:t>OrderBy</a:t>
            </a:r>
            <a:r>
              <a:rPr lang="en-US" sz="750" dirty="0">
                <a:solidFill>
                  <a:srgbClr val="D4D4D4"/>
                </a:solidFill>
                <a:latin typeface="Courier New" pitchFamily="34" charset="0"/>
                <a:ea typeface="Courier New" pitchFamily="34" charset="-122"/>
                <a:cs typeface="Courier New" pitchFamily="34" charset="-120"/>
              </a:rPr>
              <a:t>(</a:t>
            </a:r>
            <a:r>
              <a:rPr lang="en-US" sz="750" dirty="0">
                <a:solidFill>
                  <a:srgbClr val="9CDCFE"/>
                </a:solidFill>
                <a:latin typeface="Courier New" pitchFamily="34" charset="0"/>
                <a:ea typeface="Courier New" pitchFamily="34" charset="-122"/>
                <a:cs typeface="Courier New" pitchFamily="34" charset="-120"/>
              </a:rPr>
              <a:t>s</a:t>
            </a:r>
            <a:r>
              <a:rPr lang="en-US" sz="750" dirty="0">
                <a:solidFill>
                  <a:srgbClr val="D4D4D4"/>
                </a:solidFill>
                <a:latin typeface="Courier New" pitchFamily="34" charset="0"/>
                <a:ea typeface="Courier New" pitchFamily="34" charset="-122"/>
                <a:cs typeface="Courier New" pitchFamily="34" charset="-120"/>
              </a:rPr>
              <a:t> =&gt; </a:t>
            </a:r>
            <a:r>
              <a:rPr lang="en-US" sz="750" dirty="0">
                <a:solidFill>
                  <a:srgbClr val="9CDCFE"/>
                </a:solidFill>
                <a:latin typeface="Courier New" pitchFamily="34" charset="0"/>
                <a:ea typeface="Courier New" pitchFamily="34" charset="-122"/>
                <a:cs typeface="Courier New" pitchFamily="34" charset="-120"/>
              </a:rPr>
              <a:t>s</a:t>
            </a:r>
            <a:r>
              <a:rPr lang="en-US" sz="750" dirty="0">
                <a:solidFill>
                  <a:srgbClr val="D4D4D4"/>
                </a:solidFill>
                <a:latin typeface="Courier New" pitchFamily="34" charset="0"/>
                <a:ea typeface="Courier New" pitchFamily="34" charset="-122"/>
                <a:cs typeface="Courier New" pitchFamily="34" charset="-120"/>
              </a:rPr>
              <a:t>.</a:t>
            </a:r>
            <a:r>
              <a:rPr lang="en-US" sz="750" dirty="0">
                <a:solidFill>
                  <a:srgbClr val="4EC9B0"/>
                </a:solidFill>
                <a:latin typeface="Courier New" pitchFamily="34" charset="0"/>
                <a:ea typeface="Courier New" pitchFamily="34" charset="-122"/>
                <a:cs typeface="Courier New" pitchFamily="34" charset="-120"/>
              </a:rPr>
              <a:t>ShiftDate</a:t>
            </a:r>
            <a:r>
              <a:rPr lang="en-US" sz="750" dirty="0">
                <a:solidFill>
                  <a:srgbClr val="D4D4D4"/>
                </a:solidFill>
                <a:latin typeface="Courier New" pitchFamily="34" charset="0"/>
                <a:ea typeface="Courier New" pitchFamily="34" charset="-122"/>
                <a:cs typeface="Courier New" pitchFamily="34" charset="-120"/>
              </a:rPr>
              <a:t>)</a:t>
            </a:r>
            <a:endParaRPr lang="en-US" sz="750" dirty="0"/>
          </a:p>
          <a:p>
            <a:pPr marL="0" indent="0">
              <a:lnSpc>
                <a:spcPts val="990"/>
              </a:lnSpc>
              <a:buNone/>
            </a:pPr>
            <a:r>
              <a:rPr lang="en-US" sz="750" dirty="0">
                <a:solidFill>
                  <a:srgbClr val="D4D4D4"/>
                </a:solidFill>
                <a:latin typeface="Courier New" pitchFamily="34" charset="0"/>
                <a:ea typeface="Courier New" pitchFamily="34" charset="-122"/>
                <a:cs typeface="Courier New" pitchFamily="34" charset="-120"/>
              </a:rPr>
              <a:t>    .</a:t>
            </a:r>
            <a:r>
              <a:rPr lang="en-US" sz="750" dirty="0">
                <a:solidFill>
                  <a:srgbClr val="DCDCAA"/>
                </a:solidFill>
                <a:latin typeface="Courier New" pitchFamily="34" charset="0"/>
                <a:ea typeface="Courier New" pitchFamily="34" charset="-122"/>
                <a:cs typeface="Courier New" pitchFamily="34" charset="-120"/>
              </a:rPr>
              <a:t>ThenBy</a:t>
            </a:r>
            <a:r>
              <a:rPr lang="en-US" sz="750" dirty="0">
                <a:solidFill>
                  <a:srgbClr val="D4D4D4"/>
                </a:solidFill>
                <a:latin typeface="Courier New" pitchFamily="34" charset="0"/>
                <a:ea typeface="Courier New" pitchFamily="34" charset="-122"/>
                <a:cs typeface="Courier New" pitchFamily="34" charset="-120"/>
              </a:rPr>
              <a:t>(</a:t>
            </a:r>
            <a:r>
              <a:rPr lang="en-US" sz="750" dirty="0">
                <a:solidFill>
                  <a:srgbClr val="9CDCFE"/>
                </a:solidFill>
                <a:latin typeface="Courier New" pitchFamily="34" charset="0"/>
                <a:ea typeface="Courier New" pitchFamily="34" charset="-122"/>
                <a:cs typeface="Courier New" pitchFamily="34" charset="-120"/>
              </a:rPr>
              <a:t>s</a:t>
            </a:r>
            <a:r>
              <a:rPr lang="en-US" sz="750" dirty="0">
                <a:solidFill>
                  <a:srgbClr val="D4D4D4"/>
                </a:solidFill>
                <a:latin typeface="Courier New" pitchFamily="34" charset="0"/>
                <a:ea typeface="Courier New" pitchFamily="34" charset="-122"/>
                <a:cs typeface="Courier New" pitchFamily="34" charset="-120"/>
              </a:rPr>
              <a:t> =&gt; </a:t>
            </a:r>
            <a:r>
              <a:rPr lang="en-US" sz="750" dirty="0">
                <a:solidFill>
                  <a:srgbClr val="9CDCFE"/>
                </a:solidFill>
                <a:latin typeface="Courier New" pitchFamily="34" charset="0"/>
                <a:ea typeface="Courier New" pitchFamily="34" charset="-122"/>
                <a:cs typeface="Courier New" pitchFamily="34" charset="-120"/>
              </a:rPr>
              <a:t>s</a:t>
            </a:r>
            <a:r>
              <a:rPr lang="en-US" sz="750" dirty="0">
                <a:solidFill>
                  <a:srgbClr val="D4D4D4"/>
                </a:solidFill>
                <a:latin typeface="Courier New" pitchFamily="34" charset="0"/>
                <a:ea typeface="Courier New" pitchFamily="34" charset="-122"/>
                <a:cs typeface="Courier New" pitchFamily="34" charset="-120"/>
              </a:rPr>
              <a:t>.</a:t>
            </a:r>
            <a:r>
              <a:rPr lang="en-US" sz="750" dirty="0">
                <a:solidFill>
                  <a:srgbClr val="4EC9B0"/>
                </a:solidFill>
                <a:latin typeface="Courier New" pitchFamily="34" charset="0"/>
                <a:ea typeface="Courier New" pitchFamily="34" charset="-122"/>
                <a:cs typeface="Courier New" pitchFamily="34" charset="-120"/>
              </a:rPr>
              <a:t>TimeSlot</a:t>
            </a:r>
            <a:r>
              <a:rPr lang="en-US" sz="750" dirty="0">
                <a:solidFill>
                  <a:srgbClr val="D4D4D4"/>
                </a:solidFill>
                <a:latin typeface="Courier New" pitchFamily="34" charset="0"/>
                <a:ea typeface="Courier New" pitchFamily="34" charset="-122"/>
                <a:cs typeface="Courier New" pitchFamily="34" charset="-120"/>
              </a:rPr>
              <a:t>)</a:t>
            </a:r>
            <a:endParaRPr lang="en-US" sz="750" dirty="0"/>
          </a:p>
          <a:p>
            <a:pPr marL="0" indent="0">
              <a:lnSpc>
                <a:spcPts val="990"/>
              </a:lnSpc>
              <a:buNone/>
            </a:pPr>
            <a:r>
              <a:rPr lang="en-US" sz="750" dirty="0">
                <a:solidFill>
                  <a:srgbClr val="D4D4D4"/>
                </a:solidFill>
                <a:latin typeface="Courier New" pitchFamily="34" charset="0"/>
                <a:ea typeface="Courier New" pitchFamily="34" charset="-122"/>
                <a:cs typeface="Courier New" pitchFamily="34" charset="-120"/>
              </a:rPr>
              <a:t>    .</a:t>
            </a:r>
            <a:r>
              <a:rPr lang="en-US" sz="750" dirty="0">
                <a:solidFill>
                  <a:srgbClr val="DCDCAA"/>
                </a:solidFill>
                <a:latin typeface="Courier New" pitchFamily="34" charset="0"/>
                <a:ea typeface="Courier New" pitchFamily="34" charset="-122"/>
                <a:cs typeface="Courier New" pitchFamily="34" charset="-120"/>
              </a:rPr>
              <a:t>Select</a:t>
            </a:r>
            <a:r>
              <a:rPr lang="en-US" sz="750" dirty="0">
                <a:solidFill>
                  <a:srgbClr val="D4D4D4"/>
                </a:solidFill>
                <a:latin typeface="Courier New" pitchFamily="34" charset="0"/>
                <a:ea typeface="Courier New" pitchFamily="34" charset="-122"/>
                <a:cs typeface="Courier New" pitchFamily="34" charset="-120"/>
              </a:rPr>
              <a:t>(</a:t>
            </a:r>
            <a:r>
              <a:rPr lang="en-US" sz="750" dirty="0">
                <a:solidFill>
                  <a:srgbClr val="9CDCFE"/>
                </a:solidFill>
                <a:latin typeface="Courier New" pitchFamily="34" charset="0"/>
                <a:ea typeface="Courier New" pitchFamily="34" charset="-122"/>
                <a:cs typeface="Courier New" pitchFamily="34" charset="-120"/>
              </a:rPr>
              <a:t>s</a:t>
            </a:r>
            <a:r>
              <a:rPr lang="en-US" sz="750" dirty="0">
                <a:solidFill>
                  <a:srgbClr val="D4D4D4"/>
                </a:solidFill>
                <a:latin typeface="Courier New" pitchFamily="34" charset="0"/>
                <a:ea typeface="Courier New" pitchFamily="34" charset="-122"/>
                <a:cs typeface="Courier New" pitchFamily="34" charset="-120"/>
              </a:rPr>
              <a:t> =&gt; </a:t>
            </a:r>
            <a:r>
              <a:rPr lang="en-US" sz="750" dirty="0">
                <a:solidFill>
                  <a:srgbClr val="569CD6"/>
                </a:solidFill>
                <a:latin typeface="Courier New" pitchFamily="34" charset="0"/>
                <a:ea typeface="Courier New" pitchFamily="34" charset="-122"/>
                <a:cs typeface="Courier New" pitchFamily="34" charset="-120"/>
              </a:rPr>
              <a:t>new</a:t>
            </a:r>
            <a:r>
              <a:rPr lang="en-US" sz="750" dirty="0">
                <a:solidFill>
                  <a:srgbClr val="D4D4D4"/>
                </a:solidFill>
                <a:latin typeface="Courier New" pitchFamily="34" charset="0"/>
                <a:ea typeface="Courier New" pitchFamily="34" charset="-122"/>
                <a:cs typeface="Courier New" pitchFamily="34" charset="-120"/>
              </a:rPr>
              <a:t> </a:t>
            </a:r>
            <a:r>
              <a:rPr lang="en-US" sz="750" dirty="0">
                <a:solidFill>
                  <a:srgbClr val="4EC9B0"/>
                </a:solidFill>
                <a:latin typeface="Courier New" pitchFamily="34" charset="0"/>
                <a:ea typeface="Courier New" pitchFamily="34" charset="-122"/>
                <a:cs typeface="Courier New" pitchFamily="34" charset="-120"/>
              </a:rPr>
              <a:t>VacancyDto</a:t>
            </a:r>
            <a:endParaRPr lang="en-US" sz="750" dirty="0"/>
          </a:p>
          <a:p>
            <a:pPr marL="0" indent="0">
              <a:lnSpc>
                <a:spcPts val="990"/>
              </a:lnSpc>
              <a:buNone/>
            </a:pPr>
            <a:r>
              <a:rPr lang="en-US" sz="750" dirty="0">
                <a:solidFill>
                  <a:srgbClr val="6A9955"/>
                </a:solidFill>
                <a:latin typeface="Courier New" pitchFamily="34" charset="0"/>
                <a:ea typeface="Courier New" pitchFamily="34" charset="-122"/>
                <a:cs typeface="Courier New" pitchFamily="34" charset="-120"/>
              </a:rPr>
              <a:t>…</a:t>
            </a:r>
            <a:endParaRPr lang="en-US" sz="750" dirty="0"/>
          </a:p>
          <a:p>
            <a:pPr marL="0" indent="0">
              <a:lnSpc>
                <a:spcPts val="990"/>
              </a:lnSpc>
              <a:buNone/>
            </a:pPr>
            <a:r>
              <a:rPr lang="en-US" sz="750" dirty="0">
                <a:solidFill>
                  <a:srgbClr val="D4D4D4"/>
                </a:solidFill>
                <a:latin typeface="Courier New" pitchFamily="34" charset="0"/>
                <a:ea typeface="Courier New" pitchFamily="34" charset="-122"/>
                <a:cs typeface="Courier New" pitchFamily="34" charset="-120"/>
              </a:rPr>
              <a:t>        </a:t>
            </a:r>
            <a:r>
              <a:rPr lang="en-US" sz="750" dirty="0">
                <a:solidFill>
                  <a:srgbClr val="4EC9B0"/>
                </a:solidFill>
                <a:latin typeface="Courier New" pitchFamily="34" charset="0"/>
                <a:ea typeface="Courier New" pitchFamily="34" charset="-122"/>
                <a:cs typeface="Courier New" pitchFamily="34" charset="-120"/>
              </a:rPr>
              <a:t>AssignedVolunteers</a:t>
            </a:r>
            <a:r>
              <a:rPr lang="en-US" sz="750" dirty="0">
                <a:solidFill>
                  <a:srgbClr val="D4D4D4"/>
                </a:solidFill>
                <a:latin typeface="Courier New" pitchFamily="34" charset="0"/>
                <a:ea typeface="Courier New" pitchFamily="34" charset="-122"/>
                <a:cs typeface="Courier New" pitchFamily="34" charset="-120"/>
              </a:rPr>
              <a:t> = </a:t>
            </a:r>
            <a:r>
              <a:rPr lang="en-US" sz="750" dirty="0">
                <a:solidFill>
                  <a:srgbClr val="9CDCFE"/>
                </a:solidFill>
                <a:latin typeface="Courier New" pitchFamily="34" charset="0"/>
                <a:ea typeface="Courier New" pitchFamily="34" charset="-122"/>
                <a:cs typeface="Courier New" pitchFamily="34" charset="-120"/>
              </a:rPr>
              <a:t>s</a:t>
            </a:r>
            <a:r>
              <a:rPr lang="en-US" sz="750" dirty="0">
                <a:solidFill>
                  <a:srgbClr val="D4D4D4"/>
                </a:solidFill>
                <a:latin typeface="Courier New" pitchFamily="34" charset="0"/>
                <a:ea typeface="Courier New" pitchFamily="34" charset="-122"/>
                <a:cs typeface="Courier New" pitchFamily="34" charset="-120"/>
              </a:rPr>
              <a:t>.</a:t>
            </a:r>
            <a:r>
              <a:rPr lang="en-US" sz="750" dirty="0">
                <a:solidFill>
                  <a:srgbClr val="4EC9B0"/>
                </a:solidFill>
                <a:latin typeface="Courier New" pitchFamily="34" charset="0"/>
                <a:ea typeface="Courier New" pitchFamily="34" charset="-122"/>
                <a:cs typeface="Courier New" pitchFamily="34" charset="-120"/>
              </a:rPr>
              <a:t>RosterAssignments</a:t>
            </a:r>
            <a:r>
              <a:rPr lang="en-US" sz="750" dirty="0">
                <a:solidFill>
                  <a:srgbClr val="D4D4D4"/>
                </a:solidFill>
                <a:latin typeface="Courier New" pitchFamily="34" charset="0"/>
                <a:ea typeface="Courier New" pitchFamily="34" charset="-122"/>
                <a:cs typeface="Courier New" pitchFamily="34" charset="-120"/>
              </a:rPr>
              <a:t>.</a:t>
            </a:r>
            <a:r>
              <a:rPr lang="en-US" sz="750" dirty="0">
                <a:solidFill>
                  <a:srgbClr val="DCDCAA"/>
                </a:solidFill>
                <a:latin typeface="Courier New" pitchFamily="34" charset="0"/>
                <a:ea typeface="Courier New" pitchFamily="34" charset="-122"/>
                <a:cs typeface="Courier New" pitchFamily="34" charset="-120"/>
              </a:rPr>
              <a:t>Count</a:t>
            </a:r>
            <a:r>
              <a:rPr lang="en-US" sz="750" dirty="0">
                <a:solidFill>
                  <a:srgbClr val="D4D4D4"/>
                </a:solidFill>
                <a:latin typeface="Courier New" pitchFamily="34" charset="0"/>
                <a:ea typeface="Courier New" pitchFamily="34" charset="-122"/>
                <a:cs typeface="Courier New" pitchFamily="34" charset="-120"/>
              </a:rPr>
              <a:t>(</a:t>
            </a:r>
            <a:r>
              <a:rPr lang="en-US" sz="750" dirty="0">
                <a:solidFill>
                  <a:srgbClr val="9CDCFE"/>
                </a:solidFill>
                <a:latin typeface="Courier New" pitchFamily="34" charset="0"/>
                <a:ea typeface="Courier New" pitchFamily="34" charset="-122"/>
                <a:cs typeface="Courier New" pitchFamily="34" charset="-120"/>
              </a:rPr>
              <a:t>ra</a:t>
            </a:r>
            <a:r>
              <a:rPr lang="en-US" sz="750" dirty="0">
                <a:solidFill>
                  <a:srgbClr val="D4D4D4"/>
                </a:solidFill>
                <a:latin typeface="Courier New" pitchFamily="34" charset="0"/>
                <a:ea typeface="Courier New" pitchFamily="34" charset="-122"/>
                <a:cs typeface="Courier New" pitchFamily="34" charset="-120"/>
              </a:rPr>
              <a:t> =&gt; </a:t>
            </a:r>
            <a:r>
              <a:rPr lang="en-US" sz="750" dirty="0">
                <a:solidFill>
                  <a:srgbClr val="9CDCFE"/>
                </a:solidFill>
                <a:latin typeface="Courier New" pitchFamily="34" charset="0"/>
                <a:ea typeface="Courier New" pitchFamily="34" charset="-122"/>
                <a:cs typeface="Courier New" pitchFamily="34" charset="-120"/>
              </a:rPr>
              <a:t>ra</a:t>
            </a:r>
            <a:r>
              <a:rPr lang="en-US" sz="750" dirty="0">
                <a:solidFill>
                  <a:srgbClr val="D4D4D4"/>
                </a:solidFill>
                <a:latin typeface="Courier New" pitchFamily="34" charset="0"/>
                <a:ea typeface="Courier New" pitchFamily="34" charset="-122"/>
                <a:cs typeface="Courier New" pitchFamily="34" charset="-120"/>
              </a:rPr>
              <a:t>.</a:t>
            </a:r>
            <a:r>
              <a:rPr lang="en-US" sz="750" dirty="0">
                <a:solidFill>
                  <a:srgbClr val="4EC9B0"/>
                </a:solidFill>
                <a:latin typeface="Courier New" pitchFamily="34" charset="0"/>
                <a:ea typeface="Courier New" pitchFamily="34" charset="-122"/>
                <a:cs typeface="Courier New" pitchFamily="34" charset="-120"/>
              </a:rPr>
              <a:t>Status</a:t>
            </a:r>
            <a:r>
              <a:rPr lang="en-US" sz="750" dirty="0">
                <a:solidFill>
                  <a:srgbClr val="D4D4D4"/>
                </a:solidFill>
                <a:latin typeface="Courier New" pitchFamily="34" charset="0"/>
                <a:ea typeface="Courier New" pitchFamily="34" charset="-122"/>
                <a:cs typeface="Courier New" pitchFamily="34" charset="-120"/>
              </a:rPr>
              <a:t> != </a:t>
            </a:r>
            <a:r>
              <a:rPr lang="en-US" sz="750" dirty="0">
                <a:solidFill>
                  <a:srgbClr val="4EC9B0"/>
                </a:solidFill>
                <a:latin typeface="Courier New" pitchFamily="34" charset="0"/>
                <a:ea typeface="Courier New" pitchFamily="34" charset="-122"/>
                <a:cs typeface="Courier New" pitchFamily="34" charset="-120"/>
              </a:rPr>
              <a:t>RosterAssignmentStatus</a:t>
            </a:r>
            <a:r>
              <a:rPr lang="en-US" sz="750" dirty="0">
                <a:solidFill>
                  <a:srgbClr val="D4D4D4"/>
                </a:solidFill>
                <a:latin typeface="Courier New" pitchFamily="34" charset="0"/>
                <a:ea typeface="Courier New" pitchFamily="34" charset="-122"/>
                <a:cs typeface="Courier New" pitchFamily="34" charset="-120"/>
              </a:rPr>
              <a:t>.</a:t>
            </a:r>
            <a:r>
              <a:rPr lang="en-US" sz="750" dirty="0">
                <a:solidFill>
                  <a:srgbClr val="4EC9B0"/>
                </a:solidFill>
                <a:latin typeface="Courier New" pitchFamily="34" charset="0"/>
                <a:ea typeface="Courier New" pitchFamily="34" charset="-122"/>
                <a:cs typeface="Courier New" pitchFamily="34" charset="-120"/>
              </a:rPr>
              <a:t>Vacant</a:t>
            </a:r>
            <a:r>
              <a:rPr lang="en-US" sz="750" dirty="0">
                <a:solidFill>
                  <a:srgbClr val="D4D4D4"/>
                </a:solidFill>
                <a:latin typeface="Courier New" pitchFamily="34" charset="0"/>
                <a:ea typeface="Courier New" pitchFamily="34" charset="-122"/>
                <a:cs typeface="Courier New" pitchFamily="34" charset="-120"/>
              </a:rPr>
              <a:t>),</a:t>
            </a:r>
            <a:endParaRPr lang="en-US" sz="750" dirty="0"/>
          </a:p>
          <a:p>
            <a:pPr marL="0" indent="0">
              <a:lnSpc>
                <a:spcPts val="990"/>
              </a:lnSpc>
              <a:buNone/>
            </a:pPr>
            <a:r>
              <a:rPr lang="en-US" sz="750" dirty="0">
                <a:solidFill>
                  <a:srgbClr val="D4D4D4"/>
                </a:solidFill>
                <a:latin typeface="Courier New" pitchFamily="34" charset="0"/>
                <a:ea typeface="Courier New" pitchFamily="34" charset="-122"/>
                <a:cs typeface="Courier New" pitchFamily="34" charset="-120"/>
              </a:rPr>
              <a:t>        </a:t>
            </a:r>
            <a:r>
              <a:rPr lang="en-US" sz="750" dirty="0">
                <a:solidFill>
                  <a:srgbClr val="4EC9B0"/>
                </a:solidFill>
                <a:latin typeface="Courier New" pitchFamily="34" charset="0"/>
                <a:ea typeface="Courier New" pitchFamily="34" charset="-122"/>
                <a:cs typeface="Courier New" pitchFamily="34" charset="-120"/>
              </a:rPr>
              <a:t>VacanciesAvailable</a:t>
            </a:r>
            <a:r>
              <a:rPr lang="en-US" sz="750" dirty="0">
                <a:solidFill>
                  <a:srgbClr val="D4D4D4"/>
                </a:solidFill>
                <a:latin typeface="Courier New" pitchFamily="34" charset="0"/>
                <a:ea typeface="Courier New" pitchFamily="34" charset="-122"/>
                <a:cs typeface="Courier New" pitchFamily="34" charset="-120"/>
              </a:rPr>
              <a:t> = </a:t>
            </a:r>
            <a:r>
              <a:rPr lang="en-US" sz="750" dirty="0">
                <a:solidFill>
                  <a:srgbClr val="9CDCFE"/>
                </a:solidFill>
                <a:latin typeface="Courier New" pitchFamily="34" charset="0"/>
                <a:ea typeface="Courier New" pitchFamily="34" charset="-122"/>
                <a:cs typeface="Courier New" pitchFamily="34" charset="-120"/>
              </a:rPr>
              <a:t>s</a:t>
            </a:r>
            <a:r>
              <a:rPr lang="en-US" sz="750" dirty="0">
                <a:solidFill>
                  <a:srgbClr val="D4D4D4"/>
                </a:solidFill>
                <a:latin typeface="Courier New" pitchFamily="34" charset="0"/>
                <a:ea typeface="Courier New" pitchFamily="34" charset="-122"/>
                <a:cs typeface="Courier New" pitchFamily="34" charset="-120"/>
              </a:rPr>
              <a:t>.</a:t>
            </a:r>
            <a:r>
              <a:rPr lang="en-US" sz="750" dirty="0">
                <a:solidFill>
                  <a:srgbClr val="4EC9B0"/>
                </a:solidFill>
                <a:latin typeface="Courier New" pitchFamily="34" charset="0"/>
                <a:ea typeface="Courier New" pitchFamily="34" charset="-122"/>
                <a:cs typeface="Courier New" pitchFamily="34" charset="-120"/>
              </a:rPr>
              <a:t>Capacity</a:t>
            </a:r>
            <a:r>
              <a:rPr lang="en-US" sz="750" dirty="0">
                <a:solidFill>
                  <a:srgbClr val="D4D4D4"/>
                </a:solidFill>
                <a:latin typeface="Courier New" pitchFamily="34" charset="0"/>
                <a:ea typeface="Courier New" pitchFamily="34" charset="-122"/>
                <a:cs typeface="Courier New" pitchFamily="34" charset="-120"/>
              </a:rPr>
              <a:t> - </a:t>
            </a:r>
            <a:r>
              <a:rPr lang="en-US" sz="750" dirty="0">
                <a:solidFill>
                  <a:srgbClr val="9CDCFE"/>
                </a:solidFill>
                <a:latin typeface="Courier New" pitchFamily="34" charset="0"/>
                <a:ea typeface="Courier New" pitchFamily="34" charset="-122"/>
                <a:cs typeface="Courier New" pitchFamily="34" charset="-120"/>
              </a:rPr>
              <a:t>s</a:t>
            </a:r>
            <a:r>
              <a:rPr lang="en-US" sz="750" dirty="0">
                <a:solidFill>
                  <a:srgbClr val="D4D4D4"/>
                </a:solidFill>
                <a:latin typeface="Courier New" pitchFamily="34" charset="0"/>
                <a:ea typeface="Courier New" pitchFamily="34" charset="-122"/>
                <a:cs typeface="Courier New" pitchFamily="34" charset="-120"/>
              </a:rPr>
              <a:t>.</a:t>
            </a:r>
            <a:r>
              <a:rPr lang="en-US" sz="750" dirty="0">
                <a:solidFill>
                  <a:srgbClr val="4EC9B0"/>
                </a:solidFill>
                <a:latin typeface="Courier New" pitchFamily="34" charset="0"/>
                <a:ea typeface="Courier New" pitchFamily="34" charset="-122"/>
                <a:cs typeface="Courier New" pitchFamily="34" charset="-120"/>
              </a:rPr>
              <a:t>RosterAssignments</a:t>
            </a:r>
            <a:r>
              <a:rPr lang="en-US" sz="750" dirty="0">
                <a:solidFill>
                  <a:srgbClr val="D4D4D4"/>
                </a:solidFill>
                <a:latin typeface="Courier New" pitchFamily="34" charset="0"/>
                <a:ea typeface="Courier New" pitchFamily="34" charset="-122"/>
                <a:cs typeface="Courier New" pitchFamily="34" charset="-120"/>
              </a:rPr>
              <a:t>.</a:t>
            </a:r>
            <a:r>
              <a:rPr lang="en-US" sz="750" dirty="0">
                <a:solidFill>
                  <a:srgbClr val="DCDCAA"/>
                </a:solidFill>
                <a:latin typeface="Courier New" pitchFamily="34" charset="0"/>
                <a:ea typeface="Courier New" pitchFamily="34" charset="-122"/>
                <a:cs typeface="Courier New" pitchFamily="34" charset="-120"/>
              </a:rPr>
              <a:t>Count</a:t>
            </a:r>
            <a:r>
              <a:rPr lang="en-US" sz="750" dirty="0">
                <a:solidFill>
                  <a:srgbClr val="D4D4D4"/>
                </a:solidFill>
                <a:latin typeface="Courier New" pitchFamily="34" charset="0"/>
                <a:ea typeface="Courier New" pitchFamily="34" charset="-122"/>
                <a:cs typeface="Courier New" pitchFamily="34" charset="-120"/>
              </a:rPr>
              <a:t>(</a:t>
            </a:r>
            <a:r>
              <a:rPr lang="en-US" sz="750" dirty="0">
                <a:solidFill>
                  <a:srgbClr val="9CDCFE"/>
                </a:solidFill>
                <a:latin typeface="Courier New" pitchFamily="34" charset="0"/>
                <a:ea typeface="Courier New" pitchFamily="34" charset="-122"/>
                <a:cs typeface="Courier New" pitchFamily="34" charset="-120"/>
              </a:rPr>
              <a:t>ra</a:t>
            </a:r>
            <a:r>
              <a:rPr lang="en-US" sz="750" dirty="0">
                <a:solidFill>
                  <a:srgbClr val="D4D4D4"/>
                </a:solidFill>
                <a:latin typeface="Courier New" pitchFamily="34" charset="0"/>
                <a:ea typeface="Courier New" pitchFamily="34" charset="-122"/>
                <a:cs typeface="Courier New" pitchFamily="34" charset="-120"/>
              </a:rPr>
              <a:t> =&gt; </a:t>
            </a:r>
            <a:r>
              <a:rPr lang="en-US" sz="750" dirty="0">
                <a:solidFill>
                  <a:srgbClr val="9CDCFE"/>
                </a:solidFill>
                <a:latin typeface="Courier New" pitchFamily="34" charset="0"/>
                <a:ea typeface="Courier New" pitchFamily="34" charset="-122"/>
                <a:cs typeface="Courier New" pitchFamily="34" charset="-120"/>
              </a:rPr>
              <a:t>ra</a:t>
            </a:r>
            <a:r>
              <a:rPr lang="en-US" sz="750" dirty="0">
                <a:solidFill>
                  <a:srgbClr val="D4D4D4"/>
                </a:solidFill>
                <a:latin typeface="Courier New" pitchFamily="34" charset="0"/>
                <a:ea typeface="Courier New" pitchFamily="34" charset="-122"/>
                <a:cs typeface="Courier New" pitchFamily="34" charset="-120"/>
              </a:rPr>
              <a:t>.</a:t>
            </a:r>
            <a:r>
              <a:rPr lang="en-US" sz="750" dirty="0">
                <a:solidFill>
                  <a:srgbClr val="4EC9B0"/>
                </a:solidFill>
                <a:latin typeface="Courier New" pitchFamily="34" charset="0"/>
                <a:ea typeface="Courier New" pitchFamily="34" charset="-122"/>
                <a:cs typeface="Courier New" pitchFamily="34" charset="-120"/>
              </a:rPr>
              <a:t>Status</a:t>
            </a:r>
            <a:r>
              <a:rPr lang="en-US" sz="750" dirty="0">
                <a:solidFill>
                  <a:srgbClr val="D4D4D4"/>
                </a:solidFill>
                <a:latin typeface="Courier New" pitchFamily="34" charset="0"/>
                <a:ea typeface="Courier New" pitchFamily="34" charset="-122"/>
                <a:cs typeface="Courier New" pitchFamily="34" charset="-120"/>
              </a:rPr>
              <a:t> != </a:t>
            </a:r>
            <a:r>
              <a:rPr lang="en-US" sz="750" dirty="0">
                <a:solidFill>
                  <a:srgbClr val="4EC9B0"/>
                </a:solidFill>
                <a:latin typeface="Courier New" pitchFamily="34" charset="0"/>
                <a:ea typeface="Courier New" pitchFamily="34" charset="-122"/>
                <a:cs typeface="Courier New" pitchFamily="34" charset="-120"/>
              </a:rPr>
              <a:t>RosterAssignmentStatus</a:t>
            </a:r>
            <a:r>
              <a:rPr lang="en-US" sz="750" dirty="0">
                <a:solidFill>
                  <a:srgbClr val="D4D4D4"/>
                </a:solidFill>
                <a:latin typeface="Courier New" pitchFamily="34" charset="0"/>
                <a:ea typeface="Courier New" pitchFamily="34" charset="-122"/>
                <a:cs typeface="Courier New" pitchFamily="34" charset="-120"/>
              </a:rPr>
              <a:t>.</a:t>
            </a:r>
            <a:r>
              <a:rPr lang="en-US" sz="750" dirty="0">
                <a:solidFill>
                  <a:srgbClr val="4EC9B0"/>
                </a:solidFill>
                <a:latin typeface="Courier New" pitchFamily="34" charset="0"/>
                <a:ea typeface="Courier New" pitchFamily="34" charset="-122"/>
                <a:cs typeface="Courier New" pitchFamily="34" charset="-120"/>
              </a:rPr>
              <a:t>Vacant</a:t>
            </a:r>
            <a:r>
              <a:rPr lang="en-US" sz="750" dirty="0">
                <a:solidFill>
                  <a:srgbClr val="D4D4D4"/>
                </a:solidFill>
                <a:latin typeface="Courier New" pitchFamily="34" charset="0"/>
                <a:ea typeface="Courier New" pitchFamily="34" charset="-122"/>
                <a:cs typeface="Courier New" pitchFamily="34" charset="-120"/>
              </a:rPr>
              <a:t>),</a:t>
            </a:r>
            <a:endParaRPr lang="en-US" sz="750" dirty="0"/>
          </a:p>
          <a:p>
            <a:pPr marL="0" indent="0">
              <a:lnSpc>
                <a:spcPts val="990"/>
              </a:lnSpc>
              <a:buNone/>
            </a:pPr>
            <a:r>
              <a:rPr lang="en-US" sz="750" dirty="0">
                <a:solidFill>
                  <a:srgbClr val="D4D4D4"/>
                </a:solidFill>
                <a:latin typeface="Courier New" pitchFamily="34" charset="0"/>
                <a:ea typeface="Courier New" pitchFamily="34" charset="-122"/>
                <a:cs typeface="Courier New" pitchFamily="34" charset="-120"/>
              </a:rPr>
              <a:t>        </a:t>
            </a:r>
            <a:r>
              <a:rPr lang="en-US" sz="750" dirty="0">
                <a:solidFill>
                  <a:srgbClr val="4EC9B0"/>
                </a:solidFill>
                <a:latin typeface="Courier New" pitchFamily="34" charset="0"/>
                <a:ea typeface="Courier New" pitchFamily="34" charset="-122"/>
                <a:cs typeface="Courier New" pitchFamily="34" charset="-120"/>
              </a:rPr>
              <a:t>RequiredSkillIds</a:t>
            </a:r>
            <a:r>
              <a:rPr lang="en-US" sz="750" dirty="0">
                <a:solidFill>
                  <a:srgbClr val="D4D4D4"/>
                </a:solidFill>
                <a:latin typeface="Courier New" pitchFamily="34" charset="0"/>
                <a:ea typeface="Courier New" pitchFamily="34" charset="-122"/>
                <a:cs typeface="Courier New" pitchFamily="34" charset="-120"/>
              </a:rPr>
              <a:t> = </a:t>
            </a:r>
            <a:r>
              <a:rPr lang="en-US" sz="750" dirty="0">
                <a:solidFill>
                  <a:srgbClr val="9CDCFE"/>
                </a:solidFill>
                <a:latin typeface="Courier New" pitchFamily="34" charset="0"/>
                <a:ea typeface="Courier New" pitchFamily="34" charset="-122"/>
                <a:cs typeface="Courier New" pitchFamily="34" charset="-120"/>
              </a:rPr>
              <a:t>s</a:t>
            </a:r>
            <a:r>
              <a:rPr lang="en-US" sz="750" dirty="0">
                <a:solidFill>
                  <a:srgbClr val="D4D4D4"/>
                </a:solidFill>
                <a:latin typeface="Courier New" pitchFamily="34" charset="0"/>
                <a:ea typeface="Courier New" pitchFamily="34" charset="-122"/>
                <a:cs typeface="Courier New" pitchFamily="34" charset="-120"/>
              </a:rPr>
              <a:t>.</a:t>
            </a:r>
            <a:r>
              <a:rPr lang="en-US" sz="750" dirty="0">
                <a:solidFill>
                  <a:srgbClr val="4EC9B0"/>
                </a:solidFill>
                <a:latin typeface="Courier New" pitchFamily="34" charset="0"/>
                <a:ea typeface="Courier New" pitchFamily="34" charset="-122"/>
                <a:cs typeface="Courier New" pitchFamily="34" charset="-120"/>
              </a:rPr>
              <a:t>Skills</a:t>
            </a:r>
            <a:r>
              <a:rPr lang="en-US" sz="750" dirty="0">
                <a:solidFill>
                  <a:srgbClr val="D4D4D4"/>
                </a:solidFill>
                <a:latin typeface="Courier New" pitchFamily="34" charset="0"/>
                <a:ea typeface="Courier New" pitchFamily="34" charset="-122"/>
                <a:cs typeface="Courier New" pitchFamily="34" charset="-120"/>
              </a:rPr>
              <a:t>.</a:t>
            </a:r>
            <a:r>
              <a:rPr lang="en-US" sz="750" dirty="0">
                <a:solidFill>
                  <a:srgbClr val="DCDCAA"/>
                </a:solidFill>
                <a:latin typeface="Courier New" pitchFamily="34" charset="0"/>
                <a:ea typeface="Courier New" pitchFamily="34" charset="-122"/>
                <a:cs typeface="Courier New" pitchFamily="34" charset="-120"/>
              </a:rPr>
              <a:t>Select</a:t>
            </a:r>
            <a:r>
              <a:rPr lang="en-US" sz="750" dirty="0">
                <a:solidFill>
                  <a:srgbClr val="D4D4D4"/>
                </a:solidFill>
                <a:latin typeface="Courier New" pitchFamily="34" charset="0"/>
                <a:ea typeface="Courier New" pitchFamily="34" charset="-122"/>
                <a:cs typeface="Courier New" pitchFamily="34" charset="-120"/>
              </a:rPr>
              <a:t>(</a:t>
            </a:r>
            <a:r>
              <a:rPr lang="en-US" sz="750" dirty="0">
                <a:solidFill>
                  <a:srgbClr val="9CDCFE"/>
                </a:solidFill>
                <a:latin typeface="Courier New" pitchFamily="34" charset="0"/>
                <a:ea typeface="Courier New" pitchFamily="34" charset="-122"/>
                <a:cs typeface="Courier New" pitchFamily="34" charset="-120"/>
              </a:rPr>
              <a:t>skill</a:t>
            </a:r>
            <a:r>
              <a:rPr lang="en-US" sz="750" dirty="0">
                <a:solidFill>
                  <a:srgbClr val="D4D4D4"/>
                </a:solidFill>
                <a:latin typeface="Courier New" pitchFamily="34" charset="0"/>
                <a:ea typeface="Courier New" pitchFamily="34" charset="-122"/>
                <a:cs typeface="Courier New" pitchFamily="34" charset="-120"/>
              </a:rPr>
              <a:t> =&gt; </a:t>
            </a:r>
            <a:r>
              <a:rPr lang="en-US" sz="750" dirty="0">
                <a:solidFill>
                  <a:srgbClr val="9CDCFE"/>
                </a:solidFill>
                <a:latin typeface="Courier New" pitchFamily="34" charset="0"/>
                <a:ea typeface="Courier New" pitchFamily="34" charset="-122"/>
                <a:cs typeface="Courier New" pitchFamily="34" charset="-120"/>
              </a:rPr>
              <a:t>skill</a:t>
            </a:r>
            <a:r>
              <a:rPr lang="en-US" sz="750" dirty="0">
                <a:solidFill>
                  <a:srgbClr val="D4D4D4"/>
                </a:solidFill>
                <a:latin typeface="Courier New" pitchFamily="34" charset="0"/>
                <a:ea typeface="Courier New" pitchFamily="34" charset="-122"/>
                <a:cs typeface="Courier New" pitchFamily="34" charset="-120"/>
              </a:rPr>
              <a:t>.</a:t>
            </a:r>
            <a:r>
              <a:rPr lang="en-US" sz="750" dirty="0">
                <a:solidFill>
                  <a:srgbClr val="4EC9B0"/>
                </a:solidFill>
                <a:latin typeface="Courier New" pitchFamily="34" charset="0"/>
                <a:ea typeface="Courier New" pitchFamily="34" charset="-122"/>
                <a:cs typeface="Courier New" pitchFamily="34" charset="-120"/>
              </a:rPr>
              <a:t>SkillId</a:t>
            </a:r>
            <a:r>
              <a:rPr lang="en-US" sz="750" dirty="0">
                <a:solidFill>
                  <a:srgbClr val="D4D4D4"/>
                </a:solidFill>
                <a:latin typeface="Courier New" pitchFamily="34" charset="0"/>
                <a:ea typeface="Courier New" pitchFamily="34" charset="-122"/>
                <a:cs typeface="Courier New" pitchFamily="34" charset="-120"/>
              </a:rPr>
              <a:t>).</a:t>
            </a:r>
            <a:r>
              <a:rPr lang="en-US" sz="750" dirty="0">
                <a:solidFill>
                  <a:srgbClr val="DCDCAA"/>
                </a:solidFill>
                <a:latin typeface="Courier New" pitchFamily="34" charset="0"/>
                <a:ea typeface="Courier New" pitchFamily="34" charset="-122"/>
                <a:cs typeface="Courier New" pitchFamily="34" charset="-120"/>
              </a:rPr>
              <a:t>ToList</a:t>
            </a:r>
            <a:r>
              <a:rPr lang="en-US" sz="750" dirty="0">
                <a:solidFill>
                  <a:srgbClr val="D4D4D4"/>
                </a:solidFill>
                <a:latin typeface="Courier New" pitchFamily="34" charset="0"/>
                <a:ea typeface="Courier New" pitchFamily="34" charset="-122"/>
                <a:cs typeface="Courier New" pitchFamily="34" charset="-120"/>
              </a:rPr>
              <a:t>()</a:t>
            </a:r>
            <a:endParaRPr lang="en-US" sz="750" dirty="0"/>
          </a:p>
          <a:p>
            <a:pPr marL="0" indent="0">
              <a:lnSpc>
                <a:spcPts val="990"/>
              </a:lnSpc>
              <a:buNone/>
            </a:pPr>
            <a:r>
              <a:rPr lang="en-US" sz="750" dirty="0">
                <a:solidFill>
                  <a:srgbClr val="D4D4D4"/>
                </a:solidFill>
                <a:latin typeface="Courier New" pitchFamily="34" charset="0"/>
                <a:ea typeface="Courier New" pitchFamily="34" charset="-122"/>
                <a:cs typeface="Courier New" pitchFamily="34" charset="-120"/>
              </a:rPr>
              <a:t>    })</a:t>
            </a:r>
            <a:endParaRPr lang="en-US" sz="750" dirty="0"/>
          </a:p>
          <a:p>
            <a:pPr marL="0" indent="0">
              <a:lnSpc>
                <a:spcPts val="990"/>
              </a:lnSpc>
              <a:buNone/>
            </a:pPr>
            <a:r>
              <a:rPr lang="en-US" sz="750" dirty="0">
                <a:solidFill>
                  <a:srgbClr val="D4D4D4"/>
                </a:solidFill>
                <a:latin typeface="Courier New" pitchFamily="34" charset="0"/>
                <a:ea typeface="Courier New" pitchFamily="34" charset="-122"/>
                <a:cs typeface="Courier New" pitchFamily="34" charset="-120"/>
              </a:rPr>
              <a:t>    .</a:t>
            </a:r>
            <a:r>
              <a:rPr lang="en-US" sz="750" dirty="0">
                <a:solidFill>
                  <a:srgbClr val="DCDCAA"/>
                </a:solidFill>
                <a:latin typeface="Courier New" pitchFamily="34" charset="0"/>
                <a:ea typeface="Courier New" pitchFamily="34" charset="-122"/>
                <a:cs typeface="Courier New" pitchFamily="34" charset="-120"/>
              </a:rPr>
              <a:t>ToListAsync</a:t>
            </a:r>
            <a:r>
              <a:rPr lang="en-US" sz="750" dirty="0">
                <a:solidFill>
                  <a:srgbClr val="D4D4D4"/>
                </a:solidFill>
                <a:latin typeface="Courier New" pitchFamily="34" charset="0"/>
                <a:ea typeface="Courier New" pitchFamily="34" charset="-122"/>
                <a:cs typeface="Courier New" pitchFamily="34" charset="-120"/>
              </a:rPr>
              <a:t>();</a:t>
            </a:r>
            <a:endParaRPr lang="en-US" sz="750" dirty="0"/>
          </a:p>
        </p:txBody>
      </p:sp>
      <p:sp>
        <p:nvSpPr>
          <p:cNvPr id="16" name="Shape 14"/>
          <p:cNvSpPr/>
          <p:nvPr/>
        </p:nvSpPr>
        <p:spPr>
          <a:xfrm>
            <a:off x="411480" y="3148965"/>
            <a:ext cx="274320" cy="274320"/>
          </a:xfrm>
          <a:prstGeom prst="ellipse">
            <a:avLst/>
          </a:prstGeom>
          <a:solidFill>
            <a:srgbClr val="F6AE2D"/>
          </a:solidFill>
          <a:ln w="19050">
            <a:solidFill>
              <a:srgbClr val="0B1D33"/>
            </a:solidFill>
            <a:prstDash val="solid"/>
          </a:ln>
        </p:spPr>
        <p:txBody>
          <a:bodyPr/>
          <a:lstStyle/>
          <a:p>
            <a:endParaRPr lang="en-ZA"/>
          </a:p>
        </p:txBody>
      </p:sp>
      <p:sp>
        <p:nvSpPr>
          <p:cNvPr id="17" name="Text 15"/>
          <p:cNvSpPr txBox="1"/>
          <p:nvPr/>
        </p:nvSpPr>
        <p:spPr>
          <a:xfrm>
            <a:off x="411480" y="3148965"/>
            <a:ext cx="274320" cy="274320"/>
          </a:xfrm>
          <a:prstGeom prst="rect">
            <a:avLst/>
          </a:prstGeom>
          <a:noFill/>
          <a:ln/>
        </p:spPr>
        <p:txBody>
          <a:bodyPr wrap="square" lIns="0" tIns="0" rIns="0" bIns="0" rtlCol="0" anchor="ctr"/>
          <a:lstStyle/>
          <a:p>
            <a:pPr marL="0" indent="0" algn="ctr">
              <a:buNone/>
            </a:pPr>
            <a:r>
              <a:rPr lang="en-US" sz="1100" b="1" dirty="0">
                <a:solidFill>
                  <a:srgbClr val="0B1D33"/>
                </a:solidFill>
                <a:latin typeface="Calibri" pitchFamily="34" charset="0"/>
                <a:ea typeface="Calibri" pitchFamily="34" charset="-122"/>
                <a:cs typeface="Calibri" pitchFamily="34" charset="-120"/>
              </a:rPr>
              <a:t>1</a:t>
            </a:r>
            <a:endParaRPr lang="en-US" sz="1100" dirty="0"/>
          </a:p>
        </p:txBody>
      </p:sp>
      <p:sp>
        <p:nvSpPr>
          <p:cNvPr id="18" name="Shape 16"/>
          <p:cNvSpPr/>
          <p:nvPr/>
        </p:nvSpPr>
        <p:spPr>
          <a:xfrm>
            <a:off x="411480" y="3651885"/>
            <a:ext cx="274320" cy="274320"/>
          </a:xfrm>
          <a:prstGeom prst="ellipse">
            <a:avLst/>
          </a:prstGeom>
          <a:solidFill>
            <a:srgbClr val="F6AE2D"/>
          </a:solidFill>
          <a:ln w="19050">
            <a:solidFill>
              <a:srgbClr val="0B1D33"/>
            </a:solidFill>
            <a:prstDash val="solid"/>
          </a:ln>
        </p:spPr>
        <p:txBody>
          <a:bodyPr/>
          <a:lstStyle/>
          <a:p>
            <a:endParaRPr lang="en-ZA"/>
          </a:p>
        </p:txBody>
      </p:sp>
      <p:sp>
        <p:nvSpPr>
          <p:cNvPr id="19" name="Text 17"/>
          <p:cNvSpPr txBox="1"/>
          <p:nvPr/>
        </p:nvSpPr>
        <p:spPr>
          <a:xfrm>
            <a:off x="411480" y="3651885"/>
            <a:ext cx="274320" cy="274320"/>
          </a:xfrm>
          <a:prstGeom prst="rect">
            <a:avLst/>
          </a:prstGeom>
          <a:noFill/>
          <a:ln/>
        </p:spPr>
        <p:txBody>
          <a:bodyPr wrap="square" lIns="0" tIns="0" rIns="0" bIns="0" rtlCol="0" anchor="ctr"/>
          <a:lstStyle/>
          <a:p>
            <a:pPr marL="0" indent="0" algn="ctr">
              <a:buNone/>
            </a:pPr>
            <a:r>
              <a:rPr lang="en-US" sz="1100" b="1" dirty="0">
                <a:solidFill>
                  <a:srgbClr val="0B1D33"/>
                </a:solidFill>
                <a:latin typeface="Calibri" pitchFamily="34" charset="0"/>
                <a:ea typeface="Calibri" pitchFamily="34" charset="-122"/>
                <a:cs typeface="Calibri" pitchFamily="34" charset="-120"/>
              </a:rPr>
              <a:t>2</a:t>
            </a:r>
            <a:endParaRPr lang="en-US" sz="1100" dirty="0"/>
          </a:p>
        </p:txBody>
      </p:sp>
      <p:sp>
        <p:nvSpPr>
          <p:cNvPr id="20" name="Shape 18"/>
          <p:cNvSpPr/>
          <p:nvPr/>
        </p:nvSpPr>
        <p:spPr>
          <a:xfrm>
            <a:off x="411480" y="4029075"/>
            <a:ext cx="274320" cy="274320"/>
          </a:xfrm>
          <a:prstGeom prst="ellipse">
            <a:avLst/>
          </a:prstGeom>
          <a:solidFill>
            <a:srgbClr val="F6AE2D"/>
          </a:solidFill>
          <a:ln w="19050">
            <a:solidFill>
              <a:srgbClr val="0B1D33"/>
            </a:solidFill>
            <a:prstDash val="solid"/>
          </a:ln>
        </p:spPr>
        <p:txBody>
          <a:bodyPr/>
          <a:lstStyle/>
          <a:p>
            <a:endParaRPr lang="en-ZA"/>
          </a:p>
        </p:txBody>
      </p:sp>
      <p:sp>
        <p:nvSpPr>
          <p:cNvPr id="21" name="Text 19"/>
          <p:cNvSpPr txBox="1"/>
          <p:nvPr/>
        </p:nvSpPr>
        <p:spPr>
          <a:xfrm>
            <a:off x="411480" y="4029075"/>
            <a:ext cx="274320" cy="274320"/>
          </a:xfrm>
          <a:prstGeom prst="rect">
            <a:avLst/>
          </a:prstGeom>
          <a:noFill/>
          <a:ln/>
        </p:spPr>
        <p:txBody>
          <a:bodyPr wrap="square" lIns="0" tIns="0" rIns="0" bIns="0" rtlCol="0" anchor="ctr"/>
          <a:lstStyle/>
          <a:p>
            <a:pPr marL="0" indent="0" algn="ctr">
              <a:buNone/>
            </a:pPr>
            <a:r>
              <a:rPr lang="en-US" sz="1100" b="1" dirty="0">
                <a:solidFill>
                  <a:srgbClr val="0B1D33"/>
                </a:solidFill>
                <a:latin typeface="Calibri" pitchFamily="34" charset="0"/>
                <a:ea typeface="Calibri" pitchFamily="34" charset="-122"/>
                <a:cs typeface="Calibri" pitchFamily="34" charset="-120"/>
              </a:rPr>
              <a:t>3</a:t>
            </a:r>
            <a:endParaRPr lang="en-US" sz="1100" dirty="0"/>
          </a:p>
        </p:txBody>
      </p:sp>
      <p:sp>
        <p:nvSpPr>
          <p:cNvPr id="22" name="Shape 20"/>
          <p:cNvSpPr/>
          <p:nvPr/>
        </p:nvSpPr>
        <p:spPr>
          <a:xfrm>
            <a:off x="8275320" y="3286125"/>
            <a:ext cx="502920" cy="914"/>
          </a:xfrm>
          <a:prstGeom prst="line">
            <a:avLst/>
          </a:prstGeom>
          <a:noFill/>
          <a:ln w="15875">
            <a:solidFill>
              <a:srgbClr val="5ED3C6"/>
            </a:solidFill>
            <a:prstDash val="dash"/>
          </a:ln>
        </p:spPr>
        <p:txBody>
          <a:bodyPr/>
          <a:lstStyle/>
          <a:p>
            <a:endParaRPr lang="en-ZA"/>
          </a:p>
        </p:txBody>
      </p:sp>
      <p:sp>
        <p:nvSpPr>
          <p:cNvPr id="23" name="Shape 21"/>
          <p:cNvSpPr/>
          <p:nvPr/>
        </p:nvSpPr>
        <p:spPr>
          <a:xfrm>
            <a:off x="8778240" y="2760345"/>
            <a:ext cx="2862072" cy="1051560"/>
          </a:xfrm>
          <a:prstGeom prst="roundRect">
            <a:avLst>
              <a:gd name="adj" fmla="val 8696"/>
            </a:avLst>
          </a:prstGeom>
          <a:solidFill>
            <a:srgbClr val="13304F"/>
          </a:solidFill>
          <a:ln w="15875">
            <a:solidFill>
              <a:srgbClr val="5ED3C6"/>
            </a:solidFill>
            <a:prstDash val="solid"/>
          </a:ln>
        </p:spPr>
        <p:txBody>
          <a:bodyPr/>
          <a:lstStyle/>
          <a:p>
            <a:endParaRPr lang="en-ZA"/>
          </a:p>
        </p:txBody>
      </p:sp>
      <p:sp>
        <p:nvSpPr>
          <p:cNvPr id="24" name="Shape 22"/>
          <p:cNvSpPr/>
          <p:nvPr/>
        </p:nvSpPr>
        <p:spPr>
          <a:xfrm>
            <a:off x="8942832" y="2915793"/>
            <a:ext cx="274320" cy="274320"/>
          </a:xfrm>
          <a:prstGeom prst="ellipse">
            <a:avLst/>
          </a:prstGeom>
          <a:solidFill>
            <a:srgbClr val="F6AE2D"/>
          </a:solidFill>
          <a:ln w="12700">
            <a:solidFill>
              <a:srgbClr val="F6AE2D"/>
            </a:solidFill>
            <a:prstDash val="solid"/>
          </a:ln>
        </p:spPr>
        <p:txBody>
          <a:bodyPr/>
          <a:lstStyle/>
          <a:p>
            <a:endParaRPr lang="en-ZA"/>
          </a:p>
        </p:txBody>
      </p:sp>
      <p:sp>
        <p:nvSpPr>
          <p:cNvPr id="25" name="Text 23"/>
          <p:cNvSpPr txBox="1"/>
          <p:nvPr/>
        </p:nvSpPr>
        <p:spPr>
          <a:xfrm>
            <a:off x="8942832" y="2915793"/>
            <a:ext cx="274320" cy="274320"/>
          </a:xfrm>
          <a:prstGeom prst="rect">
            <a:avLst/>
          </a:prstGeom>
          <a:noFill/>
          <a:ln/>
        </p:spPr>
        <p:txBody>
          <a:bodyPr wrap="square" lIns="0" tIns="0" rIns="0" bIns="0" rtlCol="0" anchor="ctr"/>
          <a:lstStyle/>
          <a:p>
            <a:pPr marL="0" indent="0" algn="ctr">
              <a:buNone/>
            </a:pPr>
            <a:r>
              <a:rPr lang="en-US" sz="1200" b="1" dirty="0">
                <a:solidFill>
                  <a:srgbClr val="0B1D33"/>
                </a:solidFill>
                <a:latin typeface="Calibri" pitchFamily="34" charset="0"/>
                <a:ea typeface="Calibri" pitchFamily="34" charset="-122"/>
                <a:cs typeface="Calibri" pitchFamily="34" charset="-120"/>
              </a:rPr>
              <a:t>1</a:t>
            </a:r>
            <a:endParaRPr lang="en-US" sz="1200" dirty="0"/>
          </a:p>
        </p:txBody>
      </p:sp>
      <p:sp>
        <p:nvSpPr>
          <p:cNvPr id="26" name="Text 24"/>
          <p:cNvSpPr txBox="1"/>
          <p:nvPr/>
        </p:nvSpPr>
        <p:spPr>
          <a:xfrm>
            <a:off x="9326880" y="2870073"/>
            <a:ext cx="2176272" cy="868680"/>
          </a:xfrm>
          <a:prstGeom prst="rect">
            <a:avLst/>
          </a:prstGeom>
          <a:noFill/>
          <a:ln/>
        </p:spPr>
        <p:txBody>
          <a:bodyPr wrap="square" lIns="0" tIns="0" rIns="0" bIns="0" rtlCol="0" anchor="t"/>
          <a:lstStyle/>
          <a:p>
            <a:pPr marL="0" indent="0" algn="l">
              <a:spcAft>
                <a:spcPts val="300"/>
              </a:spcAft>
              <a:buNone/>
            </a:pPr>
            <a:r>
              <a:rPr lang="en-US" sz="1350" b="1" dirty="0">
                <a:solidFill>
                  <a:srgbClr val="FFFFFF"/>
                </a:solidFill>
                <a:latin typeface="Calibri" pitchFamily="34" charset="0"/>
                <a:ea typeface="Calibri" pitchFamily="34" charset="-122"/>
                <a:cs typeface="Calibri" pitchFamily="34" charset="-120"/>
              </a:rPr>
              <a:t>Future shifts with room</a:t>
            </a:r>
            <a:endParaRPr lang="en-US" sz="1300" dirty="0"/>
          </a:p>
          <a:p>
            <a:pPr marL="0" indent="0" algn="l">
              <a:spcAft>
                <a:spcPts val="300"/>
              </a:spcAft>
              <a:buNone/>
            </a:pPr>
            <a:r>
              <a:rPr lang="en-US" sz="1150" dirty="0">
                <a:solidFill>
                  <a:srgbClr val="93ACC6"/>
                </a:solidFill>
                <a:latin typeface="Calibri" pitchFamily="34" charset="0"/>
                <a:ea typeface="Calibri" pitchFamily="34" charset="-122"/>
                <a:cs typeface="Calibri" pitchFamily="34" charset="-120"/>
              </a:rPr>
              <a:t>Past shifts and full ones are filtered out.</a:t>
            </a:r>
            <a:endParaRPr lang="en-US" sz="1300" dirty="0"/>
          </a:p>
        </p:txBody>
      </p:sp>
      <p:sp>
        <p:nvSpPr>
          <p:cNvPr id="27" name="Shape 25"/>
          <p:cNvSpPr/>
          <p:nvPr/>
        </p:nvSpPr>
        <p:spPr>
          <a:xfrm>
            <a:off x="8275320" y="3789045"/>
            <a:ext cx="502920" cy="731520"/>
          </a:xfrm>
          <a:prstGeom prst="line">
            <a:avLst/>
          </a:prstGeom>
          <a:noFill/>
          <a:ln w="15875">
            <a:solidFill>
              <a:srgbClr val="5ED3C6"/>
            </a:solidFill>
            <a:prstDash val="dash"/>
          </a:ln>
        </p:spPr>
        <p:txBody>
          <a:bodyPr/>
          <a:lstStyle/>
          <a:p>
            <a:endParaRPr lang="en-ZA"/>
          </a:p>
        </p:txBody>
      </p:sp>
      <p:sp>
        <p:nvSpPr>
          <p:cNvPr id="28" name="Shape 26"/>
          <p:cNvSpPr/>
          <p:nvPr/>
        </p:nvSpPr>
        <p:spPr>
          <a:xfrm>
            <a:off x="8778240" y="3994785"/>
            <a:ext cx="2862072" cy="1051560"/>
          </a:xfrm>
          <a:prstGeom prst="roundRect">
            <a:avLst>
              <a:gd name="adj" fmla="val 8696"/>
            </a:avLst>
          </a:prstGeom>
          <a:solidFill>
            <a:srgbClr val="13304F"/>
          </a:solidFill>
          <a:ln w="15875">
            <a:solidFill>
              <a:srgbClr val="5ED3C6"/>
            </a:solidFill>
            <a:prstDash val="solid"/>
          </a:ln>
        </p:spPr>
        <p:txBody>
          <a:bodyPr/>
          <a:lstStyle/>
          <a:p>
            <a:endParaRPr lang="en-ZA"/>
          </a:p>
        </p:txBody>
      </p:sp>
      <p:sp>
        <p:nvSpPr>
          <p:cNvPr id="29" name="Shape 27"/>
          <p:cNvSpPr/>
          <p:nvPr/>
        </p:nvSpPr>
        <p:spPr>
          <a:xfrm>
            <a:off x="8942832" y="4150233"/>
            <a:ext cx="274320" cy="274320"/>
          </a:xfrm>
          <a:prstGeom prst="ellipse">
            <a:avLst/>
          </a:prstGeom>
          <a:solidFill>
            <a:srgbClr val="F6AE2D"/>
          </a:solidFill>
          <a:ln w="12700">
            <a:solidFill>
              <a:srgbClr val="F6AE2D"/>
            </a:solidFill>
            <a:prstDash val="solid"/>
          </a:ln>
        </p:spPr>
        <p:txBody>
          <a:bodyPr/>
          <a:lstStyle/>
          <a:p>
            <a:endParaRPr lang="en-ZA"/>
          </a:p>
        </p:txBody>
      </p:sp>
      <p:sp>
        <p:nvSpPr>
          <p:cNvPr id="30" name="Text 28"/>
          <p:cNvSpPr txBox="1"/>
          <p:nvPr/>
        </p:nvSpPr>
        <p:spPr>
          <a:xfrm>
            <a:off x="8942832" y="4150233"/>
            <a:ext cx="274320" cy="274320"/>
          </a:xfrm>
          <a:prstGeom prst="rect">
            <a:avLst/>
          </a:prstGeom>
          <a:noFill/>
          <a:ln/>
        </p:spPr>
        <p:txBody>
          <a:bodyPr wrap="square" lIns="0" tIns="0" rIns="0" bIns="0" rtlCol="0" anchor="ctr"/>
          <a:lstStyle/>
          <a:p>
            <a:pPr marL="0" indent="0" algn="ctr">
              <a:buNone/>
            </a:pPr>
            <a:r>
              <a:rPr lang="en-US" sz="1200" b="1" dirty="0">
                <a:solidFill>
                  <a:srgbClr val="0B1D33"/>
                </a:solidFill>
                <a:latin typeface="Calibri" pitchFamily="34" charset="0"/>
                <a:ea typeface="Calibri" pitchFamily="34" charset="-122"/>
                <a:cs typeface="Calibri" pitchFamily="34" charset="-120"/>
              </a:rPr>
              <a:t>2</a:t>
            </a:r>
            <a:endParaRPr lang="en-US" sz="1200" dirty="0"/>
          </a:p>
        </p:txBody>
      </p:sp>
      <p:sp>
        <p:nvSpPr>
          <p:cNvPr id="31" name="Text 29"/>
          <p:cNvSpPr txBox="1"/>
          <p:nvPr/>
        </p:nvSpPr>
        <p:spPr>
          <a:xfrm>
            <a:off x="9326880" y="4104513"/>
            <a:ext cx="2176272" cy="868680"/>
          </a:xfrm>
          <a:prstGeom prst="rect">
            <a:avLst/>
          </a:prstGeom>
          <a:noFill/>
          <a:ln/>
        </p:spPr>
        <p:txBody>
          <a:bodyPr wrap="square" lIns="0" tIns="0" rIns="0" bIns="0" rtlCol="0" anchor="t"/>
          <a:lstStyle/>
          <a:p>
            <a:pPr marL="0" indent="0" algn="l">
              <a:spcAft>
                <a:spcPts val="300"/>
              </a:spcAft>
              <a:buNone/>
            </a:pPr>
            <a:r>
              <a:rPr lang="en-US" sz="1350" b="1" dirty="0">
                <a:solidFill>
                  <a:srgbClr val="FFFFFF"/>
                </a:solidFill>
                <a:latin typeface="Calibri" pitchFamily="34" charset="0"/>
                <a:ea typeface="Calibri" pitchFamily="34" charset="-122"/>
                <a:cs typeface="Calibri" pitchFamily="34" charset="-120"/>
              </a:rPr>
              <a:t>Straight into a DTO</a:t>
            </a:r>
            <a:endParaRPr lang="en-US" sz="1300" dirty="0"/>
          </a:p>
          <a:p>
            <a:pPr marL="0" indent="0" algn="l">
              <a:spcAft>
                <a:spcPts val="300"/>
              </a:spcAft>
              <a:buNone/>
            </a:pPr>
            <a:r>
              <a:rPr lang="en-US" sz="1150" dirty="0">
                <a:solidFill>
                  <a:srgbClr val="93ACC6"/>
                </a:solidFill>
                <a:latin typeface="Calibri" pitchFamily="34" charset="0"/>
                <a:ea typeface="Calibri" pitchFamily="34" charset="-122"/>
                <a:cs typeface="Calibri" pitchFamily="34" charset="-120"/>
              </a:rPr>
              <a:t>EF Core builds one SQL query, no loops.</a:t>
            </a:r>
            <a:endParaRPr lang="en-US" sz="1300" dirty="0"/>
          </a:p>
        </p:txBody>
      </p:sp>
      <p:sp>
        <p:nvSpPr>
          <p:cNvPr id="32" name="Shape 30"/>
          <p:cNvSpPr/>
          <p:nvPr/>
        </p:nvSpPr>
        <p:spPr>
          <a:xfrm>
            <a:off x="8275320" y="4166235"/>
            <a:ext cx="502920" cy="1588770"/>
          </a:xfrm>
          <a:prstGeom prst="line">
            <a:avLst/>
          </a:prstGeom>
          <a:noFill/>
          <a:ln w="15875">
            <a:solidFill>
              <a:srgbClr val="5ED3C6"/>
            </a:solidFill>
            <a:prstDash val="dash"/>
          </a:ln>
        </p:spPr>
        <p:txBody>
          <a:bodyPr/>
          <a:lstStyle/>
          <a:p>
            <a:endParaRPr lang="en-ZA"/>
          </a:p>
        </p:txBody>
      </p:sp>
      <p:sp>
        <p:nvSpPr>
          <p:cNvPr id="33" name="Shape 31"/>
          <p:cNvSpPr/>
          <p:nvPr/>
        </p:nvSpPr>
        <p:spPr>
          <a:xfrm>
            <a:off x="8778240" y="5229225"/>
            <a:ext cx="2862072" cy="1051560"/>
          </a:xfrm>
          <a:prstGeom prst="roundRect">
            <a:avLst>
              <a:gd name="adj" fmla="val 8696"/>
            </a:avLst>
          </a:prstGeom>
          <a:solidFill>
            <a:srgbClr val="13304F"/>
          </a:solidFill>
          <a:ln w="15875">
            <a:solidFill>
              <a:srgbClr val="5ED3C6"/>
            </a:solidFill>
            <a:prstDash val="solid"/>
          </a:ln>
        </p:spPr>
        <p:txBody>
          <a:bodyPr/>
          <a:lstStyle/>
          <a:p>
            <a:endParaRPr lang="en-ZA"/>
          </a:p>
        </p:txBody>
      </p:sp>
      <p:sp>
        <p:nvSpPr>
          <p:cNvPr id="34" name="Shape 32"/>
          <p:cNvSpPr/>
          <p:nvPr/>
        </p:nvSpPr>
        <p:spPr>
          <a:xfrm>
            <a:off x="8942832" y="5384673"/>
            <a:ext cx="274320" cy="274320"/>
          </a:xfrm>
          <a:prstGeom prst="ellipse">
            <a:avLst/>
          </a:prstGeom>
          <a:solidFill>
            <a:srgbClr val="F6AE2D"/>
          </a:solidFill>
          <a:ln w="12700">
            <a:solidFill>
              <a:srgbClr val="F6AE2D"/>
            </a:solidFill>
            <a:prstDash val="solid"/>
          </a:ln>
        </p:spPr>
        <p:txBody>
          <a:bodyPr/>
          <a:lstStyle/>
          <a:p>
            <a:endParaRPr lang="en-ZA"/>
          </a:p>
        </p:txBody>
      </p:sp>
      <p:sp>
        <p:nvSpPr>
          <p:cNvPr id="35" name="Text 33"/>
          <p:cNvSpPr txBox="1"/>
          <p:nvPr/>
        </p:nvSpPr>
        <p:spPr>
          <a:xfrm>
            <a:off x="8942832" y="5384673"/>
            <a:ext cx="274320" cy="274320"/>
          </a:xfrm>
          <a:prstGeom prst="rect">
            <a:avLst/>
          </a:prstGeom>
          <a:noFill/>
          <a:ln/>
        </p:spPr>
        <p:txBody>
          <a:bodyPr wrap="square" lIns="0" tIns="0" rIns="0" bIns="0" rtlCol="0" anchor="ctr"/>
          <a:lstStyle/>
          <a:p>
            <a:pPr marL="0" indent="0" algn="ctr">
              <a:buNone/>
            </a:pPr>
            <a:r>
              <a:rPr lang="en-US" sz="1200" b="1" dirty="0">
                <a:solidFill>
                  <a:srgbClr val="0B1D33"/>
                </a:solidFill>
                <a:latin typeface="Calibri" pitchFamily="34" charset="0"/>
                <a:ea typeface="Calibri" pitchFamily="34" charset="-122"/>
                <a:cs typeface="Calibri" pitchFamily="34" charset="-120"/>
              </a:rPr>
              <a:t>3</a:t>
            </a:r>
            <a:endParaRPr lang="en-US" sz="1200" dirty="0"/>
          </a:p>
        </p:txBody>
      </p:sp>
      <p:sp>
        <p:nvSpPr>
          <p:cNvPr id="36" name="Text 34"/>
          <p:cNvSpPr txBox="1"/>
          <p:nvPr/>
        </p:nvSpPr>
        <p:spPr>
          <a:xfrm>
            <a:off x="9326880" y="5338953"/>
            <a:ext cx="2176272" cy="868680"/>
          </a:xfrm>
          <a:prstGeom prst="rect">
            <a:avLst/>
          </a:prstGeom>
          <a:noFill/>
          <a:ln/>
        </p:spPr>
        <p:txBody>
          <a:bodyPr wrap="square" lIns="0" tIns="0" rIns="0" bIns="0" rtlCol="0" anchor="t"/>
          <a:lstStyle/>
          <a:p>
            <a:pPr marL="0" indent="0" algn="l">
              <a:spcAft>
                <a:spcPts val="300"/>
              </a:spcAft>
              <a:buNone/>
            </a:pPr>
            <a:r>
              <a:rPr lang="en-US" sz="1350" b="1" dirty="0">
                <a:solidFill>
                  <a:srgbClr val="FFFFFF"/>
                </a:solidFill>
                <a:latin typeface="Calibri" pitchFamily="34" charset="0"/>
                <a:ea typeface="Calibri" pitchFamily="34" charset="-122"/>
                <a:cs typeface="Calibri" pitchFamily="34" charset="-120"/>
              </a:rPr>
              <a:t>Done in the database</a:t>
            </a:r>
            <a:endParaRPr lang="en-US" sz="1300" dirty="0"/>
          </a:p>
          <a:p>
            <a:pPr marL="0" indent="0" algn="l">
              <a:spcAft>
                <a:spcPts val="300"/>
              </a:spcAft>
              <a:buNone/>
            </a:pPr>
            <a:r>
              <a:rPr lang="en-US" sz="1150" dirty="0">
                <a:solidFill>
                  <a:srgbClr val="93ACC6"/>
                </a:solidFill>
                <a:latin typeface="Calibri" pitchFamily="34" charset="0"/>
                <a:ea typeface="Calibri" pitchFamily="34" charset="-122"/>
                <a:cs typeface="Calibri" pitchFamily="34" charset="-120"/>
              </a:rPr>
              <a:t>Capacity minus active bookings.</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1D33"/>
        </a:solidFill>
        <a:effectLst/>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B39DDB"/>
          </a:solidFill>
          <a:ln w="12700">
            <a:solidFill>
              <a:srgbClr val="B39DDB"/>
            </a:solidFill>
            <a:prstDash val="solid"/>
          </a:ln>
        </p:spPr>
        <p:txBody>
          <a:bodyPr/>
          <a:lstStyle/>
          <a:p>
            <a:endParaRPr lang="en-ZA"/>
          </a:p>
        </p:txBody>
      </p:sp>
      <p:sp>
        <p:nvSpPr>
          <p:cNvPr id="3" name="Text 1"/>
          <p:cNvSpPr txBox="1"/>
          <p:nvPr/>
        </p:nvSpPr>
        <p:spPr>
          <a:xfrm>
            <a:off x="548640" y="384048"/>
            <a:ext cx="8229600" cy="274320"/>
          </a:xfrm>
          <a:prstGeom prst="rect">
            <a:avLst/>
          </a:prstGeom>
          <a:noFill/>
          <a:ln/>
        </p:spPr>
        <p:txBody>
          <a:bodyPr wrap="square" lIns="0" tIns="0" rIns="0" bIns="0" rtlCol="0" anchor="ctr"/>
          <a:lstStyle/>
          <a:p>
            <a:pPr marL="0" indent="0">
              <a:buNone/>
            </a:pPr>
            <a:r>
              <a:rPr lang="en-US" sz="1100" b="1" kern="0" spc="400" dirty="0">
                <a:solidFill>
                  <a:srgbClr val="B39DDB"/>
                </a:solidFill>
                <a:latin typeface="Calibri" pitchFamily="34" charset="0"/>
                <a:ea typeface="Calibri" pitchFamily="34" charset="-122"/>
                <a:cs typeface="Calibri" pitchFamily="34" charset="-120"/>
              </a:rPr>
              <a:t>ROSTERS</a:t>
            </a:r>
            <a:endParaRPr lang="en-US" sz="1100" dirty="0"/>
          </a:p>
        </p:txBody>
      </p:sp>
      <p:sp>
        <p:nvSpPr>
          <p:cNvPr id="4" name="Text 2"/>
          <p:cNvSpPr txBox="1"/>
          <p:nvPr/>
        </p:nvSpPr>
        <p:spPr>
          <a:xfrm>
            <a:off x="548640" y="658368"/>
            <a:ext cx="11094415" cy="566928"/>
          </a:xfrm>
          <a:prstGeom prst="rect">
            <a:avLst/>
          </a:prstGeom>
          <a:noFill/>
          <a:ln/>
        </p:spPr>
        <p:txBody>
          <a:bodyPr wrap="square" lIns="0" tIns="0" rIns="0" bIns="0"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Generating a week's roster</a:t>
            </a:r>
            <a:endParaRPr lang="en-US" sz="3000" dirty="0"/>
          </a:p>
        </p:txBody>
      </p:sp>
      <p:sp>
        <p:nvSpPr>
          <p:cNvPr id="5" name="Shape 3"/>
          <p:cNvSpPr/>
          <p:nvPr/>
        </p:nvSpPr>
        <p:spPr>
          <a:xfrm>
            <a:off x="548640" y="1463040"/>
            <a:ext cx="2011680" cy="1874520"/>
          </a:xfrm>
          <a:prstGeom prst="roundRect">
            <a:avLst>
              <a:gd name="adj" fmla="val 4878"/>
            </a:avLst>
          </a:prstGeom>
          <a:solidFill>
            <a:srgbClr val="13304F"/>
          </a:solidFill>
          <a:ln w="12700">
            <a:solidFill>
              <a:srgbClr val="13304F"/>
            </a:solidFill>
            <a:prstDash val="solid"/>
          </a:ln>
        </p:spPr>
        <p:txBody>
          <a:bodyPr/>
          <a:lstStyle/>
          <a:p>
            <a:endParaRPr lang="en-ZA"/>
          </a:p>
        </p:txBody>
      </p:sp>
      <p:sp>
        <p:nvSpPr>
          <p:cNvPr id="6" name="Shape 4"/>
          <p:cNvSpPr/>
          <p:nvPr/>
        </p:nvSpPr>
        <p:spPr>
          <a:xfrm>
            <a:off x="731520" y="1664208"/>
            <a:ext cx="548640" cy="548640"/>
          </a:xfrm>
          <a:prstGeom prst="ellipse">
            <a:avLst/>
          </a:prstGeom>
          <a:solidFill>
            <a:srgbClr val="0B1D33"/>
          </a:solidFill>
          <a:ln w="12700">
            <a:solidFill>
              <a:srgbClr val="0B1D33"/>
            </a:solidFill>
            <a:prstDash val="solid"/>
          </a:ln>
        </p:spPr>
        <p:txBody>
          <a:bodyPr/>
          <a:lstStyle/>
          <a:p>
            <a:endParaRPr lang="en-ZA"/>
          </a:p>
        </p:txBody>
      </p:sp>
      <p:pic>
        <p:nvPicPr>
          <p:cNvPr id="7" name="Image 0" descr="preencoded.png"/>
          <p:cNvPicPr>
            <a:picLocks noChangeAspect="1"/>
          </p:cNvPicPr>
          <p:nvPr/>
        </p:nvPicPr>
        <p:blipFill>
          <a:blip r:embed="rId3"/>
          <a:stretch>
            <a:fillRect/>
          </a:stretch>
        </p:blipFill>
        <p:spPr>
          <a:xfrm>
            <a:off x="868680" y="1801368"/>
            <a:ext cx="274320" cy="274320"/>
          </a:xfrm>
          <a:prstGeom prst="rect">
            <a:avLst/>
          </a:prstGeom>
        </p:spPr>
      </p:pic>
      <p:sp>
        <p:nvSpPr>
          <p:cNvPr id="8" name="Shape 5"/>
          <p:cNvSpPr/>
          <p:nvPr/>
        </p:nvSpPr>
        <p:spPr>
          <a:xfrm>
            <a:off x="2103120" y="1627632"/>
            <a:ext cx="310896" cy="310896"/>
          </a:xfrm>
          <a:prstGeom prst="ellipse">
            <a:avLst/>
          </a:prstGeom>
          <a:solidFill>
            <a:srgbClr val="F6AE2D"/>
          </a:solidFill>
          <a:ln w="12700">
            <a:solidFill>
              <a:srgbClr val="F6AE2D"/>
            </a:solidFill>
            <a:prstDash val="solid"/>
          </a:ln>
        </p:spPr>
        <p:txBody>
          <a:bodyPr/>
          <a:lstStyle/>
          <a:p>
            <a:endParaRPr lang="en-ZA"/>
          </a:p>
        </p:txBody>
      </p:sp>
      <p:sp>
        <p:nvSpPr>
          <p:cNvPr id="9" name="Text 6"/>
          <p:cNvSpPr txBox="1"/>
          <p:nvPr/>
        </p:nvSpPr>
        <p:spPr>
          <a:xfrm>
            <a:off x="2103120" y="1627632"/>
            <a:ext cx="310896" cy="310896"/>
          </a:xfrm>
          <a:prstGeom prst="rect">
            <a:avLst/>
          </a:prstGeom>
          <a:noFill/>
          <a:ln/>
        </p:spPr>
        <p:txBody>
          <a:bodyPr wrap="square" lIns="0" tIns="0" rIns="0" bIns="0" rtlCol="0" anchor="ctr"/>
          <a:lstStyle/>
          <a:p>
            <a:pPr marL="0" indent="0" algn="ctr">
              <a:buNone/>
            </a:pPr>
            <a:r>
              <a:rPr lang="en-US" sz="1200" b="1" dirty="0">
                <a:solidFill>
                  <a:srgbClr val="0B1D33"/>
                </a:solidFill>
                <a:latin typeface="Calibri" pitchFamily="34" charset="0"/>
                <a:ea typeface="Calibri" pitchFamily="34" charset="-122"/>
                <a:cs typeface="Calibri" pitchFamily="34" charset="-120"/>
              </a:rPr>
              <a:t>1</a:t>
            </a:r>
            <a:endParaRPr lang="en-US" sz="1200" dirty="0"/>
          </a:p>
        </p:txBody>
      </p:sp>
      <p:sp>
        <p:nvSpPr>
          <p:cNvPr id="10" name="Text 7"/>
          <p:cNvSpPr txBox="1"/>
          <p:nvPr/>
        </p:nvSpPr>
        <p:spPr>
          <a:xfrm>
            <a:off x="731520" y="2331720"/>
            <a:ext cx="1645920" cy="914400"/>
          </a:xfrm>
          <a:prstGeom prst="rect">
            <a:avLst/>
          </a:prstGeom>
          <a:noFill/>
          <a:ln/>
        </p:spPr>
        <p:txBody>
          <a:bodyPr wrap="square" lIns="0" tIns="0" rIns="0" bIns="0" rtlCol="0" anchor="t"/>
          <a:lstStyle/>
          <a:p>
            <a:pPr marL="0" indent="0" algn="l">
              <a:spcAft>
                <a:spcPts val="300"/>
              </a:spcAft>
              <a:buNone/>
            </a:pPr>
            <a:r>
              <a:rPr lang="en-US" sz="1450" b="1" dirty="0">
                <a:solidFill>
                  <a:srgbClr val="FFFFFF"/>
                </a:solidFill>
                <a:latin typeface="Calibri" pitchFamily="34" charset="0"/>
                <a:ea typeface="Calibri" pitchFamily="34" charset="-122"/>
                <a:cs typeface="Calibri" pitchFamily="34" charset="-120"/>
              </a:rPr>
              <a:t>Monday start</a:t>
            </a:r>
            <a:endParaRPr lang="en-US" sz="1300" dirty="0"/>
          </a:p>
          <a:p>
            <a:pPr marL="0" indent="0" algn="l">
              <a:spcAft>
                <a:spcPts val="300"/>
              </a:spcAft>
              <a:buNone/>
            </a:pPr>
            <a:r>
              <a:rPr lang="en-US" sz="1200" dirty="0">
                <a:solidFill>
                  <a:srgbClr val="93ACC6"/>
                </a:solidFill>
                <a:latin typeface="Calibri" pitchFamily="34" charset="0"/>
                <a:ea typeface="Calibri" pitchFamily="34" charset="-122"/>
                <a:cs typeface="Calibri" pitchFamily="34" charset="-120"/>
              </a:rPr>
              <a:t>Any other day is rejected.</a:t>
            </a:r>
            <a:endParaRPr lang="en-US" sz="1300" dirty="0"/>
          </a:p>
        </p:txBody>
      </p:sp>
      <p:sp>
        <p:nvSpPr>
          <p:cNvPr id="11" name="Shape 8"/>
          <p:cNvSpPr/>
          <p:nvPr/>
        </p:nvSpPr>
        <p:spPr>
          <a:xfrm>
            <a:off x="2587752" y="2400300"/>
            <a:ext cx="204140" cy="914"/>
          </a:xfrm>
          <a:prstGeom prst="line">
            <a:avLst/>
          </a:prstGeom>
          <a:noFill/>
          <a:ln w="25400">
            <a:solidFill>
              <a:srgbClr val="B39DDB"/>
            </a:solidFill>
            <a:prstDash val="solid"/>
            <a:tailEnd type="triangle"/>
          </a:ln>
        </p:spPr>
        <p:txBody>
          <a:bodyPr/>
          <a:lstStyle/>
          <a:p>
            <a:endParaRPr lang="en-ZA"/>
          </a:p>
        </p:txBody>
      </p:sp>
      <p:sp>
        <p:nvSpPr>
          <p:cNvPr id="12" name="Shape 9"/>
          <p:cNvSpPr/>
          <p:nvPr/>
        </p:nvSpPr>
        <p:spPr>
          <a:xfrm>
            <a:off x="2819324" y="1463040"/>
            <a:ext cx="2011680" cy="1874520"/>
          </a:xfrm>
          <a:prstGeom prst="roundRect">
            <a:avLst>
              <a:gd name="adj" fmla="val 4878"/>
            </a:avLst>
          </a:prstGeom>
          <a:solidFill>
            <a:srgbClr val="13304F"/>
          </a:solidFill>
          <a:ln w="12700">
            <a:solidFill>
              <a:srgbClr val="13304F"/>
            </a:solidFill>
            <a:prstDash val="solid"/>
          </a:ln>
        </p:spPr>
        <p:txBody>
          <a:bodyPr/>
          <a:lstStyle/>
          <a:p>
            <a:endParaRPr lang="en-ZA"/>
          </a:p>
        </p:txBody>
      </p:sp>
      <p:sp>
        <p:nvSpPr>
          <p:cNvPr id="13" name="Shape 10"/>
          <p:cNvSpPr/>
          <p:nvPr/>
        </p:nvSpPr>
        <p:spPr>
          <a:xfrm>
            <a:off x="3002204" y="1664208"/>
            <a:ext cx="548640" cy="548640"/>
          </a:xfrm>
          <a:prstGeom prst="ellipse">
            <a:avLst/>
          </a:prstGeom>
          <a:solidFill>
            <a:srgbClr val="0B1D33"/>
          </a:solidFill>
          <a:ln w="12700">
            <a:solidFill>
              <a:srgbClr val="0B1D33"/>
            </a:solidFill>
            <a:prstDash val="solid"/>
          </a:ln>
        </p:spPr>
        <p:txBody>
          <a:bodyPr/>
          <a:lstStyle/>
          <a:p>
            <a:endParaRPr lang="en-ZA"/>
          </a:p>
        </p:txBody>
      </p:sp>
      <p:pic>
        <p:nvPicPr>
          <p:cNvPr id="14" name="Image 1" descr="preencoded.png"/>
          <p:cNvPicPr>
            <a:picLocks noChangeAspect="1"/>
          </p:cNvPicPr>
          <p:nvPr/>
        </p:nvPicPr>
        <p:blipFill>
          <a:blip r:embed="rId4"/>
          <a:stretch>
            <a:fillRect/>
          </a:stretch>
        </p:blipFill>
        <p:spPr>
          <a:xfrm>
            <a:off x="3139364" y="1801368"/>
            <a:ext cx="274320" cy="274320"/>
          </a:xfrm>
          <a:prstGeom prst="rect">
            <a:avLst/>
          </a:prstGeom>
        </p:spPr>
      </p:pic>
      <p:sp>
        <p:nvSpPr>
          <p:cNvPr id="15" name="Shape 11"/>
          <p:cNvSpPr/>
          <p:nvPr/>
        </p:nvSpPr>
        <p:spPr>
          <a:xfrm>
            <a:off x="4373804" y="1627632"/>
            <a:ext cx="310896" cy="310896"/>
          </a:xfrm>
          <a:prstGeom prst="ellipse">
            <a:avLst/>
          </a:prstGeom>
          <a:solidFill>
            <a:srgbClr val="F6AE2D"/>
          </a:solidFill>
          <a:ln w="12700">
            <a:solidFill>
              <a:srgbClr val="F6AE2D"/>
            </a:solidFill>
            <a:prstDash val="solid"/>
          </a:ln>
        </p:spPr>
        <p:txBody>
          <a:bodyPr/>
          <a:lstStyle/>
          <a:p>
            <a:endParaRPr lang="en-ZA"/>
          </a:p>
        </p:txBody>
      </p:sp>
      <p:sp>
        <p:nvSpPr>
          <p:cNvPr id="16" name="Text 12"/>
          <p:cNvSpPr txBox="1"/>
          <p:nvPr/>
        </p:nvSpPr>
        <p:spPr>
          <a:xfrm>
            <a:off x="4373804" y="1627632"/>
            <a:ext cx="310896" cy="310896"/>
          </a:xfrm>
          <a:prstGeom prst="rect">
            <a:avLst/>
          </a:prstGeom>
          <a:noFill/>
          <a:ln/>
        </p:spPr>
        <p:txBody>
          <a:bodyPr wrap="square" lIns="0" tIns="0" rIns="0" bIns="0" rtlCol="0" anchor="ctr"/>
          <a:lstStyle/>
          <a:p>
            <a:pPr marL="0" indent="0" algn="ctr">
              <a:buNone/>
            </a:pPr>
            <a:r>
              <a:rPr lang="en-US" sz="1200" b="1" dirty="0">
                <a:solidFill>
                  <a:srgbClr val="0B1D33"/>
                </a:solidFill>
                <a:latin typeface="Calibri" pitchFamily="34" charset="0"/>
                <a:ea typeface="Calibri" pitchFamily="34" charset="-122"/>
                <a:cs typeface="Calibri" pitchFamily="34" charset="-120"/>
              </a:rPr>
              <a:t>2</a:t>
            </a:r>
            <a:endParaRPr lang="en-US" sz="1200" dirty="0"/>
          </a:p>
        </p:txBody>
      </p:sp>
      <p:sp>
        <p:nvSpPr>
          <p:cNvPr id="17" name="Text 13"/>
          <p:cNvSpPr txBox="1"/>
          <p:nvPr/>
        </p:nvSpPr>
        <p:spPr>
          <a:xfrm>
            <a:off x="3002204" y="2331720"/>
            <a:ext cx="1645920" cy="914400"/>
          </a:xfrm>
          <a:prstGeom prst="rect">
            <a:avLst/>
          </a:prstGeom>
          <a:noFill/>
          <a:ln/>
        </p:spPr>
        <p:txBody>
          <a:bodyPr wrap="square" lIns="0" tIns="0" rIns="0" bIns="0" rtlCol="0" anchor="t"/>
          <a:lstStyle/>
          <a:p>
            <a:pPr marL="0" indent="0" algn="l">
              <a:spcAft>
                <a:spcPts val="300"/>
              </a:spcAft>
              <a:buNone/>
            </a:pPr>
            <a:r>
              <a:rPr lang="en-US" sz="1450" b="1" dirty="0">
                <a:solidFill>
                  <a:srgbClr val="FFFFFF"/>
                </a:solidFill>
                <a:latin typeface="Calibri" pitchFamily="34" charset="0"/>
                <a:ea typeface="Calibri" pitchFamily="34" charset="-122"/>
                <a:cs typeface="Calibri" pitchFamily="34" charset="-120"/>
              </a:rPr>
              <a:t>Draft roster</a:t>
            </a:r>
            <a:endParaRPr lang="en-US" sz="1300" dirty="0"/>
          </a:p>
          <a:p>
            <a:pPr marL="0" indent="0" algn="l">
              <a:spcAft>
                <a:spcPts val="300"/>
              </a:spcAft>
              <a:buNone/>
            </a:pPr>
            <a:r>
              <a:rPr lang="en-US" sz="1200" dirty="0">
                <a:solidFill>
                  <a:srgbClr val="93ACC6"/>
                </a:solidFill>
                <a:latin typeface="Calibri" pitchFamily="34" charset="0"/>
                <a:ea typeface="Calibri" pitchFamily="34" charset="-122"/>
                <a:cs typeface="Calibri" pitchFamily="34" charset="-120"/>
              </a:rPr>
              <a:t>An existing week is returned, not duplicated.</a:t>
            </a:r>
            <a:endParaRPr lang="en-US" sz="1300" dirty="0"/>
          </a:p>
        </p:txBody>
      </p:sp>
      <p:sp>
        <p:nvSpPr>
          <p:cNvPr id="18" name="Shape 14"/>
          <p:cNvSpPr/>
          <p:nvPr/>
        </p:nvSpPr>
        <p:spPr>
          <a:xfrm>
            <a:off x="4858436" y="2400300"/>
            <a:ext cx="204140" cy="914"/>
          </a:xfrm>
          <a:prstGeom prst="line">
            <a:avLst/>
          </a:prstGeom>
          <a:noFill/>
          <a:ln w="25400">
            <a:solidFill>
              <a:srgbClr val="B39DDB"/>
            </a:solidFill>
            <a:prstDash val="solid"/>
            <a:tailEnd type="triangle"/>
          </a:ln>
        </p:spPr>
        <p:txBody>
          <a:bodyPr/>
          <a:lstStyle/>
          <a:p>
            <a:endParaRPr lang="en-ZA"/>
          </a:p>
        </p:txBody>
      </p:sp>
      <p:sp>
        <p:nvSpPr>
          <p:cNvPr id="19" name="Shape 15"/>
          <p:cNvSpPr/>
          <p:nvPr/>
        </p:nvSpPr>
        <p:spPr>
          <a:xfrm>
            <a:off x="5090008" y="1463040"/>
            <a:ext cx="2011680" cy="1874520"/>
          </a:xfrm>
          <a:prstGeom prst="roundRect">
            <a:avLst>
              <a:gd name="adj" fmla="val 4878"/>
            </a:avLst>
          </a:prstGeom>
          <a:solidFill>
            <a:srgbClr val="13304F"/>
          </a:solidFill>
          <a:ln w="12700">
            <a:solidFill>
              <a:srgbClr val="13304F"/>
            </a:solidFill>
            <a:prstDash val="solid"/>
          </a:ln>
        </p:spPr>
        <p:txBody>
          <a:bodyPr/>
          <a:lstStyle/>
          <a:p>
            <a:endParaRPr lang="en-ZA"/>
          </a:p>
        </p:txBody>
      </p:sp>
      <p:sp>
        <p:nvSpPr>
          <p:cNvPr id="20" name="Shape 16"/>
          <p:cNvSpPr/>
          <p:nvPr/>
        </p:nvSpPr>
        <p:spPr>
          <a:xfrm>
            <a:off x="5272888" y="1664208"/>
            <a:ext cx="548640" cy="548640"/>
          </a:xfrm>
          <a:prstGeom prst="ellipse">
            <a:avLst/>
          </a:prstGeom>
          <a:solidFill>
            <a:srgbClr val="0B1D33"/>
          </a:solidFill>
          <a:ln w="12700">
            <a:solidFill>
              <a:srgbClr val="0B1D33"/>
            </a:solidFill>
            <a:prstDash val="solid"/>
          </a:ln>
        </p:spPr>
        <p:txBody>
          <a:bodyPr/>
          <a:lstStyle/>
          <a:p>
            <a:endParaRPr lang="en-ZA"/>
          </a:p>
        </p:txBody>
      </p:sp>
      <p:pic>
        <p:nvPicPr>
          <p:cNvPr id="21" name="Image 2" descr="preencoded.png"/>
          <p:cNvPicPr>
            <a:picLocks noChangeAspect="1"/>
          </p:cNvPicPr>
          <p:nvPr/>
        </p:nvPicPr>
        <p:blipFill>
          <a:blip r:embed="rId5"/>
          <a:stretch>
            <a:fillRect/>
          </a:stretch>
        </p:blipFill>
        <p:spPr>
          <a:xfrm>
            <a:off x="5410048" y="1801368"/>
            <a:ext cx="274320" cy="274320"/>
          </a:xfrm>
          <a:prstGeom prst="rect">
            <a:avLst/>
          </a:prstGeom>
        </p:spPr>
      </p:pic>
      <p:sp>
        <p:nvSpPr>
          <p:cNvPr id="22" name="Shape 17"/>
          <p:cNvSpPr/>
          <p:nvPr/>
        </p:nvSpPr>
        <p:spPr>
          <a:xfrm>
            <a:off x="6644488" y="1627632"/>
            <a:ext cx="310896" cy="310896"/>
          </a:xfrm>
          <a:prstGeom prst="ellipse">
            <a:avLst/>
          </a:prstGeom>
          <a:solidFill>
            <a:srgbClr val="F6AE2D"/>
          </a:solidFill>
          <a:ln w="12700">
            <a:solidFill>
              <a:srgbClr val="F6AE2D"/>
            </a:solidFill>
            <a:prstDash val="solid"/>
          </a:ln>
        </p:spPr>
        <p:txBody>
          <a:bodyPr/>
          <a:lstStyle/>
          <a:p>
            <a:endParaRPr lang="en-ZA"/>
          </a:p>
        </p:txBody>
      </p:sp>
      <p:sp>
        <p:nvSpPr>
          <p:cNvPr id="23" name="Text 18"/>
          <p:cNvSpPr txBox="1"/>
          <p:nvPr/>
        </p:nvSpPr>
        <p:spPr>
          <a:xfrm>
            <a:off x="6644488" y="1627632"/>
            <a:ext cx="310896" cy="310896"/>
          </a:xfrm>
          <a:prstGeom prst="rect">
            <a:avLst/>
          </a:prstGeom>
          <a:noFill/>
          <a:ln/>
        </p:spPr>
        <p:txBody>
          <a:bodyPr wrap="square" lIns="0" tIns="0" rIns="0" bIns="0" rtlCol="0" anchor="ctr"/>
          <a:lstStyle/>
          <a:p>
            <a:pPr marL="0" indent="0" algn="ctr">
              <a:buNone/>
            </a:pPr>
            <a:r>
              <a:rPr lang="en-US" sz="1200" b="1" dirty="0">
                <a:solidFill>
                  <a:srgbClr val="0B1D33"/>
                </a:solidFill>
                <a:latin typeface="Calibri" pitchFamily="34" charset="0"/>
                <a:ea typeface="Calibri" pitchFamily="34" charset="-122"/>
                <a:cs typeface="Calibri" pitchFamily="34" charset="-120"/>
              </a:rPr>
              <a:t>3</a:t>
            </a:r>
            <a:endParaRPr lang="en-US" sz="1200" dirty="0"/>
          </a:p>
        </p:txBody>
      </p:sp>
      <p:sp>
        <p:nvSpPr>
          <p:cNvPr id="24" name="Text 19"/>
          <p:cNvSpPr txBox="1"/>
          <p:nvPr/>
        </p:nvSpPr>
        <p:spPr>
          <a:xfrm>
            <a:off x="5272888" y="2331720"/>
            <a:ext cx="1645920" cy="914400"/>
          </a:xfrm>
          <a:prstGeom prst="rect">
            <a:avLst/>
          </a:prstGeom>
          <a:noFill/>
          <a:ln/>
        </p:spPr>
        <p:txBody>
          <a:bodyPr wrap="square" lIns="0" tIns="0" rIns="0" bIns="0" rtlCol="0" anchor="t"/>
          <a:lstStyle/>
          <a:p>
            <a:pPr marL="0" indent="0" algn="l">
              <a:spcAft>
                <a:spcPts val="300"/>
              </a:spcAft>
              <a:buNone/>
            </a:pPr>
            <a:r>
              <a:rPr lang="en-US" sz="1450" b="1" dirty="0">
                <a:solidFill>
                  <a:srgbClr val="FFFFFF"/>
                </a:solidFill>
                <a:latin typeface="Calibri" pitchFamily="34" charset="0"/>
                <a:ea typeface="Calibri" pitchFamily="34" charset="-122"/>
                <a:cs typeface="Calibri" pitchFamily="34" charset="-120"/>
              </a:rPr>
              <a:t>Each shift</a:t>
            </a:r>
            <a:endParaRPr lang="en-US" sz="1300" dirty="0"/>
          </a:p>
          <a:p>
            <a:pPr marL="0" indent="0" algn="l">
              <a:spcAft>
                <a:spcPts val="300"/>
              </a:spcAft>
              <a:buNone/>
            </a:pPr>
            <a:r>
              <a:rPr lang="en-US" sz="1200" dirty="0">
                <a:solidFill>
                  <a:srgbClr val="93ACC6"/>
                </a:solidFill>
                <a:latin typeface="Calibri" pitchFamily="34" charset="0"/>
                <a:ea typeface="Calibri" pitchFamily="34" charset="-122"/>
                <a:cs typeface="Calibri" pitchFamily="34" charset="-120"/>
              </a:rPr>
              <a:t>In date, then time-slot order.</a:t>
            </a:r>
            <a:endParaRPr lang="en-US" sz="1300" dirty="0"/>
          </a:p>
        </p:txBody>
      </p:sp>
      <p:sp>
        <p:nvSpPr>
          <p:cNvPr id="25" name="Shape 20"/>
          <p:cNvSpPr/>
          <p:nvPr/>
        </p:nvSpPr>
        <p:spPr>
          <a:xfrm>
            <a:off x="7129120" y="2400300"/>
            <a:ext cx="204140" cy="914"/>
          </a:xfrm>
          <a:prstGeom prst="line">
            <a:avLst/>
          </a:prstGeom>
          <a:noFill/>
          <a:ln w="25400">
            <a:solidFill>
              <a:srgbClr val="B39DDB"/>
            </a:solidFill>
            <a:prstDash val="solid"/>
            <a:tailEnd type="triangle"/>
          </a:ln>
        </p:spPr>
        <p:txBody>
          <a:bodyPr/>
          <a:lstStyle/>
          <a:p>
            <a:endParaRPr lang="en-ZA"/>
          </a:p>
        </p:txBody>
      </p:sp>
      <p:sp>
        <p:nvSpPr>
          <p:cNvPr id="26" name="Shape 21"/>
          <p:cNvSpPr/>
          <p:nvPr/>
        </p:nvSpPr>
        <p:spPr>
          <a:xfrm>
            <a:off x="7360691" y="1463040"/>
            <a:ext cx="2011680" cy="1874520"/>
          </a:xfrm>
          <a:prstGeom prst="roundRect">
            <a:avLst>
              <a:gd name="adj" fmla="val 4878"/>
            </a:avLst>
          </a:prstGeom>
          <a:solidFill>
            <a:srgbClr val="13304F"/>
          </a:solidFill>
          <a:ln w="15875">
            <a:solidFill>
              <a:srgbClr val="B39DDB"/>
            </a:solidFill>
            <a:prstDash val="solid"/>
          </a:ln>
        </p:spPr>
        <p:txBody>
          <a:bodyPr/>
          <a:lstStyle/>
          <a:p>
            <a:endParaRPr lang="en-ZA"/>
          </a:p>
        </p:txBody>
      </p:sp>
      <p:sp>
        <p:nvSpPr>
          <p:cNvPr id="27" name="Shape 22"/>
          <p:cNvSpPr/>
          <p:nvPr/>
        </p:nvSpPr>
        <p:spPr>
          <a:xfrm>
            <a:off x="7543571" y="1664208"/>
            <a:ext cx="548640" cy="548640"/>
          </a:xfrm>
          <a:prstGeom prst="ellipse">
            <a:avLst/>
          </a:prstGeom>
          <a:solidFill>
            <a:srgbClr val="0B1D33"/>
          </a:solidFill>
          <a:ln w="12700">
            <a:solidFill>
              <a:srgbClr val="0B1D33"/>
            </a:solidFill>
            <a:prstDash val="solid"/>
          </a:ln>
        </p:spPr>
        <p:txBody>
          <a:bodyPr/>
          <a:lstStyle/>
          <a:p>
            <a:endParaRPr lang="en-ZA"/>
          </a:p>
        </p:txBody>
      </p:sp>
      <p:pic>
        <p:nvPicPr>
          <p:cNvPr id="28" name="Image 3" descr="preencoded.png"/>
          <p:cNvPicPr>
            <a:picLocks noChangeAspect="1"/>
          </p:cNvPicPr>
          <p:nvPr/>
        </p:nvPicPr>
        <p:blipFill>
          <a:blip r:embed="rId6"/>
          <a:stretch>
            <a:fillRect/>
          </a:stretch>
        </p:blipFill>
        <p:spPr>
          <a:xfrm>
            <a:off x="7680731" y="1801368"/>
            <a:ext cx="274320" cy="274320"/>
          </a:xfrm>
          <a:prstGeom prst="rect">
            <a:avLst/>
          </a:prstGeom>
        </p:spPr>
      </p:pic>
      <p:sp>
        <p:nvSpPr>
          <p:cNvPr id="29" name="Shape 23"/>
          <p:cNvSpPr/>
          <p:nvPr/>
        </p:nvSpPr>
        <p:spPr>
          <a:xfrm>
            <a:off x="8915171" y="1627632"/>
            <a:ext cx="310896" cy="310896"/>
          </a:xfrm>
          <a:prstGeom prst="ellipse">
            <a:avLst/>
          </a:prstGeom>
          <a:solidFill>
            <a:srgbClr val="F6AE2D"/>
          </a:solidFill>
          <a:ln w="12700">
            <a:solidFill>
              <a:srgbClr val="F6AE2D"/>
            </a:solidFill>
            <a:prstDash val="solid"/>
          </a:ln>
        </p:spPr>
        <p:txBody>
          <a:bodyPr/>
          <a:lstStyle/>
          <a:p>
            <a:endParaRPr lang="en-ZA"/>
          </a:p>
        </p:txBody>
      </p:sp>
      <p:sp>
        <p:nvSpPr>
          <p:cNvPr id="30" name="Text 24"/>
          <p:cNvSpPr txBox="1"/>
          <p:nvPr/>
        </p:nvSpPr>
        <p:spPr>
          <a:xfrm>
            <a:off x="8915171" y="1627632"/>
            <a:ext cx="310896" cy="310896"/>
          </a:xfrm>
          <a:prstGeom prst="rect">
            <a:avLst/>
          </a:prstGeom>
          <a:noFill/>
          <a:ln/>
        </p:spPr>
        <p:txBody>
          <a:bodyPr wrap="square" lIns="0" tIns="0" rIns="0" bIns="0" rtlCol="0" anchor="ctr"/>
          <a:lstStyle/>
          <a:p>
            <a:pPr marL="0" indent="0" algn="ctr">
              <a:buNone/>
            </a:pPr>
            <a:r>
              <a:rPr lang="en-US" sz="1200" b="1" dirty="0">
                <a:solidFill>
                  <a:srgbClr val="0B1D33"/>
                </a:solidFill>
                <a:latin typeface="Calibri" pitchFamily="34" charset="0"/>
                <a:ea typeface="Calibri" pitchFamily="34" charset="-122"/>
                <a:cs typeface="Calibri" pitchFamily="34" charset="-120"/>
              </a:rPr>
              <a:t>4</a:t>
            </a:r>
            <a:endParaRPr lang="en-US" sz="1200" dirty="0"/>
          </a:p>
        </p:txBody>
      </p:sp>
      <p:sp>
        <p:nvSpPr>
          <p:cNvPr id="31" name="Text 25"/>
          <p:cNvSpPr txBox="1"/>
          <p:nvPr/>
        </p:nvSpPr>
        <p:spPr>
          <a:xfrm>
            <a:off x="7543571" y="2331720"/>
            <a:ext cx="1645920" cy="914400"/>
          </a:xfrm>
          <a:prstGeom prst="rect">
            <a:avLst/>
          </a:prstGeom>
          <a:noFill/>
          <a:ln/>
        </p:spPr>
        <p:txBody>
          <a:bodyPr wrap="square" lIns="0" tIns="0" rIns="0" bIns="0" rtlCol="0" anchor="t"/>
          <a:lstStyle/>
          <a:p>
            <a:pPr marL="0" indent="0" algn="l">
              <a:spcAft>
                <a:spcPts val="300"/>
              </a:spcAft>
              <a:buNone/>
            </a:pPr>
            <a:r>
              <a:rPr lang="en-US" sz="1450" b="1" dirty="0">
                <a:solidFill>
                  <a:srgbClr val="FFFFFF"/>
                </a:solidFill>
                <a:latin typeface="Calibri" pitchFamily="34" charset="0"/>
                <a:ea typeface="Calibri" pitchFamily="34" charset="-122"/>
                <a:cs typeface="Calibri" pitchFamily="34" charset="-120"/>
              </a:rPr>
              <a:t>Try volunteers</a:t>
            </a:r>
            <a:endParaRPr lang="en-US" sz="1300" dirty="0"/>
          </a:p>
          <a:p>
            <a:pPr marL="0" indent="0" algn="l">
              <a:spcAft>
                <a:spcPts val="300"/>
              </a:spcAft>
              <a:buNone/>
            </a:pPr>
            <a:r>
              <a:rPr lang="en-US" sz="1200" dirty="0">
                <a:solidFill>
                  <a:srgbClr val="93ACC6"/>
                </a:solidFill>
                <a:latin typeface="Calibri" pitchFamily="34" charset="0"/>
                <a:ea typeface="Calibri" pitchFamily="34" charset="-122"/>
                <a:cs typeface="Calibri" pitchFamily="34" charset="-120"/>
              </a:rPr>
              <a:t>Every rule checked for each one.</a:t>
            </a:r>
            <a:endParaRPr lang="en-US" sz="1300" dirty="0"/>
          </a:p>
        </p:txBody>
      </p:sp>
      <p:sp>
        <p:nvSpPr>
          <p:cNvPr id="32" name="Shape 26"/>
          <p:cNvSpPr/>
          <p:nvPr/>
        </p:nvSpPr>
        <p:spPr>
          <a:xfrm>
            <a:off x="9399803" y="2400300"/>
            <a:ext cx="204140" cy="914"/>
          </a:xfrm>
          <a:prstGeom prst="line">
            <a:avLst/>
          </a:prstGeom>
          <a:noFill/>
          <a:ln w="25400">
            <a:solidFill>
              <a:srgbClr val="B39DDB"/>
            </a:solidFill>
            <a:prstDash val="solid"/>
            <a:tailEnd type="triangle"/>
          </a:ln>
        </p:spPr>
        <p:txBody>
          <a:bodyPr/>
          <a:lstStyle/>
          <a:p>
            <a:endParaRPr lang="en-ZA"/>
          </a:p>
        </p:txBody>
      </p:sp>
      <p:sp>
        <p:nvSpPr>
          <p:cNvPr id="33" name="Shape 27"/>
          <p:cNvSpPr/>
          <p:nvPr/>
        </p:nvSpPr>
        <p:spPr>
          <a:xfrm>
            <a:off x="9631375" y="1463040"/>
            <a:ext cx="2011680" cy="1874520"/>
          </a:xfrm>
          <a:prstGeom prst="roundRect">
            <a:avLst>
              <a:gd name="adj" fmla="val 4878"/>
            </a:avLst>
          </a:prstGeom>
          <a:solidFill>
            <a:srgbClr val="13304F"/>
          </a:solidFill>
          <a:ln w="12700">
            <a:solidFill>
              <a:srgbClr val="13304F"/>
            </a:solidFill>
            <a:prstDash val="solid"/>
          </a:ln>
        </p:spPr>
        <p:txBody>
          <a:bodyPr/>
          <a:lstStyle/>
          <a:p>
            <a:endParaRPr lang="en-ZA"/>
          </a:p>
        </p:txBody>
      </p:sp>
      <p:sp>
        <p:nvSpPr>
          <p:cNvPr id="34" name="Shape 28"/>
          <p:cNvSpPr/>
          <p:nvPr/>
        </p:nvSpPr>
        <p:spPr>
          <a:xfrm>
            <a:off x="9814255" y="1664208"/>
            <a:ext cx="548640" cy="548640"/>
          </a:xfrm>
          <a:prstGeom prst="ellipse">
            <a:avLst/>
          </a:prstGeom>
          <a:solidFill>
            <a:srgbClr val="0B1D33"/>
          </a:solidFill>
          <a:ln w="12700">
            <a:solidFill>
              <a:srgbClr val="0B1D33"/>
            </a:solidFill>
            <a:prstDash val="solid"/>
          </a:ln>
        </p:spPr>
        <p:txBody>
          <a:bodyPr/>
          <a:lstStyle/>
          <a:p>
            <a:endParaRPr lang="en-ZA"/>
          </a:p>
        </p:txBody>
      </p:sp>
      <p:pic>
        <p:nvPicPr>
          <p:cNvPr id="35" name="Image 4" descr="preencoded.png"/>
          <p:cNvPicPr>
            <a:picLocks noChangeAspect="1"/>
          </p:cNvPicPr>
          <p:nvPr/>
        </p:nvPicPr>
        <p:blipFill>
          <a:blip r:embed="rId7"/>
          <a:stretch>
            <a:fillRect/>
          </a:stretch>
        </p:blipFill>
        <p:spPr>
          <a:xfrm>
            <a:off x="9951415" y="1801368"/>
            <a:ext cx="274320" cy="274320"/>
          </a:xfrm>
          <a:prstGeom prst="rect">
            <a:avLst/>
          </a:prstGeom>
        </p:spPr>
      </p:pic>
      <p:sp>
        <p:nvSpPr>
          <p:cNvPr id="36" name="Shape 29"/>
          <p:cNvSpPr/>
          <p:nvPr/>
        </p:nvSpPr>
        <p:spPr>
          <a:xfrm>
            <a:off x="11185855" y="1627632"/>
            <a:ext cx="310896" cy="310896"/>
          </a:xfrm>
          <a:prstGeom prst="ellipse">
            <a:avLst/>
          </a:prstGeom>
          <a:solidFill>
            <a:srgbClr val="F6AE2D"/>
          </a:solidFill>
          <a:ln w="12700">
            <a:solidFill>
              <a:srgbClr val="F6AE2D"/>
            </a:solidFill>
            <a:prstDash val="solid"/>
          </a:ln>
        </p:spPr>
        <p:txBody>
          <a:bodyPr/>
          <a:lstStyle/>
          <a:p>
            <a:endParaRPr lang="en-ZA"/>
          </a:p>
        </p:txBody>
      </p:sp>
      <p:sp>
        <p:nvSpPr>
          <p:cNvPr id="37" name="Text 30"/>
          <p:cNvSpPr txBox="1"/>
          <p:nvPr/>
        </p:nvSpPr>
        <p:spPr>
          <a:xfrm>
            <a:off x="11185855" y="1627632"/>
            <a:ext cx="310896" cy="310896"/>
          </a:xfrm>
          <a:prstGeom prst="rect">
            <a:avLst/>
          </a:prstGeom>
          <a:noFill/>
          <a:ln/>
        </p:spPr>
        <p:txBody>
          <a:bodyPr wrap="square" lIns="0" tIns="0" rIns="0" bIns="0" rtlCol="0" anchor="ctr"/>
          <a:lstStyle/>
          <a:p>
            <a:pPr marL="0" indent="0" algn="ctr">
              <a:buNone/>
            </a:pPr>
            <a:r>
              <a:rPr lang="en-US" sz="1200" b="1" dirty="0">
                <a:solidFill>
                  <a:srgbClr val="0B1D33"/>
                </a:solidFill>
                <a:latin typeface="Calibri" pitchFamily="34" charset="0"/>
                <a:ea typeface="Calibri" pitchFamily="34" charset="-122"/>
                <a:cs typeface="Calibri" pitchFamily="34" charset="-120"/>
              </a:rPr>
              <a:t>5</a:t>
            </a:r>
            <a:endParaRPr lang="en-US" sz="1200" dirty="0"/>
          </a:p>
        </p:txBody>
      </p:sp>
      <p:sp>
        <p:nvSpPr>
          <p:cNvPr id="38" name="Text 31"/>
          <p:cNvSpPr txBox="1"/>
          <p:nvPr/>
        </p:nvSpPr>
        <p:spPr>
          <a:xfrm>
            <a:off x="9814255" y="2331720"/>
            <a:ext cx="1645920" cy="914400"/>
          </a:xfrm>
          <a:prstGeom prst="rect">
            <a:avLst/>
          </a:prstGeom>
          <a:noFill/>
          <a:ln/>
        </p:spPr>
        <p:txBody>
          <a:bodyPr wrap="square" lIns="0" tIns="0" rIns="0" bIns="0" rtlCol="0" anchor="t"/>
          <a:lstStyle/>
          <a:p>
            <a:pPr marL="0" indent="0" algn="l">
              <a:spcAft>
                <a:spcPts val="300"/>
              </a:spcAft>
              <a:buNone/>
            </a:pPr>
            <a:r>
              <a:rPr lang="en-US" sz="1450" b="1" dirty="0">
                <a:solidFill>
                  <a:srgbClr val="FFFFFF"/>
                </a:solidFill>
                <a:latin typeface="Calibri" pitchFamily="34" charset="0"/>
                <a:ea typeface="Calibri" pitchFamily="34" charset="-122"/>
                <a:cs typeface="Calibri" pitchFamily="34" charset="-120"/>
              </a:rPr>
              <a:t>Stop when full</a:t>
            </a:r>
            <a:endParaRPr lang="en-US" sz="1300" dirty="0"/>
          </a:p>
          <a:p>
            <a:pPr marL="0" indent="0" algn="l">
              <a:spcAft>
                <a:spcPts val="300"/>
              </a:spcAft>
              <a:buNone/>
            </a:pPr>
            <a:r>
              <a:rPr lang="en-US" sz="1200" dirty="0">
                <a:solidFill>
                  <a:srgbClr val="93ACC6"/>
                </a:solidFill>
                <a:latin typeface="Calibri" pitchFamily="34" charset="0"/>
                <a:ea typeface="Calibri" pitchFamily="34" charset="-122"/>
                <a:cs typeface="Calibri" pitchFamily="34" charset="-120"/>
              </a:rPr>
              <a:t>Move on once capacity is reached.</a:t>
            </a:r>
            <a:endParaRPr lang="en-US" sz="1300" dirty="0"/>
          </a:p>
        </p:txBody>
      </p:sp>
      <p:sp>
        <p:nvSpPr>
          <p:cNvPr id="39" name="Shape 32"/>
          <p:cNvSpPr/>
          <p:nvPr/>
        </p:nvSpPr>
        <p:spPr>
          <a:xfrm>
            <a:off x="548640" y="3611880"/>
            <a:ext cx="6583680" cy="2429256"/>
          </a:xfrm>
          <a:prstGeom prst="roundRect">
            <a:avLst>
              <a:gd name="adj" fmla="val 3011"/>
            </a:avLst>
          </a:prstGeom>
          <a:solidFill>
            <a:srgbClr val="1E1E1E"/>
          </a:solidFill>
          <a:ln w="9525">
            <a:solidFill>
              <a:srgbClr val="333337"/>
            </a:solidFill>
            <a:prstDash val="solid"/>
          </a:ln>
          <a:effectLst>
            <a:outerShdw blurRad="127000" dist="38100" dir="5400000" algn="bl" rotWithShape="0">
              <a:srgbClr val="000000">
                <a:alpha val="40000"/>
              </a:srgbClr>
            </a:outerShdw>
          </a:effectLst>
        </p:spPr>
        <p:txBody>
          <a:bodyPr/>
          <a:lstStyle/>
          <a:p>
            <a:endParaRPr lang="en-ZA"/>
          </a:p>
        </p:txBody>
      </p:sp>
      <p:sp>
        <p:nvSpPr>
          <p:cNvPr id="40" name="Shape 33"/>
          <p:cNvSpPr/>
          <p:nvPr/>
        </p:nvSpPr>
        <p:spPr>
          <a:xfrm>
            <a:off x="548640" y="3611880"/>
            <a:ext cx="6583680" cy="329184"/>
          </a:xfrm>
          <a:prstGeom prst="roundRect">
            <a:avLst>
              <a:gd name="adj" fmla="val 22222"/>
            </a:avLst>
          </a:prstGeom>
          <a:solidFill>
            <a:srgbClr val="2D2D30"/>
          </a:solidFill>
          <a:ln w="12700">
            <a:solidFill>
              <a:srgbClr val="2D2D30"/>
            </a:solidFill>
            <a:prstDash val="solid"/>
          </a:ln>
        </p:spPr>
        <p:txBody>
          <a:bodyPr/>
          <a:lstStyle/>
          <a:p>
            <a:endParaRPr lang="en-ZA"/>
          </a:p>
        </p:txBody>
      </p:sp>
      <p:sp>
        <p:nvSpPr>
          <p:cNvPr id="41" name="Shape 34"/>
          <p:cNvSpPr/>
          <p:nvPr/>
        </p:nvSpPr>
        <p:spPr>
          <a:xfrm>
            <a:off x="548640" y="3776472"/>
            <a:ext cx="6583680" cy="164592"/>
          </a:xfrm>
          <a:prstGeom prst="rect">
            <a:avLst/>
          </a:prstGeom>
          <a:solidFill>
            <a:srgbClr val="2D2D30"/>
          </a:solidFill>
          <a:ln w="12700">
            <a:solidFill>
              <a:srgbClr val="2D2D30"/>
            </a:solidFill>
            <a:prstDash val="solid"/>
          </a:ln>
        </p:spPr>
        <p:txBody>
          <a:bodyPr/>
          <a:lstStyle/>
          <a:p>
            <a:endParaRPr lang="en-ZA"/>
          </a:p>
        </p:txBody>
      </p:sp>
      <p:sp>
        <p:nvSpPr>
          <p:cNvPr id="42" name="Text 35"/>
          <p:cNvSpPr txBox="1"/>
          <p:nvPr/>
        </p:nvSpPr>
        <p:spPr>
          <a:xfrm>
            <a:off x="713232" y="3611880"/>
            <a:ext cx="6309360" cy="329184"/>
          </a:xfrm>
          <a:prstGeom prst="rect">
            <a:avLst/>
          </a:prstGeom>
          <a:noFill/>
          <a:ln/>
        </p:spPr>
        <p:txBody>
          <a:bodyPr wrap="square" lIns="0" tIns="0" rIns="0" bIns="0" rtlCol="0" anchor="ctr"/>
          <a:lstStyle/>
          <a:p>
            <a:pPr marL="0" indent="0">
              <a:buNone/>
            </a:pPr>
            <a:r>
              <a:rPr lang="en-US" sz="1050" b="1" dirty="0">
                <a:solidFill>
                  <a:srgbClr val="E8E8E8"/>
                </a:solidFill>
                <a:latin typeface="Calibri" pitchFamily="34" charset="0"/>
                <a:ea typeface="Calibri" pitchFamily="34" charset="-122"/>
                <a:cs typeface="Calibri" pitchFamily="34" charset="-120"/>
              </a:rPr>
              <a:t>RosterService.cs</a:t>
            </a:r>
            <a:r>
              <a:rPr lang="en-US" sz="1050" dirty="0">
                <a:solidFill>
                  <a:srgbClr val="8C8C8C"/>
                </a:solidFill>
                <a:latin typeface="Calibri" pitchFamily="34" charset="0"/>
                <a:ea typeface="Calibri" pitchFamily="34" charset="-122"/>
                <a:cs typeface="Calibri" pitchFamily="34" charset="-120"/>
              </a:rPr>
              <a:t>   GenerateRosterAsync</a:t>
            </a:r>
            <a:endParaRPr lang="en-US" sz="1050" dirty="0"/>
          </a:p>
        </p:txBody>
      </p:sp>
      <p:sp>
        <p:nvSpPr>
          <p:cNvPr id="43" name="Shape 36"/>
          <p:cNvSpPr/>
          <p:nvPr/>
        </p:nvSpPr>
        <p:spPr>
          <a:xfrm>
            <a:off x="585216" y="5175504"/>
            <a:ext cx="6510528" cy="184404"/>
          </a:xfrm>
          <a:prstGeom prst="rect">
            <a:avLst/>
          </a:prstGeom>
          <a:solidFill>
            <a:srgbClr val="5ED3C6">
              <a:alpha val="16000"/>
            </a:srgbClr>
          </a:solidFill>
          <a:ln w="12700">
            <a:solidFill>
              <a:srgbClr val="5ED3C6">
                <a:alpha val="0"/>
              </a:srgbClr>
            </a:solidFill>
            <a:prstDash val="solid"/>
          </a:ln>
        </p:spPr>
        <p:txBody>
          <a:bodyPr/>
          <a:lstStyle/>
          <a:p>
            <a:endParaRPr lang="en-ZA"/>
          </a:p>
        </p:txBody>
      </p:sp>
      <p:sp>
        <p:nvSpPr>
          <p:cNvPr id="44" name="Text 37"/>
          <p:cNvSpPr txBox="1"/>
          <p:nvPr/>
        </p:nvSpPr>
        <p:spPr>
          <a:xfrm>
            <a:off x="594360" y="4069080"/>
            <a:ext cx="365760" cy="1844040"/>
          </a:xfrm>
          <a:prstGeom prst="rect">
            <a:avLst/>
          </a:prstGeom>
          <a:noFill/>
          <a:ln/>
        </p:spPr>
        <p:txBody>
          <a:bodyPr wrap="square" lIns="0" tIns="0" rIns="0" bIns="0" rtlCol="0" anchor="t"/>
          <a:lstStyle/>
          <a:p>
            <a:pPr marL="0" indent="0" algn="r">
              <a:lnSpc>
                <a:spcPts val="1452"/>
              </a:lnSpc>
              <a:buNone/>
            </a:pPr>
            <a:r>
              <a:rPr lang="en-US" sz="1100" dirty="0">
                <a:solidFill>
                  <a:srgbClr val="858585"/>
                </a:solidFill>
                <a:latin typeface="Courier New" pitchFamily="34" charset="0"/>
                <a:ea typeface="Courier New" pitchFamily="34" charset="-122"/>
                <a:cs typeface="Courier New" pitchFamily="34" charset="-120"/>
              </a:rPr>
              <a:t>224</a:t>
            </a:r>
            <a:endParaRPr lang="en-US" sz="1100" dirty="0"/>
          </a:p>
          <a:p>
            <a:pPr marL="0" indent="0" algn="r">
              <a:lnSpc>
                <a:spcPts val="1452"/>
              </a:lnSpc>
              <a:buNone/>
            </a:pPr>
            <a:r>
              <a:rPr lang="en-US" sz="1100" dirty="0">
                <a:solidFill>
                  <a:srgbClr val="858585"/>
                </a:solidFill>
                <a:latin typeface="Courier New" pitchFamily="34" charset="0"/>
                <a:ea typeface="Courier New" pitchFamily="34" charset="-122"/>
                <a:cs typeface="Courier New" pitchFamily="34" charset="-120"/>
              </a:rPr>
              <a:t>225</a:t>
            </a:r>
            <a:endParaRPr lang="en-US" sz="1100" dirty="0"/>
          </a:p>
          <a:p>
            <a:pPr marL="0" indent="0" algn="r">
              <a:lnSpc>
                <a:spcPts val="1452"/>
              </a:lnSpc>
              <a:buNone/>
            </a:pPr>
            <a:r>
              <a:rPr lang="en-US" sz="1100" dirty="0">
                <a:solidFill>
                  <a:srgbClr val="858585"/>
                </a:solidFill>
                <a:latin typeface="Courier New" pitchFamily="34" charset="0"/>
                <a:ea typeface="Courier New" pitchFamily="34" charset="-122"/>
                <a:cs typeface="Courier New" pitchFamily="34" charset="-120"/>
              </a:rPr>
              <a:t>226</a:t>
            </a:r>
            <a:endParaRPr lang="en-US" sz="1100" dirty="0"/>
          </a:p>
          <a:p>
            <a:pPr marL="0" indent="0" algn="r">
              <a:lnSpc>
                <a:spcPts val="1452"/>
              </a:lnSpc>
              <a:buNone/>
            </a:pPr>
            <a:r>
              <a:rPr lang="en-US" sz="1100" dirty="0">
                <a:solidFill>
                  <a:srgbClr val="858585"/>
                </a:solidFill>
                <a:latin typeface="Courier New" pitchFamily="34" charset="0"/>
                <a:ea typeface="Courier New" pitchFamily="34" charset="-122"/>
                <a:cs typeface="Courier New" pitchFamily="34" charset="-120"/>
              </a:rPr>
              <a:t>227</a:t>
            </a:r>
            <a:endParaRPr lang="en-US" sz="1100" dirty="0"/>
          </a:p>
          <a:p>
            <a:pPr marL="0" indent="0" algn="r">
              <a:lnSpc>
                <a:spcPts val="1452"/>
              </a:lnSpc>
              <a:buNone/>
            </a:pPr>
            <a:r>
              <a:rPr lang="en-US" sz="1100" dirty="0">
                <a:solidFill>
                  <a:srgbClr val="858585"/>
                </a:solidFill>
                <a:latin typeface="Courier New" pitchFamily="34" charset="0"/>
                <a:ea typeface="Courier New" pitchFamily="34" charset="-122"/>
                <a:cs typeface="Courier New" pitchFamily="34" charset="-120"/>
              </a:rPr>
              <a:t>228</a:t>
            </a:r>
            <a:endParaRPr lang="en-US" sz="1100" dirty="0"/>
          </a:p>
          <a:p>
            <a:pPr marL="0" indent="0" algn="r">
              <a:lnSpc>
                <a:spcPts val="1452"/>
              </a:lnSpc>
              <a:buNone/>
            </a:pPr>
            <a:r>
              <a:rPr lang="en-US" sz="1100" dirty="0">
                <a:solidFill>
                  <a:srgbClr val="858585"/>
                </a:solidFill>
                <a:latin typeface="Courier New" pitchFamily="34" charset="0"/>
                <a:ea typeface="Courier New" pitchFamily="34" charset="-122"/>
                <a:cs typeface="Courier New" pitchFamily="34" charset="-120"/>
              </a:rPr>
              <a:t>229</a:t>
            </a:r>
            <a:endParaRPr lang="en-US" sz="1100" dirty="0"/>
          </a:p>
          <a:p>
            <a:pPr marL="0" indent="0" algn="r">
              <a:lnSpc>
                <a:spcPts val="1452"/>
              </a:lnSpc>
              <a:buNone/>
            </a:pPr>
            <a:r>
              <a:rPr lang="en-US" sz="1100" dirty="0">
                <a:solidFill>
                  <a:srgbClr val="858585"/>
                </a:solidFill>
                <a:latin typeface="Courier New" pitchFamily="34" charset="0"/>
                <a:ea typeface="Courier New" pitchFamily="34" charset="-122"/>
                <a:cs typeface="Courier New" pitchFamily="34" charset="-120"/>
              </a:rPr>
              <a:t>230</a:t>
            </a:r>
            <a:endParaRPr lang="en-US" sz="1100" dirty="0"/>
          </a:p>
          <a:p>
            <a:pPr marL="0" indent="0" algn="r">
              <a:lnSpc>
                <a:spcPts val="1452"/>
              </a:lnSpc>
              <a:buNone/>
            </a:pPr>
            <a:r>
              <a:rPr lang="en-US" sz="1100" dirty="0">
                <a:solidFill>
                  <a:srgbClr val="858585"/>
                </a:solidFill>
                <a:latin typeface="Courier New" pitchFamily="34" charset="0"/>
                <a:ea typeface="Courier New" pitchFamily="34" charset="-122"/>
                <a:cs typeface="Courier New" pitchFamily="34" charset="-120"/>
              </a:rPr>
              <a:t>231</a:t>
            </a:r>
            <a:endParaRPr lang="en-US" sz="1100" dirty="0"/>
          </a:p>
          <a:p>
            <a:pPr marL="0" indent="0" algn="r">
              <a:lnSpc>
                <a:spcPts val="1452"/>
              </a:lnSpc>
              <a:buNone/>
            </a:pPr>
            <a:r>
              <a:rPr lang="en-US" sz="1100" dirty="0">
                <a:solidFill>
                  <a:srgbClr val="858585"/>
                </a:solidFill>
                <a:latin typeface="Courier New" pitchFamily="34" charset="0"/>
                <a:ea typeface="Courier New" pitchFamily="34" charset="-122"/>
                <a:cs typeface="Courier New" pitchFamily="34" charset="-120"/>
              </a:rPr>
              <a:t>232</a:t>
            </a:r>
            <a:endParaRPr lang="en-US" sz="1100" dirty="0"/>
          </a:p>
          <a:p>
            <a:pPr marL="0" indent="0" algn="r">
              <a:lnSpc>
                <a:spcPts val="1452"/>
              </a:lnSpc>
              <a:buNone/>
            </a:pPr>
            <a:r>
              <a:rPr lang="en-US" sz="1100" dirty="0">
                <a:solidFill>
                  <a:srgbClr val="858585"/>
                </a:solidFill>
                <a:latin typeface="Courier New" pitchFamily="34" charset="0"/>
                <a:ea typeface="Courier New" pitchFamily="34" charset="-122"/>
                <a:cs typeface="Courier New" pitchFamily="34" charset="-120"/>
              </a:rPr>
              <a:t>233</a:t>
            </a:r>
            <a:endParaRPr lang="en-US" sz="1100" dirty="0"/>
          </a:p>
        </p:txBody>
      </p:sp>
      <p:sp>
        <p:nvSpPr>
          <p:cNvPr id="45" name="Text 38"/>
          <p:cNvSpPr txBox="1"/>
          <p:nvPr/>
        </p:nvSpPr>
        <p:spPr>
          <a:xfrm>
            <a:off x="1188720" y="4069080"/>
            <a:ext cx="5852160" cy="1844040"/>
          </a:xfrm>
          <a:prstGeom prst="rect">
            <a:avLst/>
          </a:prstGeom>
          <a:noFill/>
          <a:ln/>
        </p:spPr>
        <p:txBody>
          <a:bodyPr wrap="none" lIns="0" tIns="0" rIns="0" bIns="0" rtlCol="0" anchor="t"/>
          <a:lstStyle/>
          <a:p>
            <a:pPr marL="0" indent="0">
              <a:lnSpc>
                <a:spcPts val="1452"/>
              </a:lnSpc>
              <a:buNone/>
            </a:pPr>
            <a:r>
              <a:rPr lang="en-US" sz="1100" dirty="0">
                <a:solidFill>
                  <a:srgbClr val="C586C0"/>
                </a:solidFill>
                <a:latin typeface="Courier New" pitchFamily="34" charset="0"/>
                <a:ea typeface="Courier New" pitchFamily="34" charset="-122"/>
                <a:cs typeface="Courier New" pitchFamily="34" charset="-120"/>
              </a:rPr>
              <a:t>foreach</a:t>
            </a:r>
            <a:r>
              <a:rPr lang="en-US" sz="1100" dirty="0">
                <a:solidFill>
                  <a:srgbClr val="D4D4D4"/>
                </a:solidFill>
                <a:latin typeface="Courier New" pitchFamily="34" charset="0"/>
                <a:ea typeface="Courier New" pitchFamily="34" charset="-122"/>
                <a:cs typeface="Courier New" pitchFamily="34" charset="-120"/>
              </a:rPr>
              <a:t> (</a:t>
            </a:r>
            <a:r>
              <a:rPr lang="en-US" sz="1100" dirty="0">
                <a:solidFill>
                  <a:srgbClr val="569CD6"/>
                </a:solidFill>
                <a:latin typeface="Courier New" pitchFamily="34" charset="0"/>
                <a:ea typeface="Courier New" pitchFamily="34" charset="-122"/>
                <a:cs typeface="Courier New" pitchFamily="34" charset="-120"/>
              </a:rPr>
              <a:t>var</a:t>
            </a:r>
            <a:r>
              <a:rPr lang="en-US" sz="1100" dirty="0">
                <a:solidFill>
                  <a:srgbClr val="D4D4D4"/>
                </a:solidFill>
                <a:latin typeface="Courier New" pitchFamily="34" charset="0"/>
                <a:ea typeface="Courier New" pitchFamily="34" charset="-122"/>
                <a:cs typeface="Courier New" pitchFamily="34" charset="-120"/>
              </a:rPr>
              <a:t> </a:t>
            </a:r>
            <a:r>
              <a:rPr lang="en-US" sz="1100" dirty="0">
                <a:solidFill>
                  <a:srgbClr val="9CDCFE"/>
                </a:solidFill>
                <a:latin typeface="Courier New" pitchFamily="34" charset="0"/>
                <a:ea typeface="Courier New" pitchFamily="34" charset="-122"/>
                <a:cs typeface="Courier New" pitchFamily="34" charset="-120"/>
              </a:rPr>
              <a:t>shift</a:t>
            </a:r>
            <a:r>
              <a:rPr lang="en-US" sz="1100" dirty="0">
                <a:solidFill>
                  <a:srgbClr val="D4D4D4"/>
                </a:solidFill>
                <a:latin typeface="Courier New" pitchFamily="34" charset="0"/>
                <a:ea typeface="Courier New" pitchFamily="34" charset="-122"/>
                <a:cs typeface="Courier New" pitchFamily="34" charset="-120"/>
              </a:rPr>
              <a:t> </a:t>
            </a:r>
            <a:r>
              <a:rPr lang="en-US" sz="1100" dirty="0">
                <a:solidFill>
                  <a:srgbClr val="569CD6"/>
                </a:solidFill>
                <a:latin typeface="Courier New" pitchFamily="34" charset="0"/>
                <a:ea typeface="Courier New" pitchFamily="34" charset="-122"/>
                <a:cs typeface="Courier New" pitchFamily="34" charset="-120"/>
              </a:rPr>
              <a:t>in</a:t>
            </a:r>
            <a:r>
              <a:rPr lang="en-US" sz="1100" dirty="0">
                <a:solidFill>
                  <a:srgbClr val="D4D4D4"/>
                </a:solidFill>
                <a:latin typeface="Courier New" pitchFamily="34" charset="0"/>
                <a:ea typeface="Courier New" pitchFamily="34" charset="-122"/>
                <a:cs typeface="Courier New" pitchFamily="34" charset="-120"/>
              </a:rPr>
              <a:t> </a:t>
            </a:r>
            <a:r>
              <a:rPr lang="en-US" sz="1100" dirty="0">
                <a:solidFill>
                  <a:srgbClr val="9CDCFE"/>
                </a:solidFill>
                <a:latin typeface="Courier New" pitchFamily="34" charset="0"/>
                <a:ea typeface="Courier New" pitchFamily="34" charset="-122"/>
                <a:cs typeface="Courier New" pitchFamily="34" charset="-120"/>
              </a:rPr>
              <a:t>shiftsForWeek</a:t>
            </a:r>
            <a:r>
              <a:rPr lang="en-US" sz="1100" dirty="0">
                <a:solidFill>
                  <a:srgbClr val="D4D4D4"/>
                </a:solidFill>
                <a:latin typeface="Courier New" pitchFamily="34" charset="0"/>
                <a:ea typeface="Courier New" pitchFamily="34" charset="-122"/>
                <a:cs typeface="Courier New" pitchFamily="34" charset="-120"/>
              </a:rPr>
              <a:t>)</a:t>
            </a:r>
            <a:endParaRPr lang="en-US" sz="1100" dirty="0"/>
          </a:p>
          <a:p>
            <a:pPr marL="0" indent="0">
              <a:lnSpc>
                <a:spcPts val="1452"/>
              </a:lnSpc>
              <a:buNone/>
            </a:pPr>
            <a:r>
              <a:rPr lang="en-US" sz="1100" dirty="0">
                <a:solidFill>
                  <a:srgbClr val="D4D4D4"/>
                </a:solidFill>
                <a:latin typeface="Courier New" pitchFamily="34" charset="0"/>
                <a:ea typeface="Courier New" pitchFamily="34" charset="-122"/>
                <a:cs typeface="Courier New" pitchFamily="34" charset="-120"/>
              </a:rPr>
              <a:t>{</a:t>
            </a:r>
            <a:endParaRPr lang="en-US" sz="1100" dirty="0"/>
          </a:p>
          <a:p>
            <a:pPr marL="0" indent="0">
              <a:lnSpc>
                <a:spcPts val="1452"/>
              </a:lnSpc>
              <a:buNone/>
            </a:pPr>
            <a:r>
              <a:rPr lang="en-US" sz="1100" dirty="0">
                <a:solidFill>
                  <a:srgbClr val="D4D4D4"/>
                </a:solidFill>
                <a:latin typeface="Courier New" pitchFamily="34" charset="0"/>
                <a:ea typeface="Courier New" pitchFamily="34" charset="-122"/>
                <a:cs typeface="Courier New" pitchFamily="34" charset="-120"/>
              </a:rPr>
              <a:t>    </a:t>
            </a:r>
            <a:r>
              <a:rPr lang="en-US" sz="1100" dirty="0">
                <a:solidFill>
                  <a:srgbClr val="569CD6"/>
                </a:solidFill>
                <a:latin typeface="Courier New" pitchFamily="34" charset="0"/>
                <a:ea typeface="Courier New" pitchFamily="34" charset="-122"/>
                <a:cs typeface="Courier New" pitchFamily="34" charset="-120"/>
              </a:rPr>
              <a:t>var</a:t>
            </a:r>
            <a:r>
              <a:rPr lang="en-US" sz="1100" dirty="0">
                <a:solidFill>
                  <a:srgbClr val="D4D4D4"/>
                </a:solidFill>
                <a:latin typeface="Courier New" pitchFamily="34" charset="0"/>
                <a:ea typeface="Courier New" pitchFamily="34" charset="-122"/>
                <a:cs typeface="Courier New" pitchFamily="34" charset="-120"/>
              </a:rPr>
              <a:t> </a:t>
            </a:r>
            <a:r>
              <a:rPr lang="en-US" sz="1100" dirty="0">
                <a:solidFill>
                  <a:srgbClr val="9CDCFE"/>
                </a:solidFill>
                <a:latin typeface="Courier New" pitchFamily="34" charset="0"/>
                <a:ea typeface="Courier New" pitchFamily="34" charset="-122"/>
                <a:cs typeface="Courier New" pitchFamily="34" charset="-120"/>
              </a:rPr>
              <a:t>assignedCount</a:t>
            </a:r>
            <a:r>
              <a:rPr lang="en-US" sz="1100" dirty="0">
                <a:solidFill>
                  <a:srgbClr val="D4D4D4"/>
                </a:solidFill>
                <a:latin typeface="Courier New" pitchFamily="34" charset="0"/>
                <a:ea typeface="Courier New" pitchFamily="34" charset="-122"/>
                <a:cs typeface="Courier New" pitchFamily="34" charset="-120"/>
              </a:rPr>
              <a:t> = </a:t>
            </a:r>
            <a:r>
              <a:rPr lang="en-US" sz="1100" dirty="0">
                <a:solidFill>
                  <a:srgbClr val="B5CEA8"/>
                </a:solidFill>
                <a:latin typeface="Courier New" pitchFamily="34" charset="0"/>
                <a:ea typeface="Courier New" pitchFamily="34" charset="-122"/>
                <a:cs typeface="Courier New" pitchFamily="34" charset="-120"/>
              </a:rPr>
              <a:t>0</a:t>
            </a:r>
            <a:r>
              <a:rPr lang="en-US" sz="1100" dirty="0">
                <a:solidFill>
                  <a:srgbClr val="D4D4D4"/>
                </a:solidFill>
                <a:latin typeface="Courier New" pitchFamily="34" charset="0"/>
                <a:ea typeface="Courier New" pitchFamily="34" charset="-122"/>
                <a:cs typeface="Courier New" pitchFamily="34" charset="-120"/>
              </a:rPr>
              <a:t>;</a:t>
            </a:r>
            <a:endParaRPr lang="en-US" sz="1100" dirty="0"/>
          </a:p>
          <a:p>
            <a:pPr marL="0" indent="0">
              <a:lnSpc>
                <a:spcPts val="1452"/>
              </a:lnSpc>
              <a:buNone/>
            </a:pPr>
            <a:r>
              <a:rPr lang="en-US" sz="1100" dirty="0">
                <a:solidFill>
                  <a:srgbClr val="D4D4D4"/>
                </a:solidFill>
                <a:latin typeface="Courier New" pitchFamily="34" charset="0"/>
                <a:ea typeface="Courier New" pitchFamily="34" charset="-122"/>
                <a:cs typeface="Courier New" pitchFamily="34" charset="-120"/>
              </a:rPr>
              <a:t> </a:t>
            </a:r>
            <a:endParaRPr lang="en-US" sz="1100" dirty="0"/>
          </a:p>
          <a:p>
            <a:pPr marL="0" indent="0">
              <a:lnSpc>
                <a:spcPts val="1452"/>
              </a:lnSpc>
              <a:buNone/>
            </a:pPr>
            <a:r>
              <a:rPr lang="en-US" sz="1100" dirty="0">
                <a:solidFill>
                  <a:srgbClr val="D4D4D4"/>
                </a:solidFill>
                <a:latin typeface="Courier New" pitchFamily="34" charset="0"/>
                <a:ea typeface="Courier New" pitchFamily="34" charset="-122"/>
                <a:cs typeface="Courier New" pitchFamily="34" charset="-120"/>
              </a:rPr>
              <a:t>    </a:t>
            </a:r>
            <a:r>
              <a:rPr lang="en-US" sz="1100" dirty="0">
                <a:solidFill>
                  <a:srgbClr val="C586C0"/>
                </a:solidFill>
                <a:latin typeface="Courier New" pitchFamily="34" charset="0"/>
                <a:ea typeface="Courier New" pitchFamily="34" charset="-122"/>
                <a:cs typeface="Courier New" pitchFamily="34" charset="-120"/>
              </a:rPr>
              <a:t>foreach</a:t>
            </a:r>
            <a:r>
              <a:rPr lang="en-US" sz="1100" dirty="0">
                <a:solidFill>
                  <a:srgbClr val="D4D4D4"/>
                </a:solidFill>
                <a:latin typeface="Courier New" pitchFamily="34" charset="0"/>
                <a:ea typeface="Courier New" pitchFamily="34" charset="-122"/>
                <a:cs typeface="Courier New" pitchFamily="34" charset="-120"/>
              </a:rPr>
              <a:t> (</a:t>
            </a:r>
            <a:r>
              <a:rPr lang="en-US" sz="1100" dirty="0">
                <a:solidFill>
                  <a:srgbClr val="569CD6"/>
                </a:solidFill>
                <a:latin typeface="Courier New" pitchFamily="34" charset="0"/>
                <a:ea typeface="Courier New" pitchFamily="34" charset="-122"/>
                <a:cs typeface="Courier New" pitchFamily="34" charset="-120"/>
              </a:rPr>
              <a:t>var</a:t>
            </a:r>
            <a:r>
              <a:rPr lang="en-US" sz="1100" dirty="0">
                <a:solidFill>
                  <a:srgbClr val="D4D4D4"/>
                </a:solidFill>
                <a:latin typeface="Courier New" pitchFamily="34" charset="0"/>
                <a:ea typeface="Courier New" pitchFamily="34" charset="-122"/>
                <a:cs typeface="Courier New" pitchFamily="34" charset="-120"/>
              </a:rPr>
              <a:t> </a:t>
            </a:r>
            <a:r>
              <a:rPr lang="en-US" sz="1100" dirty="0">
                <a:solidFill>
                  <a:srgbClr val="9CDCFE"/>
                </a:solidFill>
                <a:latin typeface="Courier New" pitchFamily="34" charset="0"/>
                <a:ea typeface="Courier New" pitchFamily="34" charset="-122"/>
                <a:cs typeface="Courier New" pitchFamily="34" charset="-120"/>
              </a:rPr>
              <a:t>volunteer</a:t>
            </a:r>
            <a:r>
              <a:rPr lang="en-US" sz="1100" dirty="0">
                <a:solidFill>
                  <a:srgbClr val="D4D4D4"/>
                </a:solidFill>
                <a:latin typeface="Courier New" pitchFamily="34" charset="0"/>
                <a:ea typeface="Courier New" pitchFamily="34" charset="-122"/>
                <a:cs typeface="Courier New" pitchFamily="34" charset="-120"/>
              </a:rPr>
              <a:t> </a:t>
            </a:r>
            <a:r>
              <a:rPr lang="en-US" sz="1100" dirty="0">
                <a:solidFill>
                  <a:srgbClr val="569CD6"/>
                </a:solidFill>
                <a:latin typeface="Courier New" pitchFamily="34" charset="0"/>
                <a:ea typeface="Courier New" pitchFamily="34" charset="-122"/>
                <a:cs typeface="Courier New" pitchFamily="34" charset="-120"/>
              </a:rPr>
              <a:t>in</a:t>
            </a:r>
            <a:r>
              <a:rPr lang="en-US" sz="1100" dirty="0">
                <a:solidFill>
                  <a:srgbClr val="D4D4D4"/>
                </a:solidFill>
                <a:latin typeface="Courier New" pitchFamily="34" charset="0"/>
                <a:ea typeface="Courier New" pitchFamily="34" charset="-122"/>
                <a:cs typeface="Courier New" pitchFamily="34" charset="-120"/>
              </a:rPr>
              <a:t> </a:t>
            </a:r>
            <a:r>
              <a:rPr lang="en-US" sz="1100" dirty="0">
                <a:solidFill>
                  <a:srgbClr val="9CDCFE"/>
                </a:solidFill>
                <a:latin typeface="Courier New" pitchFamily="34" charset="0"/>
                <a:ea typeface="Courier New" pitchFamily="34" charset="-122"/>
                <a:cs typeface="Courier New" pitchFamily="34" charset="-120"/>
              </a:rPr>
              <a:t>volunteers</a:t>
            </a:r>
            <a:r>
              <a:rPr lang="en-US" sz="1100" dirty="0">
                <a:solidFill>
                  <a:srgbClr val="D4D4D4"/>
                </a:solidFill>
                <a:latin typeface="Courier New" pitchFamily="34" charset="0"/>
                <a:ea typeface="Courier New" pitchFamily="34" charset="-122"/>
                <a:cs typeface="Courier New" pitchFamily="34" charset="-120"/>
              </a:rPr>
              <a:t>)</a:t>
            </a:r>
            <a:endParaRPr lang="en-US" sz="1100" dirty="0"/>
          </a:p>
          <a:p>
            <a:pPr marL="0" indent="0">
              <a:lnSpc>
                <a:spcPts val="1452"/>
              </a:lnSpc>
              <a:buNone/>
            </a:pPr>
            <a:r>
              <a:rPr lang="en-US" sz="1100" dirty="0">
                <a:solidFill>
                  <a:srgbClr val="D4D4D4"/>
                </a:solidFill>
                <a:latin typeface="Courier New" pitchFamily="34" charset="0"/>
                <a:ea typeface="Courier New" pitchFamily="34" charset="-122"/>
                <a:cs typeface="Courier New" pitchFamily="34" charset="-120"/>
              </a:rPr>
              <a:t>    {</a:t>
            </a:r>
            <a:endParaRPr lang="en-US" sz="1100" dirty="0"/>
          </a:p>
          <a:p>
            <a:pPr marL="0" indent="0">
              <a:lnSpc>
                <a:spcPts val="1452"/>
              </a:lnSpc>
              <a:buNone/>
            </a:pPr>
            <a:r>
              <a:rPr lang="en-US" sz="1100" dirty="0">
                <a:solidFill>
                  <a:srgbClr val="D4D4D4"/>
                </a:solidFill>
                <a:latin typeface="Courier New" pitchFamily="34" charset="0"/>
                <a:ea typeface="Courier New" pitchFamily="34" charset="-122"/>
                <a:cs typeface="Courier New" pitchFamily="34" charset="-120"/>
              </a:rPr>
              <a:t>        </a:t>
            </a:r>
            <a:r>
              <a:rPr lang="en-US" sz="1100" dirty="0">
                <a:solidFill>
                  <a:srgbClr val="C586C0"/>
                </a:solidFill>
                <a:latin typeface="Courier New" pitchFamily="34" charset="0"/>
                <a:ea typeface="Courier New" pitchFamily="34" charset="-122"/>
                <a:cs typeface="Courier New" pitchFamily="34" charset="-120"/>
              </a:rPr>
              <a:t>if</a:t>
            </a:r>
            <a:r>
              <a:rPr lang="en-US" sz="1100" dirty="0">
                <a:solidFill>
                  <a:srgbClr val="D4D4D4"/>
                </a:solidFill>
                <a:latin typeface="Courier New" pitchFamily="34" charset="0"/>
                <a:ea typeface="Courier New" pitchFamily="34" charset="-122"/>
                <a:cs typeface="Courier New" pitchFamily="34" charset="-120"/>
              </a:rPr>
              <a:t> (</a:t>
            </a:r>
            <a:r>
              <a:rPr lang="en-US" sz="1100" dirty="0">
                <a:solidFill>
                  <a:srgbClr val="9CDCFE"/>
                </a:solidFill>
                <a:latin typeface="Courier New" pitchFamily="34" charset="0"/>
                <a:ea typeface="Courier New" pitchFamily="34" charset="-122"/>
                <a:cs typeface="Courier New" pitchFamily="34" charset="-120"/>
              </a:rPr>
              <a:t>assignedCount</a:t>
            </a:r>
            <a:r>
              <a:rPr lang="en-US" sz="1100" dirty="0">
                <a:solidFill>
                  <a:srgbClr val="D4D4D4"/>
                </a:solidFill>
                <a:latin typeface="Courier New" pitchFamily="34" charset="0"/>
                <a:ea typeface="Courier New" pitchFamily="34" charset="-122"/>
                <a:cs typeface="Courier New" pitchFamily="34" charset="-120"/>
              </a:rPr>
              <a:t> &gt;= </a:t>
            </a:r>
            <a:r>
              <a:rPr lang="en-US" sz="1100" dirty="0">
                <a:solidFill>
                  <a:srgbClr val="9CDCFE"/>
                </a:solidFill>
                <a:latin typeface="Courier New" pitchFamily="34" charset="0"/>
                <a:ea typeface="Courier New" pitchFamily="34" charset="-122"/>
                <a:cs typeface="Courier New" pitchFamily="34" charset="-120"/>
              </a:rPr>
              <a:t>shift</a:t>
            </a:r>
            <a:r>
              <a:rPr lang="en-US" sz="1100" dirty="0">
                <a:solidFill>
                  <a:srgbClr val="D4D4D4"/>
                </a:solidFill>
                <a:latin typeface="Courier New" pitchFamily="34" charset="0"/>
                <a:ea typeface="Courier New" pitchFamily="34" charset="-122"/>
                <a:cs typeface="Courier New" pitchFamily="34" charset="-120"/>
              </a:rPr>
              <a:t>.</a:t>
            </a:r>
            <a:r>
              <a:rPr lang="en-US" sz="1100" dirty="0">
                <a:solidFill>
                  <a:srgbClr val="4EC9B0"/>
                </a:solidFill>
                <a:latin typeface="Courier New" pitchFamily="34" charset="0"/>
                <a:ea typeface="Courier New" pitchFamily="34" charset="-122"/>
                <a:cs typeface="Courier New" pitchFamily="34" charset="-120"/>
              </a:rPr>
              <a:t>Capacity</a:t>
            </a:r>
            <a:r>
              <a:rPr lang="en-US" sz="1100" dirty="0">
                <a:solidFill>
                  <a:srgbClr val="D4D4D4"/>
                </a:solidFill>
                <a:latin typeface="Courier New" pitchFamily="34" charset="0"/>
                <a:ea typeface="Courier New" pitchFamily="34" charset="-122"/>
                <a:cs typeface="Courier New" pitchFamily="34" charset="-120"/>
              </a:rPr>
              <a:t>)</a:t>
            </a:r>
            <a:endParaRPr lang="en-US" sz="1100" dirty="0"/>
          </a:p>
          <a:p>
            <a:pPr marL="0" indent="0">
              <a:lnSpc>
                <a:spcPts val="1452"/>
              </a:lnSpc>
              <a:buNone/>
            </a:pPr>
            <a:r>
              <a:rPr lang="en-US" sz="1100" dirty="0">
                <a:solidFill>
                  <a:srgbClr val="D4D4D4"/>
                </a:solidFill>
                <a:latin typeface="Courier New" pitchFamily="34" charset="0"/>
                <a:ea typeface="Courier New" pitchFamily="34" charset="-122"/>
                <a:cs typeface="Courier New" pitchFamily="34" charset="-120"/>
              </a:rPr>
              <a:t>        {</a:t>
            </a:r>
            <a:endParaRPr lang="en-US" sz="1100" dirty="0"/>
          </a:p>
          <a:p>
            <a:pPr marL="0" indent="0">
              <a:lnSpc>
                <a:spcPts val="1452"/>
              </a:lnSpc>
              <a:buNone/>
            </a:pPr>
            <a:r>
              <a:rPr lang="en-US" sz="1100" dirty="0">
                <a:solidFill>
                  <a:srgbClr val="D4D4D4"/>
                </a:solidFill>
                <a:latin typeface="Courier New" pitchFamily="34" charset="0"/>
                <a:ea typeface="Courier New" pitchFamily="34" charset="-122"/>
                <a:cs typeface="Courier New" pitchFamily="34" charset="-120"/>
              </a:rPr>
              <a:t>            </a:t>
            </a:r>
            <a:r>
              <a:rPr lang="en-US" sz="1100" dirty="0">
                <a:solidFill>
                  <a:srgbClr val="C586C0"/>
                </a:solidFill>
                <a:latin typeface="Courier New" pitchFamily="34" charset="0"/>
                <a:ea typeface="Courier New" pitchFamily="34" charset="-122"/>
                <a:cs typeface="Courier New" pitchFamily="34" charset="-120"/>
              </a:rPr>
              <a:t>break</a:t>
            </a:r>
            <a:r>
              <a:rPr lang="en-US" sz="1100" dirty="0">
                <a:solidFill>
                  <a:srgbClr val="D4D4D4"/>
                </a:solidFill>
                <a:latin typeface="Courier New" pitchFamily="34" charset="0"/>
                <a:ea typeface="Courier New" pitchFamily="34" charset="-122"/>
                <a:cs typeface="Courier New" pitchFamily="34" charset="-120"/>
              </a:rPr>
              <a:t>;</a:t>
            </a:r>
            <a:endParaRPr lang="en-US" sz="1100" dirty="0"/>
          </a:p>
          <a:p>
            <a:pPr marL="0" indent="0">
              <a:lnSpc>
                <a:spcPts val="1452"/>
              </a:lnSpc>
              <a:buNone/>
            </a:pPr>
            <a:r>
              <a:rPr lang="en-US" sz="1100" dirty="0">
                <a:solidFill>
                  <a:srgbClr val="D4D4D4"/>
                </a:solidFill>
                <a:latin typeface="Courier New" pitchFamily="34" charset="0"/>
                <a:ea typeface="Courier New" pitchFamily="34" charset="-122"/>
                <a:cs typeface="Courier New" pitchFamily="34" charset="-120"/>
              </a:rPr>
              <a:t>        }</a:t>
            </a:r>
            <a:endParaRPr lang="en-US" sz="1100" dirty="0"/>
          </a:p>
        </p:txBody>
      </p:sp>
      <p:sp>
        <p:nvSpPr>
          <p:cNvPr id="46" name="Shape 39"/>
          <p:cNvSpPr/>
          <p:nvPr/>
        </p:nvSpPr>
        <p:spPr>
          <a:xfrm>
            <a:off x="411480" y="5130546"/>
            <a:ext cx="274320" cy="274320"/>
          </a:xfrm>
          <a:prstGeom prst="ellipse">
            <a:avLst/>
          </a:prstGeom>
          <a:solidFill>
            <a:srgbClr val="F6AE2D"/>
          </a:solidFill>
          <a:ln w="19050">
            <a:solidFill>
              <a:srgbClr val="0B1D33"/>
            </a:solidFill>
            <a:prstDash val="solid"/>
          </a:ln>
        </p:spPr>
        <p:txBody>
          <a:bodyPr/>
          <a:lstStyle/>
          <a:p>
            <a:endParaRPr lang="en-ZA"/>
          </a:p>
        </p:txBody>
      </p:sp>
      <p:sp>
        <p:nvSpPr>
          <p:cNvPr id="47" name="Text 40"/>
          <p:cNvSpPr txBox="1"/>
          <p:nvPr/>
        </p:nvSpPr>
        <p:spPr>
          <a:xfrm>
            <a:off x="411480" y="5130546"/>
            <a:ext cx="274320" cy="274320"/>
          </a:xfrm>
          <a:prstGeom prst="rect">
            <a:avLst/>
          </a:prstGeom>
          <a:noFill/>
          <a:ln/>
        </p:spPr>
        <p:txBody>
          <a:bodyPr wrap="square" lIns="0" tIns="0" rIns="0" bIns="0" rtlCol="0" anchor="ctr"/>
          <a:lstStyle/>
          <a:p>
            <a:pPr marL="0" indent="0" algn="ctr">
              <a:buNone/>
            </a:pPr>
            <a:r>
              <a:rPr lang="en-US" sz="1100" b="1" dirty="0">
                <a:solidFill>
                  <a:srgbClr val="0B1D33"/>
                </a:solidFill>
                <a:latin typeface="Calibri" pitchFamily="34" charset="0"/>
                <a:ea typeface="Calibri" pitchFamily="34" charset="-122"/>
                <a:cs typeface="Calibri" pitchFamily="34" charset="-120"/>
              </a:rPr>
              <a:t>5</a:t>
            </a:r>
            <a:endParaRPr lang="en-US" sz="1100" dirty="0"/>
          </a:p>
        </p:txBody>
      </p:sp>
      <p:sp>
        <p:nvSpPr>
          <p:cNvPr id="48" name="Shape 41"/>
          <p:cNvSpPr/>
          <p:nvPr/>
        </p:nvSpPr>
        <p:spPr>
          <a:xfrm>
            <a:off x="7406640" y="3611880"/>
            <a:ext cx="4236415" cy="2560320"/>
          </a:xfrm>
          <a:prstGeom prst="roundRect">
            <a:avLst>
              <a:gd name="adj" fmla="val 3571"/>
            </a:avLst>
          </a:prstGeom>
          <a:solidFill>
            <a:srgbClr val="1A3D63"/>
          </a:solidFill>
          <a:ln w="15875">
            <a:solidFill>
              <a:srgbClr val="B39DDB"/>
            </a:solidFill>
            <a:prstDash val="solid"/>
          </a:ln>
        </p:spPr>
        <p:txBody>
          <a:bodyPr/>
          <a:lstStyle/>
          <a:p>
            <a:endParaRPr lang="en-ZA"/>
          </a:p>
        </p:txBody>
      </p:sp>
      <p:sp>
        <p:nvSpPr>
          <p:cNvPr id="49" name="Text 42"/>
          <p:cNvSpPr txBox="1"/>
          <p:nvPr/>
        </p:nvSpPr>
        <p:spPr>
          <a:xfrm>
            <a:off x="7635240" y="3749040"/>
            <a:ext cx="3779215" cy="1828800"/>
          </a:xfrm>
          <a:prstGeom prst="rect">
            <a:avLst/>
          </a:prstGeom>
          <a:noFill/>
          <a:ln/>
        </p:spPr>
        <p:txBody>
          <a:bodyPr wrap="square" lIns="0" tIns="0" rIns="0" bIns="0" rtlCol="0" anchor="t"/>
          <a:lstStyle/>
          <a:p>
            <a:pPr marL="0" indent="0" algn="l">
              <a:spcAft>
                <a:spcPts val="300"/>
              </a:spcAft>
              <a:buNone/>
            </a:pPr>
            <a:r>
              <a:rPr lang="en-US" sz="1600" b="1" dirty="0">
                <a:solidFill>
                  <a:srgbClr val="FFFFFF"/>
                </a:solidFill>
                <a:latin typeface="Calibri" pitchFamily="34" charset="0"/>
                <a:ea typeface="Calibri" pitchFamily="34" charset="-122"/>
                <a:cs typeface="Calibri" pitchFamily="34" charset="-120"/>
              </a:rPr>
              <a:t>One set of rules</a:t>
            </a:r>
            <a:endParaRPr lang="en-US" sz="1300" dirty="0"/>
          </a:p>
          <a:p>
            <a:pPr marL="0" indent="0" algn="l">
              <a:spcAft>
                <a:spcPts val="300"/>
              </a:spcAft>
              <a:buNone/>
            </a:pPr>
            <a:r>
              <a:rPr lang="en-US" sz="1300" dirty="0">
                <a:solidFill>
                  <a:srgbClr val="E3ECF6"/>
                </a:solidFill>
                <a:latin typeface="Calibri" pitchFamily="34" charset="0"/>
                <a:ea typeface="Calibri" pitchFamily="34" charset="-122"/>
                <a:cs typeface="Calibri" pitchFamily="34" charset="-120"/>
              </a:rPr>
              <a:t>Generation places volunteers through AssignVolunteerAsync, the same method an admin uses by hand, so automatic and manual rosters follow identical rules.</a:t>
            </a:r>
            <a:endParaRPr lang="en-US" sz="1300" dirty="0"/>
          </a:p>
        </p:txBody>
      </p:sp>
      <p:sp>
        <p:nvSpPr>
          <p:cNvPr id="50" name="Shape 43"/>
          <p:cNvSpPr/>
          <p:nvPr/>
        </p:nvSpPr>
        <p:spPr>
          <a:xfrm>
            <a:off x="7635240" y="5532120"/>
            <a:ext cx="3779215" cy="438912"/>
          </a:xfrm>
          <a:prstGeom prst="roundRect">
            <a:avLst>
              <a:gd name="adj" fmla="val 12500"/>
            </a:avLst>
          </a:prstGeom>
          <a:solidFill>
            <a:srgbClr val="1E1E1E"/>
          </a:solidFill>
          <a:ln w="9525">
            <a:solidFill>
              <a:srgbClr val="333337"/>
            </a:solidFill>
            <a:prstDash val="solid"/>
          </a:ln>
        </p:spPr>
        <p:txBody>
          <a:bodyPr/>
          <a:lstStyle/>
          <a:p>
            <a:endParaRPr lang="en-ZA"/>
          </a:p>
        </p:txBody>
      </p:sp>
      <p:sp>
        <p:nvSpPr>
          <p:cNvPr id="51" name="Text 44"/>
          <p:cNvSpPr txBox="1"/>
          <p:nvPr/>
        </p:nvSpPr>
        <p:spPr>
          <a:xfrm>
            <a:off x="7799832" y="5532120"/>
            <a:ext cx="3504895" cy="438912"/>
          </a:xfrm>
          <a:prstGeom prst="rect">
            <a:avLst/>
          </a:prstGeom>
          <a:noFill/>
          <a:ln/>
        </p:spPr>
        <p:txBody>
          <a:bodyPr wrap="square" lIns="0" tIns="0" rIns="0" bIns="0" rtlCol="0" anchor="ctr"/>
          <a:lstStyle/>
          <a:p>
            <a:pPr marL="0" indent="0">
              <a:buNone/>
            </a:pPr>
            <a:r>
              <a:rPr lang="en-US" sz="1200" dirty="0">
                <a:solidFill>
                  <a:srgbClr val="C586C0"/>
                </a:solidFill>
                <a:latin typeface="Courier New" pitchFamily="34" charset="0"/>
                <a:ea typeface="Courier New" pitchFamily="34" charset="-122"/>
                <a:cs typeface="Courier New" pitchFamily="34" charset="-120"/>
              </a:rPr>
              <a:t>await</a:t>
            </a:r>
            <a:r>
              <a:rPr lang="en-US" sz="1200" dirty="0">
                <a:solidFill>
                  <a:srgbClr val="D4D4D4"/>
                </a:solidFill>
                <a:latin typeface="Courier New" pitchFamily="34" charset="0"/>
                <a:ea typeface="Courier New" pitchFamily="34" charset="-122"/>
                <a:cs typeface="Courier New" pitchFamily="34" charset="-120"/>
              </a:rPr>
              <a:t> </a:t>
            </a:r>
            <a:r>
              <a:rPr lang="en-US" sz="1200" dirty="0">
                <a:solidFill>
                  <a:srgbClr val="DCDCAA"/>
                </a:solidFill>
                <a:latin typeface="Courier New" pitchFamily="34" charset="0"/>
                <a:ea typeface="Courier New" pitchFamily="34" charset="-122"/>
                <a:cs typeface="Courier New" pitchFamily="34" charset="-120"/>
              </a:rPr>
              <a:t>AssignVolunteerAsync</a:t>
            </a:r>
            <a:r>
              <a:rPr lang="en-US" sz="1200" dirty="0">
                <a:solidFill>
                  <a:srgbClr val="D4D4D4"/>
                </a:solidFill>
                <a:latin typeface="Courier New" pitchFamily="34" charset="0"/>
                <a:ea typeface="Courier New" pitchFamily="34" charset="-122"/>
                <a:cs typeface="Courier New" pitchFamily="34" charset="-120"/>
              </a:rPr>
              <a:t>(</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1D33"/>
        </a:solidFill>
        <a:effectLst/>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F07167"/>
          </a:solidFill>
          <a:ln w="12700">
            <a:solidFill>
              <a:srgbClr val="F07167"/>
            </a:solidFill>
            <a:prstDash val="solid"/>
          </a:ln>
        </p:spPr>
        <p:txBody>
          <a:bodyPr/>
          <a:lstStyle/>
          <a:p>
            <a:endParaRPr lang="en-ZA"/>
          </a:p>
        </p:txBody>
      </p:sp>
      <p:sp>
        <p:nvSpPr>
          <p:cNvPr id="3" name="Text 1"/>
          <p:cNvSpPr txBox="1"/>
          <p:nvPr/>
        </p:nvSpPr>
        <p:spPr>
          <a:xfrm>
            <a:off x="548640" y="384048"/>
            <a:ext cx="8229600" cy="274320"/>
          </a:xfrm>
          <a:prstGeom prst="rect">
            <a:avLst/>
          </a:prstGeom>
          <a:noFill/>
          <a:ln/>
        </p:spPr>
        <p:txBody>
          <a:bodyPr wrap="square" lIns="0" tIns="0" rIns="0" bIns="0" rtlCol="0" anchor="ctr"/>
          <a:lstStyle/>
          <a:p>
            <a:pPr marL="0" indent="0">
              <a:buNone/>
            </a:pPr>
            <a:r>
              <a:rPr lang="en-US" sz="1100" b="1" kern="0" spc="400" dirty="0">
                <a:solidFill>
                  <a:srgbClr val="F07167"/>
                </a:solidFill>
                <a:latin typeface="Calibri" pitchFamily="34" charset="0"/>
                <a:ea typeface="Calibri" pitchFamily="34" charset="-122"/>
                <a:cs typeface="Calibri" pitchFamily="34" charset="-120"/>
              </a:rPr>
              <a:t>ROSTER RULES</a:t>
            </a:r>
            <a:endParaRPr lang="en-US" sz="1100" dirty="0"/>
          </a:p>
        </p:txBody>
      </p:sp>
      <p:sp>
        <p:nvSpPr>
          <p:cNvPr id="4" name="Text 2"/>
          <p:cNvSpPr txBox="1"/>
          <p:nvPr/>
        </p:nvSpPr>
        <p:spPr>
          <a:xfrm>
            <a:off x="548640" y="658368"/>
            <a:ext cx="11094415" cy="566928"/>
          </a:xfrm>
          <a:prstGeom prst="rect">
            <a:avLst/>
          </a:prstGeom>
          <a:noFill/>
          <a:ln/>
        </p:spPr>
        <p:txBody>
          <a:bodyPr wrap="square" lIns="0" tIns="0" rIns="0" bIns="0"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Nine checks before anyone is placed on a shift</a:t>
            </a:r>
            <a:endParaRPr lang="en-US" sz="3000" dirty="0"/>
          </a:p>
        </p:txBody>
      </p:sp>
      <p:sp>
        <p:nvSpPr>
          <p:cNvPr id="5" name="Shape 3"/>
          <p:cNvSpPr/>
          <p:nvPr/>
        </p:nvSpPr>
        <p:spPr>
          <a:xfrm>
            <a:off x="548640" y="1417320"/>
            <a:ext cx="3545738" cy="1417320"/>
          </a:xfrm>
          <a:prstGeom prst="roundRect">
            <a:avLst>
              <a:gd name="adj" fmla="val 6452"/>
            </a:avLst>
          </a:prstGeom>
          <a:solidFill>
            <a:srgbClr val="13304F"/>
          </a:solidFill>
          <a:ln w="12700">
            <a:solidFill>
              <a:srgbClr val="13304F"/>
            </a:solidFill>
            <a:prstDash val="solid"/>
          </a:ln>
        </p:spPr>
        <p:txBody>
          <a:bodyPr/>
          <a:lstStyle/>
          <a:p>
            <a:endParaRPr lang="en-ZA"/>
          </a:p>
        </p:txBody>
      </p:sp>
      <p:sp>
        <p:nvSpPr>
          <p:cNvPr id="6" name="Shape 4"/>
          <p:cNvSpPr/>
          <p:nvPr/>
        </p:nvSpPr>
        <p:spPr>
          <a:xfrm>
            <a:off x="749808" y="1783080"/>
            <a:ext cx="658368" cy="658368"/>
          </a:xfrm>
          <a:prstGeom prst="ellipse">
            <a:avLst/>
          </a:prstGeom>
          <a:solidFill>
            <a:srgbClr val="0B1D33"/>
          </a:solidFill>
          <a:ln w="12700">
            <a:solidFill>
              <a:srgbClr val="0B1D33"/>
            </a:solidFill>
            <a:prstDash val="solid"/>
          </a:ln>
        </p:spPr>
        <p:txBody>
          <a:bodyPr/>
          <a:lstStyle/>
          <a:p>
            <a:endParaRPr lang="en-ZA"/>
          </a:p>
        </p:txBody>
      </p:sp>
      <p:pic>
        <p:nvPicPr>
          <p:cNvPr id="7" name="Image 0" descr="preencoded.png"/>
          <p:cNvPicPr>
            <a:picLocks noChangeAspect="1"/>
          </p:cNvPicPr>
          <p:nvPr/>
        </p:nvPicPr>
        <p:blipFill>
          <a:blip r:embed="rId3"/>
          <a:stretch>
            <a:fillRect/>
          </a:stretch>
        </p:blipFill>
        <p:spPr>
          <a:xfrm>
            <a:off x="914400" y="1947672"/>
            <a:ext cx="329184" cy="329184"/>
          </a:xfrm>
          <a:prstGeom prst="rect">
            <a:avLst/>
          </a:prstGeom>
        </p:spPr>
      </p:pic>
      <p:sp>
        <p:nvSpPr>
          <p:cNvPr id="8" name="Text 5"/>
          <p:cNvSpPr txBox="1"/>
          <p:nvPr/>
        </p:nvSpPr>
        <p:spPr>
          <a:xfrm>
            <a:off x="1600200" y="1554480"/>
            <a:ext cx="2357018" cy="1143000"/>
          </a:xfrm>
          <a:prstGeom prst="rect">
            <a:avLst/>
          </a:prstGeom>
          <a:noFill/>
          <a:ln/>
        </p:spPr>
        <p:txBody>
          <a:bodyPr wrap="square" lIns="0" tIns="0" rIns="0" bIns="0" rtlCol="0" anchor="ctr"/>
          <a:lstStyle/>
          <a:p>
            <a:pPr marL="0" indent="0" algn="l">
              <a:spcAft>
                <a:spcPts val="300"/>
              </a:spcAft>
              <a:buNone/>
            </a:pPr>
            <a:r>
              <a:rPr lang="en-US" sz="1500" b="1" dirty="0">
                <a:solidFill>
                  <a:srgbClr val="FFFFFF"/>
                </a:solidFill>
                <a:latin typeface="Calibri" pitchFamily="34" charset="0"/>
                <a:ea typeface="Calibri" pitchFamily="34" charset="-122"/>
                <a:cs typeface="Calibri" pitchFamily="34" charset="-120"/>
              </a:rPr>
              <a:t>Not already on it</a:t>
            </a:r>
            <a:endParaRPr lang="en-US" sz="1300" dirty="0"/>
          </a:p>
          <a:p>
            <a:pPr marL="0" indent="0" algn="l">
              <a:spcAft>
                <a:spcPts val="300"/>
              </a:spcAft>
              <a:buNone/>
            </a:pPr>
            <a:r>
              <a:rPr lang="en-US" sz="1250" dirty="0">
                <a:solidFill>
                  <a:srgbClr val="93ACC6"/>
                </a:solidFill>
                <a:latin typeface="Calibri" pitchFamily="34" charset="0"/>
                <a:ea typeface="Calibri" pitchFamily="34" charset="-122"/>
                <a:cs typeface="Calibri" pitchFamily="34" charset="-120"/>
              </a:rPr>
              <a:t>No double placement on one shift.</a:t>
            </a:r>
            <a:endParaRPr lang="en-US" sz="1300" dirty="0"/>
          </a:p>
        </p:txBody>
      </p:sp>
      <p:sp>
        <p:nvSpPr>
          <p:cNvPr id="9" name="Shape 6"/>
          <p:cNvSpPr/>
          <p:nvPr/>
        </p:nvSpPr>
        <p:spPr>
          <a:xfrm>
            <a:off x="4322978" y="1417320"/>
            <a:ext cx="3545738" cy="1417320"/>
          </a:xfrm>
          <a:prstGeom prst="roundRect">
            <a:avLst>
              <a:gd name="adj" fmla="val 6452"/>
            </a:avLst>
          </a:prstGeom>
          <a:solidFill>
            <a:srgbClr val="13304F"/>
          </a:solidFill>
          <a:ln w="12700">
            <a:solidFill>
              <a:srgbClr val="13304F"/>
            </a:solidFill>
            <a:prstDash val="solid"/>
          </a:ln>
        </p:spPr>
        <p:txBody>
          <a:bodyPr/>
          <a:lstStyle/>
          <a:p>
            <a:endParaRPr lang="en-ZA"/>
          </a:p>
        </p:txBody>
      </p:sp>
      <p:sp>
        <p:nvSpPr>
          <p:cNvPr id="10" name="Shape 7"/>
          <p:cNvSpPr/>
          <p:nvPr/>
        </p:nvSpPr>
        <p:spPr>
          <a:xfrm>
            <a:off x="4524146" y="1783080"/>
            <a:ext cx="658368" cy="658368"/>
          </a:xfrm>
          <a:prstGeom prst="ellipse">
            <a:avLst/>
          </a:prstGeom>
          <a:solidFill>
            <a:srgbClr val="0B1D33"/>
          </a:solidFill>
          <a:ln w="12700">
            <a:solidFill>
              <a:srgbClr val="0B1D33"/>
            </a:solidFill>
            <a:prstDash val="solid"/>
          </a:ln>
        </p:spPr>
        <p:txBody>
          <a:bodyPr/>
          <a:lstStyle/>
          <a:p>
            <a:endParaRPr lang="en-ZA"/>
          </a:p>
        </p:txBody>
      </p:sp>
      <p:pic>
        <p:nvPicPr>
          <p:cNvPr id="11" name="Image 1" descr="preencoded.png"/>
          <p:cNvPicPr>
            <a:picLocks noChangeAspect="1"/>
          </p:cNvPicPr>
          <p:nvPr/>
        </p:nvPicPr>
        <p:blipFill>
          <a:blip r:embed="rId4"/>
          <a:stretch>
            <a:fillRect/>
          </a:stretch>
        </p:blipFill>
        <p:spPr>
          <a:xfrm>
            <a:off x="4688738" y="1947672"/>
            <a:ext cx="329184" cy="329184"/>
          </a:xfrm>
          <a:prstGeom prst="rect">
            <a:avLst/>
          </a:prstGeom>
        </p:spPr>
      </p:pic>
      <p:sp>
        <p:nvSpPr>
          <p:cNvPr id="12" name="Text 8"/>
          <p:cNvSpPr txBox="1"/>
          <p:nvPr/>
        </p:nvSpPr>
        <p:spPr>
          <a:xfrm>
            <a:off x="5374538" y="1554480"/>
            <a:ext cx="2357018" cy="1143000"/>
          </a:xfrm>
          <a:prstGeom prst="rect">
            <a:avLst/>
          </a:prstGeom>
          <a:noFill/>
          <a:ln/>
        </p:spPr>
        <p:txBody>
          <a:bodyPr wrap="square" lIns="0" tIns="0" rIns="0" bIns="0" rtlCol="0" anchor="ctr"/>
          <a:lstStyle/>
          <a:p>
            <a:pPr marL="0" indent="0" algn="l">
              <a:spcAft>
                <a:spcPts val="300"/>
              </a:spcAft>
              <a:buNone/>
            </a:pPr>
            <a:r>
              <a:rPr lang="en-US" sz="1500" b="1" dirty="0">
                <a:solidFill>
                  <a:srgbClr val="FFFFFF"/>
                </a:solidFill>
                <a:latin typeface="Calibri" pitchFamily="34" charset="0"/>
                <a:ea typeface="Calibri" pitchFamily="34" charset="-122"/>
                <a:cs typeface="Calibri" pitchFamily="34" charset="-120"/>
              </a:rPr>
              <a:t>No overlapping shift</a:t>
            </a:r>
            <a:endParaRPr lang="en-US" sz="1300" dirty="0"/>
          </a:p>
          <a:p>
            <a:pPr marL="0" indent="0" algn="l">
              <a:spcAft>
                <a:spcPts val="300"/>
              </a:spcAft>
              <a:buNone/>
            </a:pPr>
            <a:r>
              <a:rPr lang="en-US" sz="1250" dirty="0">
                <a:solidFill>
                  <a:srgbClr val="93ACC6"/>
                </a:solidFill>
                <a:latin typeface="Calibri" pitchFamily="34" charset="0"/>
                <a:ea typeface="Calibri" pitchFamily="34" charset="-122"/>
                <a:cs typeface="Calibri" pitchFamily="34" charset="-120"/>
              </a:rPr>
              <a:t>Nothing else at the same time that day.</a:t>
            </a:r>
            <a:endParaRPr lang="en-US" sz="1300" dirty="0"/>
          </a:p>
        </p:txBody>
      </p:sp>
      <p:sp>
        <p:nvSpPr>
          <p:cNvPr id="13" name="Shape 9"/>
          <p:cNvSpPr/>
          <p:nvPr/>
        </p:nvSpPr>
        <p:spPr>
          <a:xfrm>
            <a:off x="8097317" y="1417320"/>
            <a:ext cx="3545738" cy="1417320"/>
          </a:xfrm>
          <a:prstGeom prst="roundRect">
            <a:avLst>
              <a:gd name="adj" fmla="val 6452"/>
            </a:avLst>
          </a:prstGeom>
          <a:solidFill>
            <a:srgbClr val="13304F"/>
          </a:solidFill>
          <a:ln w="12700">
            <a:solidFill>
              <a:srgbClr val="13304F"/>
            </a:solidFill>
            <a:prstDash val="solid"/>
          </a:ln>
        </p:spPr>
        <p:txBody>
          <a:bodyPr/>
          <a:lstStyle/>
          <a:p>
            <a:endParaRPr lang="en-ZA"/>
          </a:p>
        </p:txBody>
      </p:sp>
      <p:sp>
        <p:nvSpPr>
          <p:cNvPr id="14" name="Shape 10"/>
          <p:cNvSpPr/>
          <p:nvPr/>
        </p:nvSpPr>
        <p:spPr>
          <a:xfrm>
            <a:off x="8298485" y="1783080"/>
            <a:ext cx="658368" cy="658368"/>
          </a:xfrm>
          <a:prstGeom prst="ellipse">
            <a:avLst/>
          </a:prstGeom>
          <a:solidFill>
            <a:srgbClr val="0B1D33"/>
          </a:solidFill>
          <a:ln w="12700">
            <a:solidFill>
              <a:srgbClr val="0B1D33"/>
            </a:solidFill>
            <a:prstDash val="solid"/>
          </a:ln>
        </p:spPr>
        <p:txBody>
          <a:bodyPr/>
          <a:lstStyle/>
          <a:p>
            <a:endParaRPr lang="en-ZA"/>
          </a:p>
        </p:txBody>
      </p:sp>
      <p:pic>
        <p:nvPicPr>
          <p:cNvPr id="15" name="Image 2" descr="preencoded.png"/>
          <p:cNvPicPr>
            <a:picLocks noChangeAspect="1"/>
          </p:cNvPicPr>
          <p:nvPr/>
        </p:nvPicPr>
        <p:blipFill>
          <a:blip r:embed="rId5"/>
          <a:stretch>
            <a:fillRect/>
          </a:stretch>
        </p:blipFill>
        <p:spPr>
          <a:xfrm>
            <a:off x="8463077" y="1947672"/>
            <a:ext cx="329184" cy="329184"/>
          </a:xfrm>
          <a:prstGeom prst="rect">
            <a:avLst/>
          </a:prstGeom>
        </p:spPr>
      </p:pic>
      <p:sp>
        <p:nvSpPr>
          <p:cNvPr id="16" name="Text 11"/>
          <p:cNvSpPr txBox="1"/>
          <p:nvPr/>
        </p:nvSpPr>
        <p:spPr>
          <a:xfrm>
            <a:off x="9148877" y="1554480"/>
            <a:ext cx="2357018" cy="1143000"/>
          </a:xfrm>
          <a:prstGeom prst="rect">
            <a:avLst/>
          </a:prstGeom>
          <a:noFill/>
          <a:ln/>
        </p:spPr>
        <p:txBody>
          <a:bodyPr wrap="square" lIns="0" tIns="0" rIns="0" bIns="0" rtlCol="0" anchor="ctr"/>
          <a:lstStyle/>
          <a:p>
            <a:pPr marL="0" indent="0" algn="l">
              <a:spcAft>
                <a:spcPts val="300"/>
              </a:spcAft>
              <a:buNone/>
            </a:pPr>
            <a:r>
              <a:rPr lang="en-US" sz="1500" b="1" dirty="0">
                <a:solidFill>
                  <a:srgbClr val="FFFFFF"/>
                </a:solidFill>
                <a:latin typeface="Calibri" pitchFamily="34" charset="0"/>
                <a:ea typeface="Calibri" pitchFamily="34" charset="-122"/>
                <a:cs typeface="Calibri" pitchFamily="34" charset="-120"/>
              </a:rPr>
              <a:t>Available that day</a:t>
            </a:r>
            <a:endParaRPr lang="en-US" sz="1300" dirty="0"/>
          </a:p>
          <a:p>
            <a:pPr marL="0" indent="0" algn="l">
              <a:spcAft>
                <a:spcPts val="300"/>
              </a:spcAft>
              <a:buNone/>
            </a:pPr>
            <a:r>
              <a:rPr lang="en-US" sz="1250" dirty="0">
                <a:solidFill>
                  <a:srgbClr val="93ACC6"/>
                </a:solidFill>
                <a:latin typeface="Calibri" pitchFamily="34" charset="0"/>
                <a:ea typeface="Calibri" pitchFamily="34" charset="-122"/>
                <a:cs typeface="Calibri" pitchFamily="34" charset="-120"/>
              </a:rPr>
              <a:t>Full-day availability covers either half.</a:t>
            </a:r>
            <a:endParaRPr lang="en-US" sz="1300" dirty="0"/>
          </a:p>
        </p:txBody>
      </p:sp>
      <p:sp>
        <p:nvSpPr>
          <p:cNvPr id="17" name="Shape 12"/>
          <p:cNvSpPr/>
          <p:nvPr/>
        </p:nvSpPr>
        <p:spPr>
          <a:xfrm>
            <a:off x="548640" y="3017520"/>
            <a:ext cx="3545738" cy="1417320"/>
          </a:xfrm>
          <a:prstGeom prst="roundRect">
            <a:avLst>
              <a:gd name="adj" fmla="val 6452"/>
            </a:avLst>
          </a:prstGeom>
          <a:solidFill>
            <a:srgbClr val="13304F"/>
          </a:solidFill>
          <a:ln w="12700">
            <a:solidFill>
              <a:srgbClr val="13304F"/>
            </a:solidFill>
            <a:prstDash val="solid"/>
          </a:ln>
        </p:spPr>
        <p:txBody>
          <a:bodyPr/>
          <a:lstStyle/>
          <a:p>
            <a:endParaRPr lang="en-ZA"/>
          </a:p>
        </p:txBody>
      </p:sp>
      <p:sp>
        <p:nvSpPr>
          <p:cNvPr id="18" name="Shape 13"/>
          <p:cNvSpPr/>
          <p:nvPr/>
        </p:nvSpPr>
        <p:spPr>
          <a:xfrm>
            <a:off x="749808" y="3383280"/>
            <a:ext cx="658368" cy="658368"/>
          </a:xfrm>
          <a:prstGeom prst="ellipse">
            <a:avLst/>
          </a:prstGeom>
          <a:solidFill>
            <a:srgbClr val="0B1D33"/>
          </a:solidFill>
          <a:ln w="12700">
            <a:solidFill>
              <a:srgbClr val="0B1D33"/>
            </a:solidFill>
            <a:prstDash val="solid"/>
          </a:ln>
        </p:spPr>
        <p:txBody>
          <a:bodyPr/>
          <a:lstStyle/>
          <a:p>
            <a:endParaRPr lang="en-ZA"/>
          </a:p>
        </p:txBody>
      </p:sp>
      <p:pic>
        <p:nvPicPr>
          <p:cNvPr id="19" name="Image 3" descr="preencoded.png"/>
          <p:cNvPicPr>
            <a:picLocks noChangeAspect="1"/>
          </p:cNvPicPr>
          <p:nvPr/>
        </p:nvPicPr>
        <p:blipFill>
          <a:blip r:embed="rId6"/>
          <a:stretch>
            <a:fillRect/>
          </a:stretch>
        </p:blipFill>
        <p:spPr>
          <a:xfrm>
            <a:off x="914400" y="3547872"/>
            <a:ext cx="329184" cy="329184"/>
          </a:xfrm>
          <a:prstGeom prst="rect">
            <a:avLst/>
          </a:prstGeom>
        </p:spPr>
      </p:pic>
      <p:sp>
        <p:nvSpPr>
          <p:cNvPr id="20" name="Text 14"/>
          <p:cNvSpPr txBox="1"/>
          <p:nvPr/>
        </p:nvSpPr>
        <p:spPr>
          <a:xfrm>
            <a:off x="1600200" y="3154680"/>
            <a:ext cx="2357018" cy="1143000"/>
          </a:xfrm>
          <a:prstGeom prst="rect">
            <a:avLst/>
          </a:prstGeom>
          <a:noFill/>
          <a:ln/>
        </p:spPr>
        <p:txBody>
          <a:bodyPr wrap="square" lIns="0" tIns="0" rIns="0" bIns="0" rtlCol="0" anchor="ctr"/>
          <a:lstStyle/>
          <a:p>
            <a:pPr marL="0" indent="0" algn="l">
              <a:spcAft>
                <a:spcPts val="300"/>
              </a:spcAft>
              <a:buNone/>
            </a:pPr>
            <a:r>
              <a:rPr lang="en-US" sz="1500" b="1" dirty="0">
                <a:solidFill>
                  <a:srgbClr val="FFFFFF"/>
                </a:solidFill>
                <a:latin typeface="Calibri" pitchFamily="34" charset="0"/>
                <a:ea typeface="Calibri" pitchFamily="34" charset="-122"/>
                <a:cs typeface="Calibri" pitchFamily="34" charset="-120"/>
              </a:rPr>
              <a:t>Skills signed off</a:t>
            </a:r>
            <a:endParaRPr lang="en-US" sz="1300" dirty="0"/>
          </a:p>
          <a:p>
            <a:pPr marL="0" indent="0" algn="l">
              <a:spcAft>
                <a:spcPts val="300"/>
              </a:spcAft>
              <a:buNone/>
            </a:pPr>
            <a:r>
              <a:rPr lang="en-US" sz="1250" dirty="0">
                <a:solidFill>
                  <a:srgbClr val="93ACC6"/>
                </a:solidFill>
                <a:latin typeface="Calibri" pitchFamily="34" charset="0"/>
                <a:ea typeface="Calibri" pitchFamily="34" charset="-122"/>
                <a:cs typeface="Calibri" pitchFamily="34" charset="-120"/>
              </a:rPr>
              <a:t>Every skill the shift requires.</a:t>
            </a:r>
            <a:endParaRPr lang="en-US" sz="1300" dirty="0"/>
          </a:p>
        </p:txBody>
      </p:sp>
      <p:sp>
        <p:nvSpPr>
          <p:cNvPr id="21" name="Shape 15"/>
          <p:cNvSpPr/>
          <p:nvPr/>
        </p:nvSpPr>
        <p:spPr>
          <a:xfrm>
            <a:off x="4322978" y="3017520"/>
            <a:ext cx="3545738" cy="1417320"/>
          </a:xfrm>
          <a:prstGeom prst="roundRect">
            <a:avLst>
              <a:gd name="adj" fmla="val 6452"/>
            </a:avLst>
          </a:prstGeom>
          <a:solidFill>
            <a:srgbClr val="13304F"/>
          </a:solidFill>
          <a:ln w="12700">
            <a:solidFill>
              <a:srgbClr val="13304F"/>
            </a:solidFill>
            <a:prstDash val="solid"/>
          </a:ln>
        </p:spPr>
        <p:txBody>
          <a:bodyPr/>
          <a:lstStyle/>
          <a:p>
            <a:endParaRPr lang="en-ZA"/>
          </a:p>
        </p:txBody>
      </p:sp>
      <p:sp>
        <p:nvSpPr>
          <p:cNvPr id="22" name="Shape 16"/>
          <p:cNvSpPr/>
          <p:nvPr/>
        </p:nvSpPr>
        <p:spPr>
          <a:xfrm>
            <a:off x="4524146" y="3383280"/>
            <a:ext cx="658368" cy="658368"/>
          </a:xfrm>
          <a:prstGeom prst="ellipse">
            <a:avLst/>
          </a:prstGeom>
          <a:solidFill>
            <a:srgbClr val="0B1D33"/>
          </a:solidFill>
          <a:ln w="12700">
            <a:solidFill>
              <a:srgbClr val="0B1D33"/>
            </a:solidFill>
            <a:prstDash val="solid"/>
          </a:ln>
        </p:spPr>
        <p:txBody>
          <a:bodyPr/>
          <a:lstStyle/>
          <a:p>
            <a:endParaRPr lang="en-ZA"/>
          </a:p>
        </p:txBody>
      </p:sp>
      <p:pic>
        <p:nvPicPr>
          <p:cNvPr id="23" name="Image 4" descr="preencoded.png"/>
          <p:cNvPicPr>
            <a:picLocks noChangeAspect="1"/>
          </p:cNvPicPr>
          <p:nvPr/>
        </p:nvPicPr>
        <p:blipFill>
          <a:blip r:embed="rId7"/>
          <a:stretch>
            <a:fillRect/>
          </a:stretch>
        </p:blipFill>
        <p:spPr>
          <a:xfrm>
            <a:off x="4688738" y="3547872"/>
            <a:ext cx="329184" cy="329184"/>
          </a:xfrm>
          <a:prstGeom prst="rect">
            <a:avLst/>
          </a:prstGeom>
        </p:spPr>
      </p:pic>
      <p:sp>
        <p:nvSpPr>
          <p:cNvPr id="24" name="Text 17"/>
          <p:cNvSpPr txBox="1"/>
          <p:nvPr/>
        </p:nvSpPr>
        <p:spPr>
          <a:xfrm>
            <a:off x="5374538" y="3154680"/>
            <a:ext cx="2357018" cy="1143000"/>
          </a:xfrm>
          <a:prstGeom prst="rect">
            <a:avLst/>
          </a:prstGeom>
          <a:noFill/>
          <a:ln/>
        </p:spPr>
        <p:txBody>
          <a:bodyPr wrap="square" lIns="0" tIns="0" rIns="0" bIns="0" rtlCol="0" anchor="ctr"/>
          <a:lstStyle/>
          <a:p>
            <a:pPr marL="0" indent="0" algn="l">
              <a:spcAft>
                <a:spcPts val="300"/>
              </a:spcAft>
              <a:buNone/>
            </a:pPr>
            <a:r>
              <a:rPr lang="en-US" sz="1500" b="1" dirty="0">
                <a:solidFill>
                  <a:srgbClr val="FFFFFF"/>
                </a:solidFill>
                <a:latin typeface="Calibri" pitchFamily="34" charset="0"/>
                <a:ea typeface="Calibri" pitchFamily="34" charset="-122"/>
                <a:cs typeface="Calibri" pitchFamily="34" charset="-120"/>
              </a:rPr>
              <a:t>5 days a week</a:t>
            </a:r>
            <a:endParaRPr lang="en-US" sz="1300" dirty="0"/>
          </a:p>
          <a:p>
            <a:pPr marL="0" indent="0" algn="l">
              <a:spcAft>
                <a:spcPts val="300"/>
              </a:spcAft>
              <a:buNone/>
            </a:pPr>
            <a:r>
              <a:rPr lang="en-US" sz="1250" dirty="0">
                <a:solidFill>
                  <a:srgbClr val="93ACC6"/>
                </a:solidFill>
                <a:latin typeface="Calibri" pitchFamily="34" charset="0"/>
                <a:ea typeface="Calibri" pitchFamily="34" charset="-122"/>
                <a:cs typeface="Calibri" pitchFamily="34" charset="-120"/>
              </a:rPr>
              <a:t>At most, counting working days.</a:t>
            </a:r>
            <a:endParaRPr lang="en-US" sz="1300" dirty="0"/>
          </a:p>
        </p:txBody>
      </p:sp>
      <p:sp>
        <p:nvSpPr>
          <p:cNvPr id="25" name="Shape 18"/>
          <p:cNvSpPr/>
          <p:nvPr/>
        </p:nvSpPr>
        <p:spPr>
          <a:xfrm>
            <a:off x="8097317" y="3017520"/>
            <a:ext cx="3545738" cy="1417320"/>
          </a:xfrm>
          <a:prstGeom prst="roundRect">
            <a:avLst>
              <a:gd name="adj" fmla="val 6452"/>
            </a:avLst>
          </a:prstGeom>
          <a:solidFill>
            <a:srgbClr val="13304F"/>
          </a:solidFill>
          <a:ln w="12700">
            <a:solidFill>
              <a:srgbClr val="13304F"/>
            </a:solidFill>
            <a:prstDash val="solid"/>
          </a:ln>
        </p:spPr>
        <p:txBody>
          <a:bodyPr/>
          <a:lstStyle/>
          <a:p>
            <a:endParaRPr lang="en-ZA"/>
          </a:p>
        </p:txBody>
      </p:sp>
      <p:sp>
        <p:nvSpPr>
          <p:cNvPr id="26" name="Shape 19"/>
          <p:cNvSpPr/>
          <p:nvPr/>
        </p:nvSpPr>
        <p:spPr>
          <a:xfrm>
            <a:off x="8298485" y="3383280"/>
            <a:ext cx="658368" cy="658368"/>
          </a:xfrm>
          <a:prstGeom prst="ellipse">
            <a:avLst/>
          </a:prstGeom>
          <a:solidFill>
            <a:srgbClr val="0B1D33"/>
          </a:solidFill>
          <a:ln w="12700">
            <a:solidFill>
              <a:srgbClr val="0B1D33"/>
            </a:solidFill>
            <a:prstDash val="solid"/>
          </a:ln>
        </p:spPr>
        <p:txBody>
          <a:bodyPr/>
          <a:lstStyle/>
          <a:p>
            <a:endParaRPr lang="en-ZA"/>
          </a:p>
        </p:txBody>
      </p:sp>
      <p:pic>
        <p:nvPicPr>
          <p:cNvPr id="27" name="Image 5" descr="preencoded.png"/>
          <p:cNvPicPr>
            <a:picLocks noChangeAspect="1"/>
          </p:cNvPicPr>
          <p:nvPr/>
        </p:nvPicPr>
        <p:blipFill>
          <a:blip r:embed="rId8"/>
          <a:stretch>
            <a:fillRect/>
          </a:stretch>
        </p:blipFill>
        <p:spPr>
          <a:xfrm>
            <a:off x="8463077" y="3547872"/>
            <a:ext cx="329184" cy="329184"/>
          </a:xfrm>
          <a:prstGeom prst="rect">
            <a:avLst/>
          </a:prstGeom>
        </p:spPr>
      </p:pic>
      <p:sp>
        <p:nvSpPr>
          <p:cNvPr id="28" name="Text 20"/>
          <p:cNvSpPr txBox="1"/>
          <p:nvPr/>
        </p:nvSpPr>
        <p:spPr>
          <a:xfrm>
            <a:off x="9148877" y="3154680"/>
            <a:ext cx="2357018" cy="1143000"/>
          </a:xfrm>
          <a:prstGeom prst="rect">
            <a:avLst/>
          </a:prstGeom>
          <a:noFill/>
          <a:ln/>
        </p:spPr>
        <p:txBody>
          <a:bodyPr wrap="square" lIns="0" tIns="0" rIns="0" bIns="0" rtlCol="0" anchor="ctr"/>
          <a:lstStyle/>
          <a:p>
            <a:pPr marL="0" indent="0" algn="l">
              <a:spcAft>
                <a:spcPts val="300"/>
              </a:spcAft>
              <a:buNone/>
            </a:pPr>
            <a:r>
              <a:rPr lang="en-US" sz="1500" b="1" dirty="0">
                <a:solidFill>
                  <a:srgbClr val="FFFFFF"/>
                </a:solidFill>
                <a:latin typeface="Calibri" pitchFamily="34" charset="0"/>
                <a:ea typeface="Calibri" pitchFamily="34" charset="-122"/>
                <a:cs typeface="Calibri" pitchFamily="34" charset="-120"/>
              </a:rPr>
              <a:t>4 days in a row</a:t>
            </a:r>
            <a:endParaRPr lang="en-US" sz="1300" dirty="0"/>
          </a:p>
          <a:p>
            <a:pPr marL="0" indent="0" algn="l">
              <a:spcAft>
                <a:spcPts val="300"/>
              </a:spcAft>
              <a:buNone/>
            </a:pPr>
            <a:r>
              <a:rPr lang="en-US" sz="1250" dirty="0">
                <a:solidFill>
                  <a:srgbClr val="93ACC6"/>
                </a:solidFill>
                <a:latin typeface="Calibri" pitchFamily="34" charset="0"/>
                <a:ea typeface="Calibri" pitchFamily="34" charset="-122"/>
                <a:cs typeface="Calibri" pitchFamily="34" charset="-120"/>
              </a:rPr>
              <a:t>At most, across the days either side.</a:t>
            </a:r>
            <a:endParaRPr lang="en-US" sz="1300" dirty="0"/>
          </a:p>
        </p:txBody>
      </p:sp>
      <p:sp>
        <p:nvSpPr>
          <p:cNvPr id="29" name="Shape 21"/>
          <p:cNvSpPr/>
          <p:nvPr/>
        </p:nvSpPr>
        <p:spPr>
          <a:xfrm>
            <a:off x="548640" y="4617720"/>
            <a:ext cx="3545738" cy="1417320"/>
          </a:xfrm>
          <a:prstGeom prst="roundRect">
            <a:avLst>
              <a:gd name="adj" fmla="val 6452"/>
            </a:avLst>
          </a:prstGeom>
          <a:solidFill>
            <a:srgbClr val="13304F"/>
          </a:solidFill>
          <a:ln w="12700">
            <a:solidFill>
              <a:srgbClr val="13304F"/>
            </a:solidFill>
            <a:prstDash val="solid"/>
          </a:ln>
        </p:spPr>
        <p:txBody>
          <a:bodyPr/>
          <a:lstStyle/>
          <a:p>
            <a:endParaRPr lang="en-ZA"/>
          </a:p>
        </p:txBody>
      </p:sp>
      <p:sp>
        <p:nvSpPr>
          <p:cNvPr id="30" name="Shape 22"/>
          <p:cNvSpPr/>
          <p:nvPr/>
        </p:nvSpPr>
        <p:spPr>
          <a:xfrm>
            <a:off x="749808" y="4983480"/>
            <a:ext cx="658368" cy="658368"/>
          </a:xfrm>
          <a:prstGeom prst="ellipse">
            <a:avLst/>
          </a:prstGeom>
          <a:solidFill>
            <a:srgbClr val="0B1D33"/>
          </a:solidFill>
          <a:ln w="12700">
            <a:solidFill>
              <a:srgbClr val="0B1D33"/>
            </a:solidFill>
            <a:prstDash val="solid"/>
          </a:ln>
        </p:spPr>
        <p:txBody>
          <a:bodyPr/>
          <a:lstStyle/>
          <a:p>
            <a:endParaRPr lang="en-ZA"/>
          </a:p>
        </p:txBody>
      </p:sp>
      <p:pic>
        <p:nvPicPr>
          <p:cNvPr id="31" name="Image 6" descr="preencoded.png"/>
          <p:cNvPicPr>
            <a:picLocks noChangeAspect="1"/>
          </p:cNvPicPr>
          <p:nvPr/>
        </p:nvPicPr>
        <p:blipFill>
          <a:blip r:embed="rId4"/>
          <a:stretch>
            <a:fillRect/>
          </a:stretch>
        </p:blipFill>
        <p:spPr>
          <a:xfrm>
            <a:off x="914400" y="5148072"/>
            <a:ext cx="329184" cy="329184"/>
          </a:xfrm>
          <a:prstGeom prst="rect">
            <a:avLst/>
          </a:prstGeom>
        </p:spPr>
      </p:pic>
      <p:sp>
        <p:nvSpPr>
          <p:cNvPr id="32" name="Text 23"/>
          <p:cNvSpPr txBox="1"/>
          <p:nvPr/>
        </p:nvSpPr>
        <p:spPr>
          <a:xfrm>
            <a:off x="1600200" y="4754880"/>
            <a:ext cx="2357018" cy="1143000"/>
          </a:xfrm>
          <a:prstGeom prst="rect">
            <a:avLst/>
          </a:prstGeom>
          <a:noFill/>
          <a:ln/>
        </p:spPr>
        <p:txBody>
          <a:bodyPr wrap="square" lIns="0" tIns="0" rIns="0" bIns="0" rtlCol="0" anchor="ctr"/>
          <a:lstStyle/>
          <a:p>
            <a:pPr marL="0" indent="0" algn="l">
              <a:spcAft>
                <a:spcPts val="300"/>
              </a:spcAft>
              <a:buNone/>
            </a:pPr>
            <a:r>
              <a:rPr lang="en-US" sz="1500" b="1" dirty="0">
                <a:solidFill>
                  <a:srgbClr val="FFFFFF"/>
                </a:solidFill>
                <a:latin typeface="Calibri" pitchFamily="34" charset="0"/>
                <a:ea typeface="Calibri" pitchFamily="34" charset="-122"/>
                <a:cs typeface="Calibri" pitchFamily="34" charset="-120"/>
              </a:rPr>
              <a:t>40 hours a week</a:t>
            </a:r>
            <a:endParaRPr lang="en-US" sz="1300" dirty="0"/>
          </a:p>
          <a:p>
            <a:pPr marL="0" indent="0" algn="l">
              <a:spcAft>
                <a:spcPts val="300"/>
              </a:spcAft>
              <a:buNone/>
            </a:pPr>
            <a:r>
              <a:rPr lang="en-US" sz="1250" dirty="0">
                <a:solidFill>
                  <a:srgbClr val="93ACC6"/>
                </a:solidFill>
                <a:latin typeface="Calibri" pitchFamily="34" charset="0"/>
                <a:ea typeface="Calibri" pitchFamily="34" charset="-122"/>
                <a:cs typeface="Calibri" pitchFamily="34" charset="-120"/>
              </a:rPr>
              <a:t>At most, including the new shift.</a:t>
            </a:r>
            <a:endParaRPr lang="en-US" sz="1300" dirty="0"/>
          </a:p>
        </p:txBody>
      </p:sp>
      <p:sp>
        <p:nvSpPr>
          <p:cNvPr id="33" name="Shape 24"/>
          <p:cNvSpPr/>
          <p:nvPr/>
        </p:nvSpPr>
        <p:spPr>
          <a:xfrm>
            <a:off x="4322978" y="4617720"/>
            <a:ext cx="3545738" cy="1417320"/>
          </a:xfrm>
          <a:prstGeom prst="roundRect">
            <a:avLst>
              <a:gd name="adj" fmla="val 6452"/>
            </a:avLst>
          </a:prstGeom>
          <a:solidFill>
            <a:srgbClr val="13304F"/>
          </a:solidFill>
          <a:ln w="12700">
            <a:solidFill>
              <a:srgbClr val="13304F"/>
            </a:solidFill>
            <a:prstDash val="solid"/>
          </a:ln>
        </p:spPr>
        <p:txBody>
          <a:bodyPr/>
          <a:lstStyle/>
          <a:p>
            <a:endParaRPr lang="en-ZA"/>
          </a:p>
        </p:txBody>
      </p:sp>
      <p:sp>
        <p:nvSpPr>
          <p:cNvPr id="34" name="Shape 25"/>
          <p:cNvSpPr/>
          <p:nvPr/>
        </p:nvSpPr>
        <p:spPr>
          <a:xfrm>
            <a:off x="4524146" y="4983480"/>
            <a:ext cx="658368" cy="658368"/>
          </a:xfrm>
          <a:prstGeom prst="ellipse">
            <a:avLst/>
          </a:prstGeom>
          <a:solidFill>
            <a:srgbClr val="0B1D33"/>
          </a:solidFill>
          <a:ln w="12700">
            <a:solidFill>
              <a:srgbClr val="0B1D33"/>
            </a:solidFill>
            <a:prstDash val="solid"/>
          </a:ln>
        </p:spPr>
        <p:txBody>
          <a:bodyPr/>
          <a:lstStyle/>
          <a:p>
            <a:endParaRPr lang="en-ZA"/>
          </a:p>
        </p:txBody>
      </p:sp>
      <p:pic>
        <p:nvPicPr>
          <p:cNvPr id="35" name="Image 7" descr="preencoded.png"/>
          <p:cNvPicPr>
            <a:picLocks noChangeAspect="1"/>
          </p:cNvPicPr>
          <p:nvPr/>
        </p:nvPicPr>
        <p:blipFill>
          <a:blip r:embed="rId9"/>
          <a:stretch>
            <a:fillRect/>
          </a:stretch>
        </p:blipFill>
        <p:spPr>
          <a:xfrm>
            <a:off x="4688738" y="5148072"/>
            <a:ext cx="329184" cy="329184"/>
          </a:xfrm>
          <a:prstGeom prst="rect">
            <a:avLst/>
          </a:prstGeom>
        </p:spPr>
      </p:pic>
      <p:sp>
        <p:nvSpPr>
          <p:cNvPr id="36" name="Text 26"/>
          <p:cNvSpPr txBox="1"/>
          <p:nvPr/>
        </p:nvSpPr>
        <p:spPr>
          <a:xfrm>
            <a:off x="5374538" y="4754880"/>
            <a:ext cx="2357018" cy="1143000"/>
          </a:xfrm>
          <a:prstGeom prst="rect">
            <a:avLst/>
          </a:prstGeom>
          <a:noFill/>
          <a:ln/>
        </p:spPr>
        <p:txBody>
          <a:bodyPr wrap="square" lIns="0" tIns="0" rIns="0" bIns="0" rtlCol="0" anchor="ctr"/>
          <a:lstStyle/>
          <a:p>
            <a:pPr marL="0" indent="0" algn="l">
              <a:spcAft>
                <a:spcPts val="300"/>
              </a:spcAft>
              <a:buNone/>
            </a:pPr>
            <a:r>
              <a:rPr lang="en-US" sz="1500" b="1" dirty="0">
                <a:solidFill>
                  <a:srgbClr val="FFFFFF"/>
                </a:solidFill>
                <a:latin typeface="Calibri" pitchFamily="34" charset="0"/>
                <a:ea typeface="Calibri" pitchFamily="34" charset="-122"/>
                <a:cs typeface="Calibri" pitchFamily="34" charset="-120"/>
              </a:rPr>
              <a:t>Room on the shift</a:t>
            </a:r>
            <a:endParaRPr lang="en-US" sz="1300" dirty="0"/>
          </a:p>
          <a:p>
            <a:pPr marL="0" indent="0" algn="l">
              <a:spcAft>
                <a:spcPts val="300"/>
              </a:spcAft>
              <a:buNone/>
            </a:pPr>
            <a:r>
              <a:rPr lang="en-US" sz="1250" dirty="0">
                <a:solidFill>
                  <a:srgbClr val="93ACC6"/>
                </a:solidFill>
                <a:latin typeface="Calibri" pitchFamily="34" charset="0"/>
                <a:ea typeface="Calibri" pitchFamily="34" charset="-122"/>
                <a:cs typeface="Calibri" pitchFamily="34" charset="-120"/>
              </a:rPr>
              <a:t>Never over its capacity.</a:t>
            </a:r>
            <a:endParaRPr lang="en-US" sz="1300" dirty="0"/>
          </a:p>
        </p:txBody>
      </p:sp>
      <p:sp>
        <p:nvSpPr>
          <p:cNvPr id="37" name="Shape 27"/>
          <p:cNvSpPr/>
          <p:nvPr/>
        </p:nvSpPr>
        <p:spPr>
          <a:xfrm>
            <a:off x="8097317" y="4617720"/>
            <a:ext cx="3545738" cy="1417320"/>
          </a:xfrm>
          <a:prstGeom prst="roundRect">
            <a:avLst>
              <a:gd name="adj" fmla="val 6452"/>
            </a:avLst>
          </a:prstGeom>
          <a:solidFill>
            <a:srgbClr val="1A3D63"/>
          </a:solidFill>
          <a:ln w="15875">
            <a:solidFill>
              <a:srgbClr val="F07167"/>
            </a:solidFill>
            <a:prstDash val="solid"/>
          </a:ln>
        </p:spPr>
        <p:txBody>
          <a:bodyPr/>
          <a:lstStyle/>
          <a:p>
            <a:endParaRPr lang="en-ZA"/>
          </a:p>
        </p:txBody>
      </p:sp>
      <p:sp>
        <p:nvSpPr>
          <p:cNvPr id="38" name="Shape 28"/>
          <p:cNvSpPr/>
          <p:nvPr/>
        </p:nvSpPr>
        <p:spPr>
          <a:xfrm>
            <a:off x="8298485" y="4983480"/>
            <a:ext cx="658368" cy="658368"/>
          </a:xfrm>
          <a:prstGeom prst="ellipse">
            <a:avLst/>
          </a:prstGeom>
          <a:solidFill>
            <a:srgbClr val="0B1D33"/>
          </a:solidFill>
          <a:ln w="12700">
            <a:solidFill>
              <a:srgbClr val="0B1D33"/>
            </a:solidFill>
            <a:prstDash val="solid"/>
          </a:ln>
        </p:spPr>
        <p:txBody>
          <a:bodyPr/>
          <a:lstStyle/>
          <a:p>
            <a:endParaRPr lang="en-ZA"/>
          </a:p>
        </p:txBody>
      </p:sp>
      <p:pic>
        <p:nvPicPr>
          <p:cNvPr id="39" name="Image 8" descr="preencoded.png"/>
          <p:cNvPicPr>
            <a:picLocks noChangeAspect="1"/>
          </p:cNvPicPr>
          <p:nvPr/>
        </p:nvPicPr>
        <p:blipFill>
          <a:blip r:embed="rId10"/>
          <a:stretch>
            <a:fillRect/>
          </a:stretch>
        </p:blipFill>
        <p:spPr>
          <a:xfrm>
            <a:off x="8463077" y="5148072"/>
            <a:ext cx="329184" cy="329184"/>
          </a:xfrm>
          <a:prstGeom prst="rect">
            <a:avLst/>
          </a:prstGeom>
        </p:spPr>
      </p:pic>
      <p:sp>
        <p:nvSpPr>
          <p:cNvPr id="40" name="Text 29"/>
          <p:cNvSpPr txBox="1"/>
          <p:nvPr/>
        </p:nvSpPr>
        <p:spPr>
          <a:xfrm>
            <a:off x="9148877" y="4754880"/>
            <a:ext cx="2357018" cy="1143000"/>
          </a:xfrm>
          <a:prstGeom prst="rect">
            <a:avLst/>
          </a:prstGeom>
          <a:noFill/>
          <a:ln/>
        </p:spPr>
        <p:txBody>
          <a:bodyPr wrap="square" lIns="0" tIns="0" rIns="0" bIns="0" rtlCol="0" anchor="ctr"/>
          <a:lstStyle/>
          <a:p>
            <a:pPr marL="0" indent="0" algn="l">
              <a:spcAft>
                <a:spcPts val="300"/>
              </a:spcAft>
              <a:buNone/>
            </a:pPr>
            <a:r>
              <a:rPr lang="en-US" sz="1500" b="1" dirty="0">
                <a:solidFill>
                  <a:srgbClr val="FFFFFF"/>
                </a:solidFill>
                <a:latin typeface="Calibri" pitchFamily="34" charset="0"/>
                <a:ea typeface="Calibri" pitchFamily="34" charset="-122"/>
                <a:cs typeface="Calibri" pitchFamily="34" charset="-120"/>
              </a:rPr>
              <a:t>Quarantine</a:t>
            </a:r>
            <a:endParaRPr lang="en-US" sz="1300" dirty="0"/>
          </a:p>
          <a:p>
            <a:pPr marL="0" indent="0" algn="l">
              <a:spcAft>
                <a:spcPts val="300"/>
              </a:spcAft>
              <a:buNone/>
            </a:pPr>
            <a:r>
              <a:rPr lang="en-US" sz="1250" dirty="0">
                <a:solidFill>
                  <a:srgbClr val="93ACC6"/>
                </a:solidFill>
                <a:latin typeface="Calibri" pitchFamily="34" charset="0"/>
                <a:ea typeface="Calibri" pitchFamily="34" charset="-122"/>
                <a:cs typeface="Calibri" pitchFamily="34" charset="-120"/>
              </a:rPr>
              <a:t>1 volunteer per shift, 3 days in a row at most.</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1D33"/>
        </a:solidFill>
        <a:effectLst/>
      </p:bgPr>
    </p:bg>
    <p:spTree>
      <p:nvGrpSpPr>
        <p:cNvPr id="1" name=""/>
        <p:cNvGrpSpPr/>
        <p:nvPr/>
      </p:nvGrpSpPr>
      <p:grpSpPr>
        <a:xfrm>
          <a:off x="0" y="0"/>
          <a:ext cx="0" cy="0"/>
          <a:chOff x="0" y="0"/>
          <a:chExt cx="0" cy="0"/>
        </a:xfrm>
      </p:grpSpPr>
      <p:sp>
        <p:nvSpPr>
          <p:cNvPr id="3" name="Text 1"/>
          <p:cNvSpPr txBox="1"/>
          <p:nvPr/>
        </p:nvSpPr>
        <p:spPr>
          <a:xfrm>
            <a:off x="548640" y="384048"/>
            <a:ext cx="8229600" cy="274320"/>
          </a:xfrm>
          <a:prstGeom prst="rect">
            <a:avLst/>
          </a:prstGeom>
          <a:noFill/>
          <a:ln/>
        </p:spPr>
        <p:txBody>
          <a:bodyPr wrap="square" lIns="0" tIns="0" rIns="0" bIns="0" rtlCol="0" anchor="ctr"/>
          <a:lstStyle/>
          <a:p>
            <a:pPr marL="0" indent="0">
              <a:buNone/>
            </a:pPr>
            <a:r>
              <a:rPr lang="en-US" sz="1100" b="1" kern="0" spc="400" dirty="0">
                <a:solidFill>
                  <a:srgbClr val="7BD389"/>
                </a:solidFill>
                <a:latin typeface="Calibri" pitchFamily="34" charset="0"/>
                <a:ea typeface="Calibri" pitchFamily="34" charset="-122"/>
                <a:cs typeface="Calibri" pitchFamily="34" charset="-120"/>
              </a:rPr>
              <a:t>ROSTER RULES</a:t>
            </a:r>
            <a:endParaRPr lang="en-US" sz="1100" dirty="0">
              <a:solidFill>
                <a:srgbClr val="7BD389"/>
              </a:solidFill>
            </a:endParaRPr>
          </a:p>
        </p:txBody>
      </p:sp>
      <p:sp>
        <p:nvSpPr>
          <p:cNvPr id="4" name="Text 2"/>
          <p:cNvSpPr txBox="1"/>
          <p:nvPr/>
        </p:nvSpPr>
        <p:spPr>
          <a:xfrm>
            <a:off x="548640" y="658368"/>
            <a:ext cx="11094415" cy="566928"/>
          </a:xfrm>
          <a:prstGeom prst="rect">
            <a:avLst/>
          </a:prstGeom>
          <a:noFill/>
          <a:ln/>
        </p:spPr>
        <p:txBody>
          <a:bodyPr wrap="square" lIns="0" tIns="0" rIns="0" bIns="0"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Only volunteers that meet all business are placed</a:t>
            </a:r>
            <a:endParaRPr lang="en-US" sz="3000" dirty="0"/>
          </a:p>
        </p:txBody>
      </p:sp>
      <p:sp>
        <p:nvSpPr>
          <p:cNvPr id="7" name="Text 5"/>
          <p:cNvSpPr txBox="1"/>
          <p:nvPr/>
        </p:nvSpPr>
        <p:spPr>
          <a:xfrm>
            <a:off x="548640" y="1371600"/>
            <a:ext cx="2377440" cy="365760"/>
          </a:xfrm>
          <a:prstGeom prst="rect">
            <a:avLst/>
          </a:prstGeom>
          <a:noFill/>
          <a:ln/>
        </p:spPr>
        <p:txBody>
          <a:bodyPr wrap="square" lIns="0" tIns="0" rIns="0" bIns="0" rtlCol="0" anchor="t"/>
          <a:lstStyle/>
          <a:p>
            <a:pPr marL="0" indent="0" algn="l">
              <a:spcAft>
                <a:spcPts val="300"/>
              </a:spcAft>
              <a:buNone/>
            </a:pPr>
            <a:r>
              <a:rPr lang="en-US" sz="1300" b="1" dirty="0">
                <a:solidFill>
                  <a:srgbClr val="5AA9E6"/>
                </a:solidFill>
                <a:latin typeface="Calibri" pitchFamily="34" charset="0"/>
                <a:ea typeface="Calibri" pitchFamily="34" charset="-122"/>
                <a:cs typeface="Calibri" pitchFamily="34" charset="-120"/>
              </a:rPr>
              <a:t>Required by the volunteer assignment. </a:t>
            </a:r>
            <a:endParaRPr lang="en-US" sz="1300" dirty="0"/>
          </a:p>
        </p:txBody>
      </p:sp>
      <p:sp>
        <p:nvSpPr>
          <p:cNvPr id="14" name="Shape 12"/>
          <p:cNvSpPr/>
          <p:nvPr/>
        </p:nvSpPr>
        <p:spPr>
          <a:xfrm>
            <a:off x="5989320" y="1417320"/>
            <a:ext cx="5653735" cy="5056632"/>
          </a:xfrm>
          <a:prstGeom prst="roundRect">
            <a:avLst>
              <a:gd name="adj" fmla="val 2817"/>
            </a:avLst>
          </a:prstGeom>
          <a:solidFill>
            <a:srgbClr val="1E1E1E"/>
          </a:solidFill>
          <a:ln w="9525">
            <a:solidFill>
              <a:srgbClr val="333337"/>
            </a:solidFill>
            <a:prstDash val="solid"/>
          </a:ln>
          <a:effectLst>
            <a:outerShdw blurRad="127000" dist="38100" dir="5400000" algn="bl" rotWithShape="0">
              <a:srgbClr val="000000">
                <a:alpha val="40000"/>
              </a:srgbClr>
            </a:outerShdw>
          </a:effectLst>
        </p:spPr>
        <p:txBody>
          <a:bodyPr/>
          <a:lstStyle/>
          <a:p>
            <a:endParaRPr lang="en-ZA"/>
          </a:p>
        </p:txBody>
      </p:sp>
      <p:sp>
        <p:nvSpPr>
          <p:cNvPr id="15" name="Shape 13"/>
          <p:cNvSpPr/>
          <p:nvPr/>
        </p:nvSpPr>
        <p:spPr>
          <a:xfrm>
            <a:off x="5989320" y="1417320"/>
            <a:ext cx="5653735" cy="329184"/>
          </a:xfrm>
          <a:prstGeom prst="roundRect">
            <a:avLst>
              <a:gd name="adj" fmla="val 22222"/>
            </a:avLst>
          </a:prstGeom>
          <a:solidFill>
            <a:srgbClr val="2D2D30"/>
          </a:solidFill>
          <a:ln w="12700">
            <a:solidFill>
              <a:srgbClr val="2D2D30"/>
            </a:solidFill>
            <a:prstDash val="solid"/>
          </a:ln>
        </p:spPr>
        <p:txBody>
          <a:bodyPr/>
          <a:lstStyle/>
          <a:p>
            <a:endParaRPr lang="en-ZA"/>
          </a:p>
        </p:txBody>
      </p:sp>
      <p:sp>
        <p:nvSpPr>
          <p:cNvPr id="16" name="Shape 14"/>
          <p:cNvSpPr/>
          <p:nvPr/>
        </p:nvSpPr>
        <p:spPr>
          <a:xfrm>
            <a:off x="5989320" y="1581912"/>
            <a:ext cx="5653735" cy="164592"/>
          </a:xfrm>
          <a:prstGeom prst="rect">
            <a:avLst/>
          </a:prstGeom>
          <a:solidFill>
            <a:srgbClr val="2D2D30"/>
          </a:solidFill>
          <a:ln w="12700">
            <a:solidFill>
              <a:srgbClr val="2D2D30"/>
            </a:solidFill>
            <a:prstDash val="solid"/>
          </a:ln>
        </p:spPr>
        <p:txBody>
          <a:bodyPr/>
          <a:lstStyle/>
          <a:p>
            <a:endParaRPr lang="en-ZA"/>
          </a:p>
        </p:txBody>
      </p:sp>
      <p:sp>
        <p:nvSpPr>
          <p:cNvPr id="17" name="Text 15"/>
          <p:cNvSpPr txBox="1"/>
          <p:nvPr/>
        </p:nvSpPr>
        <p:spPr>
          <a:xfrm>
            <a:off x="6153912" y="1417320"/>
            <a:ext cx="5379415" cy="329184"/>
          </a:xfrm>
          <a:prstGeom prst="rect">
            <a:avLst/>
          </a:prstGeom>
          <a:noFill/>
          <a:ln/>
        </p:spPr>
        <p:txBody>
          <a:bodyPr wrap="square" lIns="0" tIns="0" rIns="0" bIns="0" rtlCol="0" anchor="ctr"/>
          <a:lstStyle/>
          <a:p>
            <a:pPr marL="0" indent="0">
              <a:buNone/>
            </a:pPr>
            <a:r>
              <a:rPr lang="en-US" sz="1050" b="1" dirty="0" err="1">
                <a:solidFill>
                  <a:srgbClr val="E8E8E8"/>
                </a:solidFill>
                <a:latin typeface="Calibri" pitchFamily="34" charset="0"/>
                <a:ea typeface="Calibri" pitchFamily="34" charset="-122"/>
                <a:cs typeface="Calibri" pitchFamily="34" charset="-120"/>
              </a:rPr>
              <a:t>RosterService.cs</a:t>
            </a:r>
            <a:r>
              <a:rPr lang="en-US" sz="1050" dirty="0">
                <a:solidFill>
                  <a:srgbClr val="8C8C8C"/>
                </a:solidFill>
                <a:latin typeface="Calibri" pitchFamily="34" charset="0"/>
                <a:ea typeface="Calibri" pitchFamily="34" charset="-122"/>
                <a:cs typeface="Calibri" pitchFamily="34" charset="-120"/>
              </a:rPr>
              <a:t>   </a:t>
            </a:r>
            <a:r>
              <a:rPr lang="en-US" sz="1050" dirty="0" err="1">
                <a:solidFill>
                  <a:srgbClr val="8C8C8C"/>
                </a:solidFill>
                <a:latin typeface="Calibri" pitchFamily="34" charset="0"/>
                <a:ea typeface="Calibri" pitchFamily="34" charset="-122"/>
                <a:cs typeface="Calibri" pitchFamily="34" charset="-120"/>
              </a:rPr>
              <a:t>GenerateRosterAsync</a:t>
            </a:r>
            <a:endParaRPr lang="en-US" sz="1050" dirty="0"/>
          </a:p>
        </p:txBody>
      </p:sp>
      <p:pic>
        <p:nvPicPr>
          <p:cNvPr id="23" name="Picture 22">
            <a:extLst>
              <a:ext uri="{FF2B5EF4-FFF2-40B4-BE49-F238E27FC236}">
                <a16:creationId xmlns:a16="http://schemas.microsoft.com/office/drawing/2014/main" id="{BF9FF227-4912-8C19-945E-604EF079081F}"/>
              </a:ext>
            </a:extLst>
          </p:cNvPr>
          <p:cNvPicPr>
            <a:picLocks noChangeAspect="1"/>
          </p:cNvPicPr>
          <p:nvPr/>
        </p:nvPicPr>
        <p:blipFill>
          <a:blip r:embed="rId3"/>
          <a:stretch>
            <a:fillRect/>
          </a:stretch>
        </p:blipFill>
        <p:spPr>
          <a:xfrm>
            <a:off x="5989320" y="1746504"/>
            <a:ext cx="5264217" cy="4742685"/>
          </a:xfrm>
          <a:prstGeom prst="rect">
            <a:avLst/>
          </a:prstGeom>
        </p:spPr>
      </p:pic>
      <p:sp>
        <p:nvSpPr>
          <p:cNvPr id="25" name="Shape 17">
            <a:extLst>
              <a:ext uri="{FF2B5EF4-FFF2-40B4-BE49-F238E27FC236}">
                <a16:creationId xmlns:a16="http://schemas.microsoft.com/office/drawing/2014/main" id="{AE0BB732-6F42-AC27-2473-6B2B5CE5FEA2}"/>
              </a:ext>
            </a:extLst>
          </p:cNvPr>
          <p:cNvSpPr/>
          <p:nvPr/>
        </p:nvSpPr>
        <p:spPr>
          <a:xfrm>
            <a:off x="6025895" y="3863340"/>
            <a:ext cx="5580583" cy="134112"/>
          </a:xfrm>
          <a:prstGeom prst="rect">
            <a:avLst/>
          </a:prstGeom>
          <a:solidFill>
            <a:srgbClr val="5ED3C6">
              <a:alpha val="16000"/>
            </a:srgbClr>
          </a:solidFill>
          <a:ln w="12700">
            <a:solidFill>
              <a:srgbClr val="5ED3C6">
                <a:alpha val="0"/>
              </a:srgbClr>
            </a:solidFill>
            <a:prstDash val="solid"/>
          </a:ln>
        </p:spPr>
        <p:txBody>
          <a:bodyPr/>
          <a:lstStyle/>
          <a:p>
            <a:endParaRPr lang="en-ZA"/>
          </a:p>
        </p:txBody>
      </p:sp>
      <p:sp>
        <p:nvSpPr>
          <p:cNvPr id="27" name="Shape 41">
            <a:extLst>
              <a:ext uri="{FF2B5EF4-FFF2-40B4-BE49-F238E27FC236}">
                <a16:creationId xmlns:a16="http://schemas.microsoft.com/office/drawing/2014/main" id="{DA23DEA2-31E4-18D7-3060-7D855FF29813}"/>
              </a:ext>
            </a:extLst>
          </p:cNvPr>
          <p:cNvSpPr/>
          <p:nvPr/>
        </p:nvSpPr>
        <p:spPr>
          <a:xfrm>
            <a:off x="807872" y="1961388"/>
            <a:ext cx="4236415" cy="2560320"/>
          </a:xfrm>
          <a:prstGeom prst="roundRect">
            <a:avLst>
              <a:gd name="adj" fmla="val 3571"/>
            </a:avLst>
          </a:prstGeom>
          <a:solidFill>
            <a:srgbClr val="1A3D63"/>
          </a:solidFill>
          <a:ln w="15875">
            <a:solidFill>
              <a:srgbClr val="7BD389"/>
            </a:solidFill>
            <a:prstDash val="solid"/>
          </a:ln>
        </p:spPr>
        <p:txBody>
          <a:bodyPr/>
          <a:lstStyle/>
          <a:p>
            <a:endParaRPr lang="en-ZA"/>
          </a:p>
        </p:txBody>
      </p:sp>
      <p:sp>
        <p:nvSpPr>
          <p:cNvPr id="29" name="Text 42">
            <a:extLst>
              <a:ext uri="{FF2B5EF4-FFF2-40B4-BE49-F238E27FC236}">
                <a16:creationId xmlns:a16="http://schemas.microsoft.com/office/drawing/2014/main" id="{8431B6B0-D62B-E3BA-EC1F-F941C6606E4B}"/>
              </a:ext>
            </a:extLst>
          </p:cNvPr>
          <p:cNvSpPr txBox="1"/>
          <p:nvPr/>
        </p:nvSpPr>
        <p:spPr>
          <a:xfrm>
            <a:off x="1036472" y="2098548"/>
            <a:ext cx="3779215" cy="1828800"/>
          </a:xfrm>
          <a:prstGeom prst="rect">
            <a:avLst/>
          </a:prstGeom>
          <a:noFill/>
          <a:ln/>
        </p:spPr>
        <p:txBody>
          <a:bodyPr wrap="square" lIns="0" tIns="0" rIns="0" bIns="0" rtlCol="0" anchor="t"/>
          <a:lstStyle/>
          <a:p>
            <a:pPr marL="0" indent="0" algn="l">
              <a:spcAft>
                <a:spcPts val="300"/>
              </a:spcAft>
              <a:buNone/>
            </a:pPr>
            <a:r>
              <a:rPr lang="en-US" sz="1600" b="1" dirty="0">
                <a:solidFill>
                  <a:srgbClr val="FFFFFF"/>
                </a:solidFill>
                <a:latin typeface="Calibri" pitchFamily="34" charset="0"/>
                <a:ea typeface="Calibri" pitchFamily="34" charset="-122"/>
                <a:cs typeface="Calibri" pitchFamily="34" charset="-120"/>
              </a:rPr>
              <a:t>Roster Generation meets business rules</a:t>
            </a:r>
          </a:p>
          <a:p>
            <a:pPr marL="0" indent="0" algn="l">
              <a:spcAft>
                <a:spcPts val="300"/>
              </a:spcAft>
              <a:buNone/>
            </a:pPr>
            <a:r>
              <a:rPr lang="en-US" sz="1300" dirty="0">
                <a:solidFill>
                  <a:srgbClr val="E3ECF6"/>
                </a:solidFill>
                <a:latin typeface="Calibri" pitchFamily="34" charset="0"/>
                <a:ea typeface="Calibri" pitchFamily="34" charset="-122"/>
                <a:cs typeface="Calibri" pitchFamily="34" charset="-120"/>
              </a:rPr>
              <a:t>When a roster is being generated it calls the </a:t>
            </a:r>
            <a:r>
              <a:rPr lang="en-US" sz="1300" dirty="0" err="1">
                <a:solidFill>
                  <a:srgbClr val="E3ECF6"/>
                </a:solidFill>
                <a:latin typeface="Calibri" pitchFamily="34" charset="0"/>
                <a:ea typeface="Calibri" pitchFamily="34" charset="-122"/>
                <a:cs typeface="Calibri" pitchFamily="34" charset="-120"/>
              </a:rPr>
              <a:t>AssignVolunteerAsync</a:t>
            </a:r>
            <a:r>
              <a:rPr lang="en-US" sz="1300" dirty="0">
                <a:solidFill>
                  <a:srgbClr val="E3ECF6"/>
                </a:solidFill>
                <a:latin typeface="Calibri" pitchFamily="34" charset="0"/>
                <a:ea typeface="Calibri" pitchFamily="34" charset="-122"/>
                <a:cs typeface="Calibri" pitchFamily="34" charset="-120"/>
              </a:rPr>
              <a:t> method which runs all the checks to determine whether a volunteer can be placed in that shift slot. A volunteer who does not meet all the criteria will then be skipped over and the checks will run for the next volunteer until the shift capacity is filled with eligible volunteers.</a:t>
            </a:r>
            <a:endParaRPr lang="en-US" sz="1300" dirty="0"/>
          </a:p>
        </p:txBody>
      </p:sp>
      <p:sp>
        <p:nvSpPr>
          <p:cNvPr id="35" name="Shape 0">
            <a:extLst>
              <a:ext uri="{FF2B5EF4-FFF2-40B4-BE49-F238E27FC236}">
                <a16:creationId xmlns:a16="http://schemas.microsoft.com/office/drawing/2014/main" id="{F9CE109F-4683-292A-F681-2A7F8C1DBA4D}"/>
              </a:ext>
            </a:extLst>
          </p:cNvPr>
          <p:cNvSpPr/>
          <p:nvPr/>
        </p:nvSpPr>
        <p:spPr>
          <a:xfrm>
            <a:off x="0" y="0"/>
            <a:ext cx="109728" cy="6858000"/>
          </a:xfrm>
          <a:prstGeom prst="rect">
            <a:avLst/>
          </a:prstGeom>
          <a:solidFill>
            <a:srgbClr val="7BD389"/>
          </a:solidFill>
          <a:ln w="12700">
            <a:solidFill>
              <a:srgbClr val="7BD389"/>
            </a:solidFill>
            <a:prstDash val="solid"/>
          </a:ln>
        </p:spPr>
        <p:txBody>
          <a:bodyPr/>
          <a:lstStyle/>
          <a:p>
            <a:endParaRPr lang="en-ZA"/>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B1D33"/>
        </a:solidFill>
        <a:effectLst/>
      </p:bgPr>
    </p:bg>
    <p:spTree>
      <p:nvGrpSpPr>
        <p:cNvPr id="1" name="">
          <a:extLst>
            <a:ext uri="{FF2B5EF4-FFF2-40B4-BE49-F238E27FC236}">
              <a16:creationId xmlns:a16="http://schemas.microsoft.com/office/drawing/2014/main" id="{DE4A439A-26B7-B73B-D07C-BB39030B863E}"/>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7DE7BF4D-9BC2-F7B3-A21F-026C9A8A52DA}"/>
              </a:ext>
            </a:extLst>
          </p:cNvPr>
          <p:cNvSpPr/>
          <p:nvPr/>
        </p:nvSpPr>
        <p:spPr>
          <a:xfrm>
            <a:off x="0" y="0"/>
            <a:ext cx="109728" cy="6858000"/>
          </a:xfrm>
          <a:prstGeom prst="rect">
            <a:avLst/>
          </a:prstGeom>
          <a:solidFill>
            <a:srgbClr val="5AA9E6"/>
          </a:solidFill>
          <a:ln w="12700">
            <a:solidFill>
              <a:srgbClr val="5AA9E6"/>
            </a:solidFill>
            <a:prstDash val="solid"/>
          </a:ln>
        </p:spPr>
        <p:txBody>
          <a:bodyPr/>
          <a:lstStyle/>
          <a:p>
            <a:endParaRPr lang="en-ZA"/>
          </a:p>
        </p:txBody>
      </p:sp>
      <p:sp>
        <p:nvSpPr>
          <p:cNvPr id="3" name="Text 1">
            <a:extLst>
              <a:ext uri="{FF2B5EF4-FFF2-40B4-BE49-F238E27FC236}">
                <a16:creationId xmlns:a16="http://schemas.microsoft.com/office/drawing/2014/main" id="{E02B1B0F-A279-1D5A-9F85-2F3DA7EE20B4}"/>
              </a:ext>
            </a:extLst>
          </p:cNvPr>
          <p:cNvSpPr txBox="1"/>
          <p:nvPr/>
        </p:nvSpPr>
        <p:spPr>
          <a:xfrm>
            <a:off x="548640" y="384048"/>
            <a:ext cx="8229600" cy="274320"/>
          </a:xfrm>
          <a:prstGeom prst="rect">
            <a:avLst/>
          </a:prstGeom>
          <a:noFill/>
          <a:ln/>
        </p:spPr>
        <p:txBody>
          <a:bodyPr wrap="square" lIns="0" tIns="0" rIns="0" bIns="0" rtlCol="0" anchor="ctr"/>
          <a:lstStyle/>
          <a:p>
            <a:pPr marL="0" indent="0">
              <a:buNone/>
            </a:pPr>
            <a:r>
              <a:rPr lang="en-US" sz="1100" b="1" kern="0" spc="400" dirty="0">
                <a:solidFill>
                  <a:srgbClr val="5AA9E6"/>
                </a:solidFill>
                <a:latin typeface="Calibri" pitchFamily="34" charset="0"/>
                <a:ea typeface="Calibri" pitchFamily="34" charset="-122"/>
                <a:cs typeface="Calibri" pitchFamily="34" charset="-120"/>
              </a:rPr>
              <a:t>ROSTER RULES</a:t>
            </a:r>
            <a:endParaRPr lang="en-US" sz="1100" dirty="0"/>
          </a:p>
        </p:txBody>
      </p:sp>
      <p:sp>
        <p:nvSpPr>
          <p:cNvPr id="4" name="Text 2">
            <a:extLst>
              <a:ext uri="{FF2B5EF4-FFF2-40B4-BE49-F238E27FC236}">
                <a16:creationId xmlns:a16="http://schemas.microsoft.com/office/drawing/2014/main" id="{CBEA40D6-3E26-832B-FF03-E898D85A4BD7}"/>
              </a:ext>
            </a:extLst>
          </p:cNvPr>
          <p:cNvSpPr txBox="1"/>
          <p:nvPr/>
        </p:nvSpPr>
        <p:spPr>
          <a:xfrm>
            <a:off x="548640" y="658368"/>
            <a:ext cx="11094415" cy="566928"/>
          </a:xfrm>
          <a:prstGeom prst="rect">
            <a:avLst/>
          </a:prstGeom>
          <a:noFill/>
          <a:ln/>
        </p:spPr>
        <p:txBody>
          <a:bodyPr wrap="square" lIns="0" tIns="0" rIns="0" bIns="0"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Only trained volunteers are placed</a:t>
            </a:r>
            <a:endParaRPr lang="en-US" sz="3000" dirty="0"/>
          </a:p>
        </p:txBody>
      </p:sp>
      <p:sp>
        <p:nvSpPr>
          <p:cNvPr id="5" name="Shape 3">
            <a:extLst>
              <a:ext uri="{FF2B5EF4-FFF2-40B4-BE49-F238E27FC236}">
                <a16:creationId xmlns:a16="http://schemas.microsoft.com/office/drawing/2014/main" id="{2E68824D-EAF5-9EAA-271E-BC769D16F445}"/>
              </a:ext>
            </a:extLst>
          </p:cNvPr>
          <p:cNvSpPr/>
          <p:nvPr/>
        </p:nvSpPr>
        <p:spPr>
          <a:xfrm>
            <a:off x="640080" y="1828800"/>
            <a:ext cx="3108960" cy="3108960"/>
          </a:xfrm>
          <a:prstGeom prst="ellipse">
            <a:avLst/>
          </a:prstGeom>
          <a:solidFill>
            <a:srgbClr val="5AA9E6">
              <a:alpha val="30000"/>
            </a:srgbClr>
          </a:solidFill>
          <a:ln w="25400">
            <a:solidFill>
              <a:srgbClr val="5AA9E6"/>
            </a:solidFill>
            <a:prstDash val="solid"/>
          </a:ln>
        </p:spPr>
        <p:txBody>
          <a:bodyPr/>
          <a:lstStyle/>
          <a:p>
            <a:endParaRPr lang="en-ZA"/>
          </a:p>
        </p:txBody>
      </p:sp>
      <p:sp>
        <p:nvSpPr>
          <p:cNvPr id="6" name="Shape 4">
            <a:extLst>
              <a:ext uri="{FF2B5EF4-FFF2-40B4-BE49-F238E27FC236}">
                <a16:creationId xmlns:a16="http://schemas.microsoft.com/office/drawing/2014/main" id="{5D367D1E-37EA-F57B-10F7-CE32A7C08A08}"/>
              </a:ext>
            </a:extLst>
          </p:cNvPr>
          <p:cNvSpPr/>
          <p:nvPr/>
        </p:nvSpPr>
        <p:spPr>
          <a:xfrm>
            <a:off x="2468880" y="1828800"/>
            <a:ext cx="3108960" cy="3108960"/>
          </a:xfrm>
          <a:prstGeom prst="ellipse">
            <a:avLst/>
          </a:prstGeom>
          <a:solidFill>
            <a:srgbClr val="7BD389">
              <a:alpha val="30000"/>
            </a:srgbClr>
          </a:solidFill>
          <a:ln w="25400">
            <a:solidFill>
              <a:srgbClr val="7BD389"/>
            </a:solidFill>
            <a:prstDash val="solid"/>
          </a:ln>
        </p:spPr>
        <p:txBody>
          <a:bodyPr/>
          <a:lstStyle/>
          <a:p>
            <a:endParaRPr lang="en-ZA"/>
          </a:p>
        </p:txBody>
      </p:sp>
      <p:sp>
        <p:nvSpPr>
          <p:cNvPr id="7" name="Text 5">
            <a:extLst>
              <a:ext uri="{FF2B5EF4-FFF2-40B4-BE49-F238E27FC236}">
                <a16:creationId xmlns:a16="http://schemas.microsoft.com/office/drawing/2014/main" id="{993AF017-02E0-4E0E-EBB1-7EAE5DB31898}"/>
              </a:ext>
            </a:extLst>
          </p:cNvPr>
          <p:cNvSpPr txBox="1"/>
          <p:nvPr/>
        </p:nvSpPr>
        <p:spPr>
          <a:xfrm>
            <a:off x="548640" y="1371600"/>
            <a:ext cx="2377440" cy="365760"/>
          </a:xfrm>
          <a:prstGeom prst="rect">
            <a:avLst/>
          </a:prstGeom>
          <a:noFill/>
          <a:ln/>
        </p:spPr>
        <p:txBody>
          <a:bodyPr wrap="square" lIns="0" tIns="0" rIns="0" bIns="0" rtlCol="0" anchor="t"/>
          <a:lstStyle/>
          <a:p>
            <a:pPr marL="0" indent="0" algn="l">
              <a:spcAft>
                <a:spcPts val="300"/>
              </a:spcAft>
              <a:buNone/>
            </a:pPr>
            <a:r>
              <a:rPr lang="en-US" sz="1300" b="1" dirty="0">
                <a:solidFill>
                  <a:srgbClr val="5AA9E6"/>
                </a:solidFill>
                <a:latin typeface="Calibri" pitchFamily="34" charset="0"/>
                <a:ea typeface="Calibri" pitchFamily="34" charset="-122"/>
                <a:cs typeface="Calibri" pitchFamily="34" charset="-120"/>
              </a:rPr>
              <a:t>Required by the shift</a:t>
            </a:r>
            <a:endParaRPr lang="en-US" sz="1300" dirty="0"/>
          </a:p>
        </p:txBody>
      </p:sp>
      <p:sp>
        <p:nvSpPr>
          <p:cNvPr id="8" name="Text 6">
            <a:extLst>
              <a:ext uri="{FF2B5EF4-FFF2-40B4-BE49-F238E27FC236}">
                <a16:creationId xmlns:a16="http://schemas.microsoft.com/office/drawing/2014/main" id="{D52FD2FE-4A79-8441-5238-112DDB7A4381}"/>
              </a:ext>
            </a:extLst>
          </p:cNvPr>
          <p:cNvSpPr txBox="1"/>
          <p:nvPr/>
        </p:nvSpPr>
        <p:spPr>
          <a:xfrm>
            <a:off x="2743200" y="1371600"/>
            <a:ext cx="3017520" cy="365760"/>
          </a:xfrm>
          <a:prstGeom prst="rect">
            <a:avLst/>
          </a:prstGeom>
          <a:noFill/>
          <a:ln/>
        </p:spPr>
        <p:txBody>
          <a:bodyPr wrap="square" lIns="0" tIns="0" rIns="0" bIns="0" rtlCol="0" anchor="t"/>
          <a:lstStyle/>
          <a:p>
            <a:pPr marL="0" indent="0" algn="r">
              <a:spcAft>
                <a:spcPts val="300"/>
              </a:spcAft>
              <a:buNone/>
            </a:pPr>
            <a:r>
              <a:rPr lang="en-US" sz="1300" b="1" dirty="0">
                <a:solidFill>
                  <a:srgbClr val="7BD389"/>
                </a:solidFill>
                <a:latin typeface="Calibri" pitchFamily="34" charset="0"/>
                <a:ea typeface="Calibri" pitchFamily="34" charset="-122"/>
                <a:cs typeface="Calibri" pitchFamily="34" charset="-120"/>
              </a:rPr>
              <a:t>Signed off for the volunteer</a:t>
            </a:r>
            <a:endParaRPr lang="en-US" sz="1300" dirty="0"/>
          </a:p>
        </p:txBody>
      </p:sp>
      <p:sp>
        <p:nvSpPr>
          <p:cNvPr id="9" name="Text 7">
            <a:extLst>
              <a:ext uri="{FF2B5EF4-FFF2-40B4-BE49-F238E27FC236}">
                <a16:creationId xmlns:a16="http://schemas.microsoft.com/office/drawing/2014/main" id="{B8A70466-726D-04A3-4BDC-509930323806}"/>
              </a:ext>
            </a:extLst>
          </p:cNvPr>
          <p:cNvSpPr txBox="1"/>
          <p:nvPr/>
        </p:nvSpPr>
        <p:spPr>
          <a:xfrm>
            <a:off x="868680" y="3017520"/>
            <a:ext cx="1463040" cy="731520"/>
          </a:xfrm>
          <a:prstGeom prst="rect">
            <a:avLst/>
          </a:prstGeom>
          <a:noFill/>
          <a:ln/>
        </p:spPr>
        <p:txBody>
          <a:bodyPr wrap="square" lIns="0" tIns="0" rIns="0" bIns="0" rtlCol="0" anchor="ctr"/>
          <a:lstStyle/>
          <a:p>
            <a:pPr marL="0" indent="0" algn="ctr">
              <a:spcAft>
                <a:spcPts val="300"/>
              </a:spcAft>
              <a:buNone/>
            </a:pPr>
            <a:r>
              <a:rPr lang="en-US" sz="1700" b="1" dirty="0">
                <a:solidFill>
                  <a:srgbClr val="FFFFFF"/>
                </a:solidFill>
                <a:latin typeface="Calibri" pitchFamily="34" charset="0"/>
                <a:ea typeface="Calibri" pitchFamily="34" charset="-122"/>
                <a:cs typeface="Calibri" pitchFamily="34" charset="-120"/>
              </a:rPr>
              <a:t>Missing</a:t>
            </a:r>
            <a:endParaRPr lang="en-US" sz="1700" dirty="0"/>
          </a:p>
        </p:txBody>
      </p:sp>
      <p:sp>
        <p:nvSpPr>
          <p:cNvPr id="10" name="Text 8">
            <a:extLst>
              <a:ext uri="{FF2B5EF4-FFF2-40B4-BE49-F238E27FC236}">
                <a16:creationId xmlns:a16="http://schemas.microsoft.com/office/drawing/2014/main" id="{BE46BCA1-E3D2-6505-489C-350F2C9B1264}"/>
              </a:ext>
            </a:extLst>
          </p:cNvPr>
          <p:cNvSpPr txBox="1"/>
          <p:nvPr/>
        </p:nvSpPr>
        <p:spPr>
          <a:xfrm>
            <a:off x="2560320" y="3017520"/>
            <a:ext cx="1097280" cy="731520"/>
          </a:xfrm>
          <a:prstGeom prst="rect">
            <a:avLst/>
          </a:prstGeom>
          <a:noFill/>
          <a:ln/>
        </p:spPr>
        <p:txBody>
          <a:bodyPr wrap="square" lIns="0" tIns="0" rIns="0" bIns="0" rtlCol="0" anchor="ctr"/>
          <a:lstStyle/>
          <a:p>
            <a:pPr marL="0" indent="0" algn="ctr">
              <a:spcAft>
                <a:spcPts val="300"/>
              </a:spcAft>
              <a:buNone/>
            </a:pPr>
            <a:r>
              <a:rPr lang="en-US" sz="1500" b="1" dirty="0">
                <a:solidFill>
                  <a:srgbClr val="FFFFFF"/>
                </a:solidFill>
                <a:latin typeface="Calibri" pitchFamily="34" charset="0"/>
                <a:ea typeface="Calibri" pitchFamily="34" charset="-122"/>
                <a:cs typeface="Calibri" pitchFamily="34" charset="-120"/>
              </a:rPr>
              <a:t>Covered</a:t>
            </a:r>
            <a:endParaRPr lang="en-US" sz="1500" dirty="0"/>
          </a:p>
        </p:txBody>
      </p:sp>
      <p:sp>
        <p:nvSpPr>
          <p:cNvPr id="11" name="Text 9">
            <a:extLst>
              <a:ext uri="{FF2B5EF4-FFF2-40B4-BE49-F238E27FC236}">
                <a16:creationId xmlns:a16="http://schemas.microsoft.com/office/drawing/2014/main" id="{9A3B6EF9-BE7B-94C1-8FA4-4BC5EA64F417}"/>
              </a:ext>
            </a:extLst>
          </p:cNvPr>
          <p:cNvSpPr txBox="1"/>
          <p:nvPr/>
        </p:nvSpPr>
        <p:spPr>
          <a:xfrm>
            <a:off x="3840480" y="3017520"/>
            <a:ext cx="1554480" cy="731520"/>
          </a:xfrm>
          <a:prstGeom prst="rect">
            <a:avLst/>
          </a:prstGeom>
          <a:noFill/>
          <a:ln/>
        </p:spPr>
        <p:txBody>
          <a:bodyPr wrap="square" lIns="0" tIns="0" rIns="0" bIns="0" rtlCol="0" anchor="ctr"/>
          <a:lstStyle/>
          <a:p>
            <a:pPr marL="0" indent="0" algn="ctr">
              <a:spcAft>
                <a:spcPts val="300"/>
              </a:spcAft>
              <a:buNone/>
            </a:pPr>
            <a:r>
              <a:rPr lang="en-US" sz="1300" dirty="0">
                <a:solidFill>
                  <a:srgbClr val="E3ECF6"/>
                </a:solidFill>
                <a:latin typeface="Calibri" pitchFamily="34" charset="0"/>
                <a:ea typeface="Calibri" pitchFamily="34" charset="-122"/>
                <a:cs typeface="Calibri" pitchFamily="34" charset="-120"/>
              </a:rPr>
              <a:t>Other skills</a:t>
            </a:r>
            <a:endParaRPr lang="en-US" sz="1300" dirty="0"/>
          </a:p>
        </p:txBody>
      </p:sp>
      <p:sp>
        <p:nvSpPr>
          <p:cNvPr id="12" name="Shape 10">
            <a:extLst>
              <a:ext uri="{FF2B5EF4-FFF2-40B4-BE49-F238E27FC236}">
                <a16:creationId xmlns:a16="http://schemas.microsoft.com/office/drawing/2014/main" id="{018B65EE-D8D4-A36F-F51B-01C9645507E1}"/>
              </a:ext>
            </a:extLst>
          </p:cNvPr>
          <p:cNvSpPr/>
          <p:nvPr/>
        </p:nvSpPr>
        <p:spPr>
          <a:xfrm>
            <a:off x="548640" y="5257800"/>
            <a:ext cx="5120640" cy="868680"/>
          </a:xfrm>
          <a:prstGeom prst="roundRect">
            <a:avLst>
              <a:gd name="adj" fmla="val 10526"/>
            </a:avLst>
          </a:prstGeom>
          <a:solidFill>
            <a:srgbClr val="1A3D63"/>
          </a:solidFill>
          <a:ln w="15875">
            <a:solidFill>
              <a:srgbClr val="F07167"/>
            </a:solidFill>
            <a:prstDash val="solid"/>
          </a:ln>
        </p:spPr>
        <p:txBody>
          <a:bodyPr/>
          <a:lstStyle/>
          <a:p>
            <a:endParaRPr lang="en-ZA"/>
          </a:p>
        </p:txBody>
      </p:sp>
      <p:sp>
        <p:nvSpPr>
          <p:cNvPr id="13" name="Text 11">
            <a:extLst>
              <a:ext uri="{FF2B5EF4-FFF2-40B4-BE49-F238E27FC236}">
                <a16:creationId xmlns:a16="http://schemas.microsoft.com/office/drawing/2014/main" id="{9A02505D-6063-E110-E5F0-E55431DDD71E}"/>
              </a:ext>
            </a:extLst>
          </p:cNvPr>
          <p:cNvSpPr txBox="1"/>
          <p:nvPr/>
        </p:nvSpPr>
        <p:spPr>
          <a:xfrm>
            <a:off x="777240" y="5257800"/>
            <a:ext cx="4754880" cy="868680"/>
          </a:xfrm>
          <a:prstGeom prst="rect">
            <a:avLst/>
          </a:prstGeom>
          <a:noFill/>
          <a:ln/>
        </p:spPr>
        <p:txBody>
          <a:bodyPr wrap="square" lIns="0" tIns="0" rIns="0" bIns="0" rtlCol="0" anchor="ctr"/>
          <a:lstStyle/>
          <a:p>
            <a:pPr marL="0" indent="0" algn="l">
              <a:spcAft>
                <a:spcPts val="300"/>
              </a:spcAft>
              <a:buNone/>
            </a:pPr>
            <a:r>
              <a:rPr lang="en-US" sz="1500" b="1" dirty="0">
                <a:solidFill>
                  <a:srgbClr val="F07167"/>
                </a:solidFill>
                <a:latin typeface="Calibri" pitchFamily="34" charset="0"/>
                <a:ea typeface="Calibri" pitchFamily="34" charset="-122"/>
                <a:cs typeface="Calibri" pitchFamily="34" charset="-120"/>
              </a:rPr>
              <a:t>Anything in “Missing”? </a:t>
            </a:r>
            <a:r>
              <a:rPr lang="en-US" sz="1500" dirty="0">
                <a:solidFill>
                  <a:srgbClr val="E3ECF6"/>
                </a:solidFill>
                <a:latin typeface="Calibri" pitchFamily="34" charset="0"/>
                <a:ea typeface="Calibri" pitchFamily="34" charset="-122"/>
                <a:cs typeface="Calibri" pitchFamily="34" charset="-120"/>
              </a:rPr>
              <a:t>The volunteer isn't placed.</a:t>
            </a:r>
            <a:endParaRPr lang="en-US" sz="1500" dirty="0"/>
          </a:p>
        </p:txBody>
      </p:sp>
      <p:sp>
        <p:nvSpPr>
          <p:cNvPr id="14" name="Shape 12">
            <a:extLst>
              <a:ext uri="{FF2B5EF4-FFF2-40B4-BE49-F238E27FC236}">
                <a16:creationId xmlns:a16="http://schemas.microsoft.com/office/drawing/2014/main" id="{BDDB7091-8F2C-DE75-CE05-4C4C8712C61C}"/>
              </a:ext>
            </a:extLst>
          </p:cNvPr>
          <p:cNvSpPr/>
          <p:nvPr/>
        </p:nvSpPr>
        <p:spPr>
          <a:xfrm>
            <a:off x="5989320" y="1417320"/>
            <a:ext cx="5653735" cy="2596896"/>
          </a:xfrm>
          <a:prstGeom prst="roundRect">
            <a:avLst>
              <a:gd name="adj" fmla="val 2817"/>
            </a:avLst>
          </a:prstGeom>
          <a:solidFill>
            <a:srgbClr val="1E1E1E"/>
          </a:solidFill>
          <a:ln w="9525">
            <a:solidFill>
              <a:srgbClr val="333337"/>
            </a:solidFill>
            <a:prstDash val="solid"/>
          </a:ln>
          <a:effectLst>
            <a:outerShdw blurRad="127000" dist="38100" dir="5400000" algn="bl" rotWithShape="0">
              <a:srgbClr val="000000">
                <a:alpha val="40000"/>
              </a:srgbClr>
            </a:outerShdw>
          </a:effectLst>
        </p:spPr>
        <p:txBody>
          <a:bodyPr/>
          <a:lstStyle/>
          <a:p>
            <a:endParaRPr lang="en-ZA"/>
          </a:p>
        </p:txBody>
      </p:sp>
      <p:sp>
        <p:nvSpPr>
          <p:cNvPr id="15" name="Shape 13">
            <a:extLst>
              <a:ext uri="{FF2B5EF4-FFF2-40B4-BE49-F238E27FC236}">
                <a16:creationId xmlns:a16="http://schemas.microsoft.com/office/drawing/2014/main" id="{9C156EE2-DEA0-70C4-8ED4-529668FDD0E5}"/>
              </a:ext>
            </a:extLst>
          </p:cNvPr>
          <p:cNvSpPr/>
          <p:nvPr/>
        </p:nvSpPr>
        <p:spPr>
          <a:xfrm>
            <a:off x="5989320" y="1417320"/>
            <a:ext cx="5653735" cy="329184"/>
          </a:xfrm>
          <a:prstGeom prst="roundRect">
            <a:avLst>
              <a:gd name="adj" fmla="val 22222"/>
            </a:avLst>
          </a:prstGeom>
          <a:solidFill>
            <a:srgbClr val="2D2D30"/>
          </a:solidFill>
          <a:ln w="12700">
            <a:solidFill>
              <a:srgbClr val="2D2D30"/>
            </a:solidFill>
            <a:prstDash val="solid"/>
          </a:ln>
        </p:spPr>
        <p:txBody>
          <a:bodyPr/>
          <a:lstStyle/>
          <a:p>
            <a:endParaRPr lang="en-ZA"/>
          </a:p>
        </p:txBody>
      </p:sp>
      <p:sp>
        <p:nvSpPr>
          <p:cNvPr id="16" name="Shape 14">
            <a:extLst>
              <a:ext uri="{FF2B5EF4-FFF2-40B4-BE49-F238E27FC236}">
                <a16:creationId xmlns:a16="http://schemas.microsoft.com/office/drawing/2014/main" id="{7F8C8D12-E931-F253-9D4A-5435BFE79037}"/>
              </a:ext>
            </a:extLst>
          </p:cNvPr>
          <p:cNvSpPr/>
          <p:nvPr/>
        </p:nvSpPr>
        <p:spPr>
          <a:xfrm>
            <a:off x="5989320" y="1581912"/>
            <a:ext cx="5653735" cy="164592"/>
          </a:xfrm>
          <a:prstGeom prst="rect">
            <a:avLst/>
          </a:prstGeom>
          <a:solidFill>
            <a:srgbClr val="2D2D30"/>
          </a:solidFill>
          <a:ln w="12700">
            <a:solidFill>
              <a:srgbClr val="2D2D30"/>
            </a:solidFill>
            <a:prstDash val="solid"/>
          </a:ln>
        </p:spPr>
        <p:txBody>
          <a:bodyPr/>
          <a:lstStyle/>
          <a:p>
            <a:endParaRPr lang="en-ZA"/>
          </a:p>
        </p:txBody>
      </p:sp>
      <p:sp>
        <p:nvSpPr>
          <p:cNvPr id="17" name="Text 15">
            <a:extLst>
              <a:ext uri="{FF2B5EF4-FFF2-40B4-BE49-F238E27FC236}">
                <a16:creationId xmlns:a16="http://schemas.microsoft.com/office/drawing/2014/main" id="{C3570CE6-52F5-98C5-3097-5AA5BFB8A991}"/>
              </a:ext>
            </a:extLst>
          </p:cNvPr>
          <p:cNvSpPr txBox="1"/>
          <p:nvPr/>
        </p:nvSpPr>
        <p:spPr>
          <a:xfrm>
            <a:off x="6153912" y="1417320"/>
            <a:ext cx="5379415" cy="329184"/>
          </a:xfrm>
          <a:prstGeom prst="rect">
            <a:avLst/>
          </a:prstGeom>
          <a:noFill/>
          <a:ln/>
        </p:spPr>
        <p:txBody>
          <a:bodyPr wrap="square" lIns="0" tIns="0" rIns="0" bIns="0" rtlCol="0" anchor="ctr"/>
          <a:lstStyle/>
          <a:p>
            <a:pPr marL="0" indent="0">
              <a:buNone/>
            </a:pPr>
            <a:r>
              <a:rPr lang="en-US" sz="1050" b="1" dirty="0">
                <a:solidFill>
                  <a:srgbClr val="E8E8E8"/>
                </a:solidFill>
                <a:latin typeface="Calibri" pitchFamily="34" charset="0"/>
                <a:ea typeface="Calibri" pitchFamily="34" charset="-122"/>
                <a:cs typeface="Calibri" pitchFamily="34" charset="-120"/>
              </a:rPr>
              <a:t>RosterService.cs</a:t>
            </a:r>
            <a:r>
              <a:rPr lang="en-US" sz="1050" dirty="0">
                <a:solidFill>
                  <a:srgbClr val="8C8C8C"/>
                </a:solidFill>
                <a:latin typeface="Calibri" pitchFamily="34" charset="0"/>
                <a:ea typeface="Calibri" pitchFamily="34" charset="-122"/>
                <a:cs typeface="Calibri" pitchFamily="34" charset="-120"/>
              </a:rPr>
              <a:t>   AssignVolunteerAsync</a:t>
            </a:r>
            <a:endParaRPr lang="en-US" sz="1050" dirty="0"/>
          </a:p>
        </p:txBody>
      </p:sp>
      <p:sp>
        <p:nvSpPr>
          <p:cNvPr id="18" name="Shape 16">
            <a:extLst>
              <a:ext uri="{FF2B5EF4-FFF2-40B4-BE49-F238E27FC236}">
                <a16:creationId xmlns:a16="http://schemas.microsoft.com/office/drawing/2014/main" id="{F6F70F3B-014D-CE15-40ED-E41F7CFEA3B9}"/>
              </a:ext>
            </a:extLst>
          </p:cNvPr>
          <p:cNvSpPr/>
          <p:nvPr/>
        </p:nvSpPr>
        <p:spPr>
          <a:xfrm>
            <a:off x="6025896" y="2142744"/>
            <a:ext cx="5580583" cy="134112"/>
          </a:xfrm>
          <a:prstGeom prst="rect">
            <a:avLst/>
          </a:prstGeom>
          <a:solidFill>
            <a:srgbClr val="5ED3C6">
              <a:alpha val="16000"/>
            </a:srgbClr>
          </a:solidFill>
          <a:ln w="12700">
            <a:solidFill>
              <a:srgbClr val="5ED3C6">
                <a:alpha val="0"/>
              </a:srgbClr>
            </a:solidFill>
            <a:prstDash val="solid"/>
          </a:ln>
        </p:spPr>
        <p:txBody>
          <a:bodyPr/>
          <a:lstStyle/>
          <a:p>
            <a:endParaRPr lang="en-ZA"/>
          </a:p>
        </p:txBody>
      </p:sp>
      <p:sp>
        <p:nvSpPr>
          <p:cNvPr id="19" name="Shape 17">
            <a:extLst>
              <a:ext uri="{FF2B5EF4-FFF2-40B4-BE49-F238E27FC236}">
                <a16:creationId xmlns:a16="http://schemas.microsoft.com/office/drawing/2014/main" id="{181651E4-0EE5-3E70-9FC3-F3224183AD88}"/>
              </a:ext>
            </a:extLst>
          </p:cNvPr>
          <p:cNvSpPr/>
          <p:nvPr/>
        </p:nvSpPr>
        <p:spPr>
          <a:xfrm>
            <a:off x="6025896" y="2813304"/>
            <a:ext cx="5580583" cy="134112"/>
          </a:xfrm>
          <a:prstGeom prst="rect">
            <a:avLst/>
          </a:prstGeom>
          <a:solidFill>
            <a:srgbClr val="5ED3C6">
              <a:alpha val="16000"/>
            </a:srgbClr>
          </a:solidFill>
          <a:ln w="12700">
            <a:solidFill>
              <a:srgbClr val="5ED3C6">
                <a:alpha val="0"/>
              </a:srgbClr>
            </a:solidFill>
            <a:prstDash val="solid"/>
          </a:ln>
        </p:spPr>
        <p:txBody>
          <a:bodyPr/>
          <a:lstStyle/>
          <a:p>
            <a:endParaRPr lang="en-ZA"/>
          </a:p>
        </p:txBody>
      </p:sp>
      <p:sp>
        <p:nvSpPr>
          <p:cNvPr id="20" name="Text 18">
            <a:extLst>
              <a:ext uri="{FF2B5EF4-FFF2-40B4-BE49-F238E27FC236}">
                <a16:creationId xmlns:a16="http://schemas.microsoft.com/office/drawing/2014/main" id="{D030DAB6-8BD7-D8EA-1D74-C1DEDB3D21B3}"/>
              </a:ext>
            </a:extLst>
          </p:cNvPr>
          <p:cNvSpPr txBox="1"/>
          <p:nvPr/>
        </p:nvSpPr>
        <p:spPr>
          <a:xfrm>
            <a:off x="6035040" y="1874520"/>
            <a:ext cx="365760" cy="2011680"/>
          </a:xfrm>
          <a:prstGeom prst="rect">
            <a:avLst/>
          </a:prstGeom>
          <a:noFill/>
          <a:ln/>
        </p:spPr>
        <p:txBody>
          <a:bodyPr wrap="square" lIns="0" tIns="0" rIns="0" bIns="0" rtlCol="0" anchor="t"/>
          <a:lstStyle/>
          <a:p>
            <a:pPr marL="0" indent="0" algn="r">
              <a:lnSpc>
                <a:spcPts val="1056"/>
              </a:lnSpc>
              <a:buNone/>
            </a:pPr>
            <a:r>
              <a:rPr lang="en-US" sz="800" dirty="0">
                <a:solidFill>
                  <a:srgbClr val="858585"/>
                </a:solidFill>
                <a:latin typeface="Courier New" pitchFamily="34" charset="0"/>
                <a:ea typeface="Courier New" pitchFamily="34" charset="-122"/>
                <a:cs typeface="Courier New" pitchFamily="34" charset="-120"/>
              </a:rPr>
              <a:t>379</a:t>
            </a:r>
            <a:endParaRPr lang="en-US" sz="800" dirty="0"/>
          </a:p>
          <a:p>
            <a:pPr marL="0" indent="0" algn="r">
              <a:lnSpc>
                <a:spcPts val="1056"/>
              </a:lnSpc>
              <a:buNone/>
            </a:pPr>
            <a:r>
              <a:rPr lang="en-US" sz="800" dirty="0">
                <a:solidFill>
                  <a:srgbClr val="858585"/>
                </a:solidFill>
                <a:latin typeface="Courier New" pitchFamily="34" charset="0"/>
                <a:ea typeface="Courier New" pitchFamily="34" charset="-122"/>
                <a:cs typeface="Courier New" pitchFamily="34" charset="-120"/>
              </a:rPr>
              <a:t>380</a:t>
            </a:r>
            <a:endParaRPr lang="en-US" sz="800" dirty="0"/>
          </a:p>
          <a:p>
            <a:pPr marL="0" indent="0" algn="r">
              <a:lnSpc>
                <a:spcPts val="1056"/>
              </a:lnSpc>
              <a:buNone/>
            </a:pPr>
            <a:r>
              <a:rPr lang="en-US" sz="800" dirty="0">
                <a:solidFill>
                  <a:srgbClr val="858585"/>
                </a:solidFill>
                <a:latin typeface="Courier New" pitchFamily="34" charset="0"/>
                <a:ea typeface="Courier New" pitchFamily="34" charset="-122"/>
                <a:cs typeface="Courier New" pitchFamily="34" charset="-120"/>
              </a:rPr>
              <a:t>381</a:t>
            </a:r>
            <a:endParaRPr lang="en-US" sz="800" dirty="0"/>
          </a:p>
          <a:p>
            <a:pPr marL="0" indent="0" algn="r">
              <a:lnSpc>
                <a:spcPts val="1056"/>
              </a:lnSpc>
              <a:buNone/>
            </a:pPr>
            <a:r>
              <a:rPr lang="en-US" sz="800" dirty="0">
                <a:solidFill>
                  <a:srgbClr val="858585"/>
                </a:solidFill>
                <a:latin typeface="Courier New" pitchFamily="34" charset="0"/>
                <a:ea typeface="Courier New" pitchFamily="34" charset="-122"/>
                <a:cs typeface="Courier New" pitchFamily="34" charset="-120"/>
              </a:rPr>
              <a:t>382</a:t>
            </a:r>
            <a:endParaRPr lang="en-US" sz="800" dirty="0"/>
          </a:p>
          <a:p>
            <a:pPr marL="0" indent="0" algn="r">
              <a:lnSpc>
                <a:spcPts val="1056"/>
              </a:lnSpc>
              <a:buNone/>
            </a:pPr>
            <a:r>
              <a:rPr lang="en-US" sz="800" dirty="0">
                <a:solidFill>
                  <a:srgbClr val="858585"/>
                </a:solidFill>
                <a:latin typeface="Courier New" pitchFamily="34" charset="0"/>
                <a:ea typeface="Courier New" pitchFamily="34" charset="-122"/>
                <a:cs typeface="Courier New" pitchFamily="34" charset="-120"/>
              </a:rPr>
              <a:t>383</a:t>
            </a:r>
            <a:endParaRPr lang="en-US" sz="800" dirty="0"/>
          </a:p>
          <a:p>
            <a:pPr marL="0" indent="0" algn="r">
              <a:lnSpc>
                <a:spcPts val="1056"/>
              </a:lnSpc>
              <a:buNone/>
            </a:pPr>
            <a:r>
              <a:rPr lang="en-US" sz="800" dirty="0">
                <a:solidFill>
                  <a:srgbClr val="858585"/>
                </a:solidFill>
                <a:latin typeface="Courier New" pitchFamily="34" charset="0"/>
                <a:ea typeface="Courier New" pitchFamily="34" charset="-122"/>
                <a:cs typeface="Courier New" pitchFamily="34" charset="-120"/>
              </a:rPr>
              <a:t> </a:t>
            </a:r>
            <a:endParaRPr lang="en-US" sz="800" dirty="0"/>
          </a:p>
          <a:p>
            <a:pPr marL="0" indent="0" algn="r">
              <a:lnSpc>
                <a:spcPts val="1056"/>
              </a:lnSpc>
              <a:buNone/>
            </a:pPr>
            <a:r>
              <a:rPr lang="en-US" sz="800" dirty="0">
                <a:solidFill>
                  <a:srgbClr val="858585"/>
                </a:solidFill>
                <a:latin typeface="Courier New" pitchFamily="34" charset="0"/>
                <a:ea typeface="Courier New" pitchFamily="34" charset="-122"/>
                <a:cs typeface="Courier New" pitchFamily="34" charset="-120"/>
              </a:rPr>
              <a:t>396</a:t>
            </a:r>
            <a:endParaRPr lang="en-US" sz="800" dirty="0"/>
          </a:p>
          <a:p>
            <a:pPr marL="0" indent="0" algn="r">
              <a:lnSpc>
                <a:spcPts val="1056"/>
              </a:lnSpc>
              <a:buNone/>
            </a:pPr>
            <a:r>
              <a:rPr lang="en-US" sz="800" dirty="0">
                <a:solidFill>
                  <a:srgbClr val="858585"/>
                </a:solidFill>
                <a:latin typeface="Courier New" pitchFamily="34" charset="0"/>
                <a:ea typeface="Courier New" pitchFamily="34" charset="-122"/>
                <a:cs typeface="Courier New" pitchFamily="34" charset="-120"/>
              </a:rPr>
              <a:t>397</a:t>
            </a:r>
            <a:endParaRPr lang="en-US" sz="800" dirty="0"/>
          </a:p>
          <a:p>
            <a:pPr marL="0" indent="0" algn="r">
              <a:lnSpc>
                <a:spcPts val="1056"/>
              </a:lnSpc>
              <a:buNone/>
            </a:pPr>
            <a:r>
              <a:rPr lang="en-US" sz="800" dirty="0">
                <a:solidFill>
                  <a:srgbClr val="858585"/>
                </a:solidFill>
                <a:latin typeface="Courier New" pitchFamily="34" charset="0"/>
                <a:ea typeface="Courier New" pitchFamily="34" charset="-122"/>
                <a:cs typeface="Courier New" pitchFamily="34" charset="-120"/>
              </a:rPr>
              <a:t>398</a:t>
            </a:r>
            <a:endParaRPr lang="en-US" sz="800" dirty="0"/>
          </a:p>
          <a:p>
            <a:pPr marL="0" indent="0" algn="r">
              <a:lnSpc>
                <a:spcPts val="1056"/>
              </a:lnSpc>
              <a:buNone/>
            </a:pPr>
            <a:r>
              <a:rPr lang="en-US" sz="800" dirty="0">
                <a:solidFill>
                  <a:srgbClr val="858585"/>
                </a:solidFill>
                <a:latin typeface="Courier New" pitchFamily="34" charset="0"/>
                <a:ea typeface="Courier New" pitchFamily="34" charset="-122"/>
                <a:cs typeface="Courier New" pitchFamily="34" charset="-120"/>
              </a:rPr>
              <a:t>399</a:t>
            </a:r>
            <a:endParaRPr lang="en-US" sz="800" dirty="0"/>
          </a:p>
          <a:p>
            <a:pPr marL="0" indent="0" algn="r">
              <a:lnSpc>
                <a:spcPts val="1056"/>
              </a:lnSpc>
              <a:buNone/>
            </a:pPr>
            <a:r>
              <a:rPr lang="en-US" sz="800" dirty="0">
                <a:solidFill>
                  <a:srgbClr val="858585"/>
                </a:solidFill>
                <a:latin typeface="Courier New" pitchFamily="34" charset="0"/>
                <a:ea typeface="Courier New" pitchFamily="34" charset="-122"/>
                <a:cs typeface="Courier New" pitchFamily="34" charset="-120"/>
              </a:rPr>
              <a:t>400</a:t>
            </a:r>
            <a:endParaRPr lang="en-US" sz="800" dirty="0"/>
          </a:p>
          <a:p>
            <a:pPr marL="0" indent="0" algn="r">
              <a:lnSpc>
                <a:spcPts val="1056"/>
              </a:lnSpc>
              <a:buNone/>
            </a:pPr>
            <a:r>
              <a:rPr lang="en-US" sz="800" dirty="0">
                <a:solidFill>
                  <a:srgbClr val="858585"/>
                </a:solidFill>
                <a:latin typeface="Courier New" pitchFamily="34" charset="0"/>
                <a:ea typeface="Courier New" pitchFamily="34" charset="-122"/>
                <a:cs typeface="Courier New" pitchFamily="34" charset="-120"/>
              </a:rPr>
              <a:t>401</a:t>
            </a:r>
            <a:endParaRPr lang="en-US" sz="800" dirty="0"/>
          </a:p>
          <a:p>
            <a:pPr marL="0" indent="0" algn="r">
              <a:lnSpc>
                <a:spcPts val="1056"/>
              </a:lnSpc>
              <a:buNone/>
            </a:pPr>
            <a:r>
              <a:rPr lang="en-US" sz="800" dirty="0">
                <a:solidFill>
                  <a:srgbClr val="858585"/>
                </a:solidFill>
                <a:latin typeface="Courier New" pitchFamily="34" charset="0"/>
                <a:ea typeface="Courier New" pitchFamily="34" charset="-122"/>
                <a:cs typeface="Courier New" pitchFamily="34" charset="-120"/>
              </a:rPr>
              <a:t>402</a:t>
            </a:r>
            <a:endParaRPr lang="en-US" sz="800" dirty="0"/>
          </a:p>
          <a:p>
            <a:pPr marL="0" indent="0" algn="r">
              <a:lnSpc>
                <a:spcPts val="1056"/>
              </a:lnSpc>
              <a:buNone/>
            </a:pPr>
            <a:r>
              <a:rPr lang="en-US" sz="800" dirty="0">
                <a:solidFill>
                  <a:srgbClr val="858585"/>
                </a:solidFill>
                <a:latin typeface="Courier New" pitchFamily="34" charset="0"/>
                <a:ea typeface="Courier New" pitchFamily="34" charset="-122"/>
                <a:cs typeface="Courier New" pitchFamily="34" charset="-120"/>
              </a:rPr>
              <a:t>403</a:t>
            </a:r>
            <a:endParaRPr lang="en-US" sz="800" dirty="0"/>
          </a:p>
          <a:p>
            <a:pPr marL="0" indent="0" algn="r">
              <a:lnSpc>
                <a:spcPts val="1056"/>
              </a:lnSpc>
              <a:buNone/>
            </a:pPr>
            <a:r>
              <a:rPr lang="en-US" sz="800" dirty="0">
                <a:solidFill>
                  <a:srgbClr val="858585"/>
                </a:solidFill>
                <a:latin typeface="Courier New" pitchFamily="34" charset="0"/>
                <a:ea typeface="Courier New" pitchFamily="34" charset="-122"/>
                <a:cs typeface="Courier New" pitchFamily="34" charset="-120"/>
              </a:rPr>
              <a:t>404</a:t>
            </a:r>
            <a:endParaRPr lang="en-US" sz="800" dirty="0"/>
          </a:p>
        </p:txBody>
      </p:sp>
      <p:sp>
        <p:nvSpPr>
          <p:cNvPr id="21" name="Text 19">
            <a:extLst>
              <a:ext uri="{FF2B5EF4-FFF2-40B4-BE49-F238E27FC236}">
                <a16:creationId xmlns:a16="http://schemas.microsoft.com/office/drawing/2014/main" id="{2A318EC5-E348-C4F6-F492-CD999FCB7B10}"/>
              </a:ext>
            </a:extLst>
          </p:cNvPr>
          <p:cNvSpPr txBox="1"/>
          <p:nvPr/>
        </p:nvSpPr>
        <p:spPr>
          <a:xfrm>
            <a:off x="6629400" y="1874520"/>
            <a:ext cx="4922215" cy="2011680"/>
          </a:xfrm>
          <a:prstGeom prst="rect">
            <a:avLst/>
          </a:prstGeom>
          <a:noFill/>
          <a:ln/>
        </p:spPr>
        <p:txBody>
          <a:bodyPr wrap="none" lIns="0" tIns="0" rIns="0" bIns="0" rtlCol="0" anchor="t"/>
          <a:lstStyle/>
          <a:p>
            <a:pPr marL="0" indent="0">
              <a:lnSpc>
                <a:spcPts val="1056"/>
              </a:lnSpc>
              <a:buNone/>
            </a:pPr>
            <a:r>
              <a:rPr lang="en-US" sz="800" dirty="0">
                <a:solidFill>
                  <a:srgbClr val="569CD6"/>
                </a:solidFill>
                <a:latin typeface="Courier New" pitchFamily="34" charset="0"/>
                <a:ea typeface="Courier New" pitchFamily="34" charset="-122"/>
                <a:cs typeface="Courier New" pitchFamily="34" charset="-120"/>
              </a:rPr>
              <a:t>var</a:t>
            </a:r>
            <a:r>
              <a:rPr lang="en-US" sz="800" dirty="0">
                <a:solidFill>
                  <a:srgbClr val="D4D4D4"/>
                </a:solidFill>
                <a:latin typeface="Courier New" pitchFamily="34" charset="0"/>
                <a:ea typeface="Courier New" pitchFamily="34" charset="-122"/>
                <a:cs typeface="Courier New" pitchFamily="34" charset="-120"/>
              </a:rPr>
              <a:t> </a:t>
            </a:r>
            <a:r>
              <a:rPr lang="en-US" sz="800" dirty="0">
                <a:solidFill>
                  <a:srgbClr val="9CDCFE"/>
                </a:solidFill>
                <a:latin typeface="Courier New" pitchFamily="34" charset="0"/>
                <a:ea typeface="Courier New" pitchFamily="34" charset="-122"/>
                <a:cs typeface="Courier New" pitchFamily="34" charset="-120"/>
              </a:rPr>
              <a:t>requiredSkillIds</a:t>
            </a:r>
            <a:r>
              <a:rPr lang="en-US" sz="800" dirty="0">
                <a:solidFill>
                  <a:srgbClr val="D4D4D4"/>
                </a:solidFill>
                <a:latin typeface="Courier New" pitchFamily="34" charset="0"/>
                <a:ea typeface="Courier New" pitchFamily="34" charset="-122"/>
                <a:cs typeface="Courier New" pitchFamily="34" charset="-120"/>
              </a:rPr>
              <a:t> = </a:t>
            </a:r>
            <a:r>
              <a:rPr lang="en-US" sz="800" dirty="0">
                <a:solidFill>
                  <a:srgbClr val="C586C0"/>
                </a:solidFill>
                <a:latin typeface="Courier New" pitchFamily="34" charset="0"/>
                <a:ea typeface="Courier New" pitchFamily="34" charset="-122"/>
                <a:cs typeface="Courier New" pitchFamily="34" charset="-120"/>
              </a:rPr>
              <a:t>await</a:t>
            </a:r>
            <a:r>
              <a:rPr lang="en-US" sz="800" dirty="0">
                <a:solidFill>
                  <a:srgbClr val="D4D4D4"/>
                </a:solidFill>
                <a:latin typeface="Courier New" pitchFamily="34" charset="0"/>
                <a:ea typeface="Courier New" pitchFamily="34" charset="-122"/>
                <a:cs typeface="Courier New" pitchFamily="34" charset="-120"/>
              </a:rPr>
              <a:t> </a:t>
            </a:r>
            <a:r>
              <a:rPr lang="en-US" sz="800" dirty="0">
                <a:solidFill>
                  <a:srgbClr val="9CDCFE"/>
                </a:solidFill>
                <a:latin typeface="Courier New" pitchFamily="34" charset="0"/>
                <a:ea typeface="Courier New" pitchFamily="34" charset="-122"/>
                <a:cs typeface="Courier New" pitchFamily="34" charset="-120"/>
              </a:rPr>
              <a:t>_context</a:t>
            </a:r>
            <a:r>
              <a:rPr lang="en-US" sz="800" dirty="0">
                <a:solidFill>
                  <a:srgbClr val="D4D4D4"/>
                </a:solidFill>
                <a:latin typeface="Courier New" pitchFamily="34" charset="0"/>
                <a:ea typeface="Courier New" pitchFamily="34" charset="-122"/>
                <a:cs typeface="Courier New" pitchFamily="34" charset="-120"/>
              </a:rPr>
              <a:t>.</a:t>
            </a:r>
            <a:r>
              <a:rPr lang="en-US" sz="800" dirty="0">
                <a:solidFill>
                  <a:srgbClr val="4EC9B0"/>
                </a:solidFill>
                <a:latin typeface="Courier New" pitchFamily="34" charset="0"/>
                <a:ea typeface="Courier New" pitchFamily="34" charset="-122"/>
                <a:cs typeface="Courier New" pitchFamily="34" charset="-120"/>
              </a:rPr>
              <a:t>Shifts</a:t>
            </a:r>
            <a:endParaRPr lang="en-US" sz="800" dirty="0"/>
          </a:p>
          <a:p>
            <a:pPr marL="0" indent="0">
              <a:lnSpc>
                <a:spcPts val="1056"/>
              </a:lnSpc>
              <a:buNone/>
            </a:pPr>
            <a:r>
              <a:rPr lang="en-US" sz="800" dirty="0">
                <a:solidFill>
                  <a:srgbClr val="D4D4D4"/>
                </a:solidFill>
                <a:latin typeface="Courier New" pitchFamily="34" charset="0"/>
                <a:ea typeface="Courier New" pitchFamily="34" charset="-122"/>
                <a:cs typeface="Courier New" pitchFamily="34" charset="-120"/>
              </a:rPr>
              <a:t>    .</a:t>
            </a:r>
            <a:r>
              <a:rPr lang="en-US" sz="800" dirty="0">
                <a:solidFill>
                  <a:srgbClr val="DCDCAA"/>
                </a:solidFill>
                <a:latin typeface="Courier New" pitchFamily="34" charset="0"/>
                <a:ea typeface="Courier New" pitchFamily="34" charset="-122"/>
                <a:cs typeface="Courier New" pitchFamily="34" charset="-120"/>
              </a:rPr>
              <a:t>Where</a:t>
            </a:r>
            <a:r>
              <a:rPr lang="en-US" sz="800" dirty="0">
                <a:solidFill>
                  <a:srgbClr val="D4D4D4"/>
                </a:solidFill>
                <a:latin typeface="Courier New" pitchFamily="34" charset="0"/>
                <a:ea typeface="Courier New" pitchFamily="34" charset="-122"/>
                <a:cs typeface="Courier New" pitchFamily="34" charset="-120"/>
              </a:rPr>
              <a:t>(</a:t>
            </a:r>
            <a:r>
              <a:rPr lang="en-US" sz="800" dirty="0">
                <a:solidFill>
                  <a:srgbClr val="9CDCFE"/>
                </a:solidFill>
                <a:latin typeface="Courier New" pitchFamily="34" charset="0"/>
                <a:ea typeface="Courier New" pitchFamily="34" charset="-122"/>
                <a:cs typeface="Courier New" pitchFamily="34" charset="-120"/>
              </a:rPr>
              <a:t>s</a:t>
            </a:r>
            <a:r>
              <a:rPr lang="en-US" sz="800" dirty="0">
                <a:solidFill>
                  <a:srgbClr val="D4D4D4"/>
                </a:solidFill>
                <a:latin typeface="Courier New" pitchFamily="34" charset="0"/>
                <a:ea typeface="Courier New" pitchFamily="34" charset="-122"/>
                <a:cs typeface="Courier New" pitchFamily="34" charset="-120"/>
              </a:rPr>
              <a:t> =&gt; </a:t>
            </a:r>
            <a:r>
              <a:rPr lang="en-US" sz="800" dirty="0">
                <a:solidFill>
                  <a:srgbClr val="9CDCFE"/>
                </a:solidFill>
                <a:latin typeface="Courier New" pitchFamily="34" charset="0"/>
                <a:ea typeface="Courier New" pitchFamily="34" charset="-122"/>
                <a:cs typeface="Courier New" pitchFamily="34" charset="-120"/>
              </a:rPr>
              <a:t>s</a:t>
            </a:r>
            <a:r>
              <a:rPr lang="en-US" sz="800" dirty="0">
                <a:solidFill>
                  <a:srgbClr val="D4D4D4"/>
                </a:solidFill>
                <a:latin typeface="Courier New" pitchFamily="34" charset="0"/>
                <a:ea typeface="Courier New" pitchFamily="34" charset="-122"/>
                <a:cs typeface="Courier New" pitchFamily="34" charset="-120"/>
              </a:rPr>
              <a:t>.</a:t>
            </a:r>
            <a:r>
              <a:rPr lang="en-US" sz="800" dirty="0">
                <a:solidFill>
                  <a:srgbClr val="4EC9B0"/>
                </a:solidFill>
                <a:latin typeface="Courier New" pitchFamily="34" charset="0"/>
                <a:ea typeface="Courier New" pitchFamily="34" charset="-122"/>
                <a:cs typeface="Courier New" pitchFamily="34" charset="-120"/>
              </a:rPr>
              <a:t>ShiftId</a:t>
            </a:r>
            <a:r>
              <a:rPr lang="en-US" sz="800" dirty="0">
                <a:solidFill>
                  <a:srgbClr val="D4D4D4"/>
                </a:solidFill>
                <a:latin typeface="Courier New" pitchFamily="34" charset="0"/>
                <a:ea typeface="Courier New" pitchFamily="34" charset="-122"/>
                <a:cs typeface="Courier New" pitchFamily="34" charset="-120"/>
              </a:rPr>
              <a:t> == </a:t>
            </a:r>
            <a:r>
              <a:rPr lang="en-US" sz="800" dirty="0">
                <a:solidFill>
                  <a:srgbClr val="9CDCFE"/>
                </a:solidFill>
                <a:latin typeface="Courier New" pitchFamily="34" charset="0"/>
                <a:ea typeface="Courier New" pitchFamily="34" charset="-122"/>
                <a:cs typeface="Courier New" pitchFamily="34" charset="-120"/>
              </a:rPr>
              <a:t>dto</a:t>
            </a:r>
            <a:r>
              <a:rPr lang="en-US" sz="800" dirty="0">
                <a:solidFill>
                  <a:srgbClr val="D4D4D4"/>
                </a:solidFill>
                <a:latin typeface="Courier New" pitchFamily="34" charset="0"/>
                <a:ea typeface="Courier New" pitchFamily="34" charset="-122"/>
                <a:cs typeface="Courier New" pitchFamily="34" charset="-120"/>
              </a:rPr>
              <a:t>.</a:t>
            </a:r>
            <a:r>
              <a:rPr lang="en-US" sz="800" dirty="0">
                <a:solidFill>
                  <a:srgbClr val="4EC9B0"/>
                </a:solidFill>
                <a:latin typeface="Courier New" pitchFamily="34" charset="0"/>
                <a:ea typeface="Courier New" pitchFamily="34" charset="-122"/>
                <a:cs typeface="Courier New" pitchFamily="34" charset="-120"/>
              </a:rPr>
              <a:t>ShiftId</a:t>
            </a:r>
            <a:r>
              <a:rPr lang="en-US" sz="800" dirty="0">
                <a:solidFill>
                  <a:srgbClr val="D4D4D4"/>
                </a:solidFill>
                <a:latin typeface="Courier New" pitchFamily="34" charset="0"/>
                <a:ea typeface="Courier New" pitchFamily="34" charset="-122"/>
                <a:cs typeface="Courier New" pitchFamily="34" charset="-120"/>
              </a:rPr>
              <a:t>)</a:t>
            </a:r>
            <a:endParaRPr lang="en-US" sz="800" dirty="0"/>
          </a:p>
          <a:p>
            <a:pPr marL="0" indent="0">
              <a:lnSpc>
                <a:spcPts val="1056"/>
              </a:lnSpc>
              <a:buNone/>
            </a:pPr>
            <a:r>
              <a:rPr lang="en-US" sz="800" dirty="0">
                <a:solidFill>
                  <a:srgbClr val="D4D4D4"/>
                </a:solidFill>
                <a:latin typeface="Courier New" pitchFamily="34" charset="0"/>
                <a:ea typeface="Courier New" pitchFamily="34" charset="-122"/>
                <a:cs typeface="Courier New" pitchFamily="34" charset="-120"/>
              </a:rPr>
              <a:t>    .</a:t>
            </a:r>
            <a:r>
              <a:rPr lang="en-US" sz="800" dirty="0">
                <a:solidFill>
                  <a:srgbClr val="DCDCAA"/>
                </a:solidFill>
                <a:latin typeface="Courier New" pitchFamily="34" charset="0"/>
                <a:ea typeface="Courier New" pitchFamily="34" charset="-122"/>
                <a:cs typeface="Courier New" pitchFamily="34" charset="-120"/>
              </a:rPr>
              <a:t>SelectMany</a:t>
            </a:r>
            <a:r>
              <a:rPr lang="en-US" sz="800" dirty="0">
                <a:solidFill>
                  <a:srgbClr val="D4D4D4"/>
                </a:solidFill>
                <a:latin typeface="Courier New" pitchFamily="34" charset="0"/>
                <a:ea typeface="Courier New" pitchFamily="34" charset="-122"/>
                <a:cs typeface="Courier New" pitchFamily="34" charset="-120"/>
              </a:rPr>
              <a:t>(</a:t>
            </a:r>
            <a:r>
              <a:rPr lang="en-US" sz="800" dirty="0">
                <a:solidFill>
                  <a:srgbClr val="9CDCFE"/>
                </a:solidFill>
                <a:latin typeface="Courier New" pitchFamily="34" charset="0"/>
                <a:ea typeface="Courier New" pitchFamily="34" charset="-122"/>
                <a:cs typeface="Courier New" pitchFamily="34" charset="-120"/>
              </a:rPr>
              <a:t>s</a:t>
            </a:r>
            <a:r>
              <a:rPr lang="en-US" sz="800" dirty="0">
                <a:solidFill>
                  <a:srgbClr val="D4D4D4"/>
                </a:solidFill>
                <a:latin typeface="Courier New" pitchFamily="34" charset="0"/>
                <a:ea typeface="Courier New" pitchFamily="34" charset="-122"/>
                <a:cs typeface="Courier New" pitchFamily="34" charset="-120"/>
              </a:rPr>
              <a:t> =&gt; </a:t>
            </a:r>
            <a:r>
              <a:rPr lang="en-US" sz="800" dirty="0">
                <a:solidFill>
                  <a:srgbClr val="9CDCFE"/>
                </a:solidFill>
                <a:latin typeface="Courier New" pitchFamily="34" charset="0"/>
                <a:ea typeface="Courier New" pitchFamily="34" charset="-122"/>
                <a:cs typeface="Courier New" pitchFamily="34" charset="-120"/>
              </a:rPr>
              <a:t>s</a:t>
            </a:r>
            <a:r>
              <a:rPr lang="en-US" sz="800" dirty="0">
                <a:solidFill>
                  <a:srgbClr val="D4D4D4"/>
                </a:solidFill>
                <a:latin typeface="Courier New" pitchFamily="34" charset="0"/>
                <a:ea typeface="Courier New" pitchFamily="34" charset="-122"/>
                <a:cs typeface="Courier New" pitchFamily="34" charset="-120"/>
              </a:rPr>
              <a:t>.</a:t>
            </a:r>
            <a:r>
              <a:rPr lang="en-US" sz="800" dirty="0">
                <a:solidFill>
                  <a:srgbClr val="4EC9B0"/>
                </a:solidFill>
                <a:latin typeface="Courier New" pitchFamily="34" charset="0"/>
                <a:ea typeface="Courier New" pitchFamily="34" charset="-122"/>
                <a:cs typeface="Courier New" pitchFamily="34" charset="-120"/>
              </a:rPr>
              <a:t>Skills</a:t>
            </a:r>
            <a:r>
              <a:rPr lang="en-US" sz="800" dirty="0">
                <a:solidFill>
                  <a:srgbClr val="D4D4D4"/>
                </a:solidFill>
                <a:latin typeface="Courier New" pitchFamily="34" charset="0"/>
                <a:ea typeface="Courier New" pitchFamily="34" charset="-122"/>
                <a:cs typeface="Courier New" pitchFamily="34" charset="-120"/>
              </a:rPr>
              <a:t>)</a:t>
            </a:r>
            <a:endParaRPr lang="en-US" sz="800" dirty="0"/>
          </a:p>
          <a:p>
            <a:pPr marL="0" indent="0">
              <a:lnSpc>
                <a:spcPts val="1056"/>
              </a:lnSpc>
              <a:buNone/>
            </a:pPr>
            <a:r>
              <a:rPr lang="en-US" sz="800" dirty="0">
                <a:solidFill>
                  <a:srgbClr val="D4D4D4"/>
                </a:solidFill>
                <a:latin typeface="Courier New" pitchFamily="34" charset="0"/>
                <a:ea typeface="Courier New" pitchFamily="34" charset="-122"/>
                <a:cs typeface="Courier New" pitchFamily="34" charset="-120"/>
              </a:rPr>
              <a:t>    .</a:t>
            </a:r>
            <a:r>
              <a:rPr lang="en-US" sz="800" dirty="0">
                <a:solidFill>
                  <a:srgbClr val="DCDCAA"/>
                </a:solidFill>
                <a:latin typeface="Courier New" pitchFamily="34" charset="0"/>
                <a:ea typeface="Courier New" pitchFamily="34" charset="-122"/>
                <a:cs typeface="Courier New" pitchFamily="34" charset="-120"/>
              </a:rPr>
              <a:t>Select</a:t>
            </a:r>
            <a:r>
              <a:rPr lang="en-US" sz="800" dirty="0">
                <a:solidFill>
                  <a:srgbClr val="D4D4D4"/>
                </a:solidFill>
                <a:latin typeface="Courier New" pitchFamily="34" charset="0"/>
                <a:ea typeface="Courier New" pitchFamily="34" charset="-122"/>
                <a:cs typeface="Courier New" pitchFamily="34" charset="-120"/>
              </a:rPr>
              <a:t>(</a:t>
            </a:r>
            <a:r>
              <a:rPr lang="en-US" sz="800" dirty="0">
                <a:solidFill>
                  <a:srgbClr val="9CDCFE"/>
                </a:solidFill>
                <a:latin typeface="Courier New" pitchFamily="34" charset="0"/>
                <a:ea typeface="Courier New" pitchFamily="34" charset="-122"/>
                <a:cs typeface="Courier New" pitchFamily="34" charset="-120"/>
              </a:rPr>
              <a:t>s</a:t>
            </a:r>
            <a:r>
              <a:rPr lang="en-US" sz="800" dirty="0">
                <a:solidFill>
                  <a:srgbClr val="D4D4D4"/>
                </a:solidFill>
                <a:latin typeface="Courier New" pitchFamily="34" charset="0"/>
                <a:ea typeface="Courier New" pitchFamily="34" charset="-122"/>
                <a:cs typeface="Courier New" pitchFamily="34" charset="-120"/>
              </a:rPr>
              <a:t> =&gt; </a:t>
            </a:r>
            <a:r>
              <a:rPr lang="en-US" sz="800" dirty="0">
                <a:solidFill>
                  <a:srgbClr val="9CDCFE"/>
                </a:solidFill>
                <a:latin typeface="Courier New" pitchFamily="34" charset="0"/>
                <a:ea typeface="Courier New" pitchFamily="34" charset="-122"/>
                <a:cs typeface="Courier New" pitchFamily="34" charset="-120"/>
              </a:rPr>
              <a:t>s</a:t>
            </a:r>
            <a:r>
              <a:rPr lang="en-US" sz="800" dirty="0">
                <a:solidFill>
                  <a:srgbClr val="D4D4D4"/>
                </a:solidFill>
                <a:latin typeface="Courier New" pitchFamily="34" charset="0"/>
                <a:ea typeface="Courier New" pitchFamily="34" charset="-122"/>
                <a:cs typeface="Courier New" pitchFamily="34" charset="-120"/>
              </a:rPr>
              <a:t>.</a:t>
            </a:r>
            <a:r>
              <a:rPr lang="en-US" sz="800" dirty="0">
                <a:solidFill>
                  <a:srgbClr val="4EC9B0"/>
                </a:solidFill>
                <a:latin typeface="Courier New" pitchFamily="34" charset="0"/>
                <a:ea typeface="Courier New" pitchFamily="34" charset="-122"/>
                <a:cs typeface="Courier New" pitchFamily="34" charset="-120"/>
              </a:rPr>
              <a:t>SkillId</a:t>
            </a:r>
            <a:r>
              <a:rPr lang="en-US" sz="800" dirty="0">
                <a:solidFill>
                  <a:srgbClr val="D4D4D4"/>
                </a:solidFill>
                <a:latin typeface="Courier New" pitchFamily="34" charset="0"/>
                <a:ea typeface="Courier New" pitchFamily="34" charset="-122"/>
                <a:cs typeface="Courier New" pitchFamily="34" charset="-120"/>
              </a:rPr>
              <a:t>)</a:t>
            </a:r>
            <a:endParaRPr lang="en-US" sz="800" dirty="0"/>
          </a:p>
          <a:p>
            <a:pPr marL="0" indent="0">
              <a:lnSpc>
                <a:spcPts val="1056"/>
              </a:lnSpc>
              <a:buNone/>
            </a:pPr>
            <a:r>
              <a:rPr lang="en-US" sz="800" dirty="0">
                <a:solidFill>
                  <a:srgbClr val="D4D4D4"/>
                </a:solidFill>
                <a:latin typeface="Courier New" pitchFamily="34" charset="0"/>
                <a:ea typeface="Courier New" pitchFamily="34" charset="-122"/>
                <a:cs typeface="Courier New" pitchFamily="34" charset="-120"/>
              </a:rPr>
              <a:t>    .</a:t>
            </a:r>
            <a:r>
              <a:rPr lang="en-US" sz="800" dirty="0">
                <a:solidFill>
                  <a:srgbClr val="DCDCAA"/>
                </a:solidFill>
                <a:latin typeface="Courier New" pitchFamily="34" charset="0"/>
                <a:ea typeface="Courier New" pitchFamily="34" charset="-122"/>
                <a:cs typeface="Courier New" pitchFamily="34" charset="-120"/>
              </a:rPr>
              <a:t>ToListAsync</a:t>
            </a:r>
            <a:r>
              <a:rPr lang="en-US" sz="800" dirty="0">
                <a:solidFill>
                  <a:srgbClr val="D4D4D4"/>
                </a:solidFill>
                <a:latin typeface="Courier New" pitchFamily="34" charset="0"/>
                <a:ea typeface="Courier New" pitchFamily="34" charset="-122"/>
                <a:cs typeface="Courier New" pitchFamily="34" charset="-120"/>
              </a:rPr>
              <a:t>();</a:t>
            </a:r>
            <a:endParaRPr lang="en-US" sz="800" dirty="0"/>
          </a:p>
          <a:p>
            <a:pPr marL="0" indent="0">
              <a:lnSpc>
                <a:spcPts val="1056"/>
              </a:lnSpc>
              <a:buNone/>
            </a:pPr>
            <a:r>
              <a:rPr lang="en-US" sz="800" dirty="0">
                <a:solidFill>
                  <a:srgbClr val="6A9955"/>
                </a:solidFill>
                <a:latin typeface="Courier New" pitchFamily="34" charset="0"/>
                <a:ea typeface="Courier New" pitchFamily="34" charset="-122"/>
                <a:cs typeface="Courier New" pitchFamily="34" charset="-120"/>
              </a:rPr>
              <a:t>…</a:t>
            </a:r>
            <a:endParaRPr lang="en-US" sz="800" dirty="0"/>
          </a:p>
          <a:p>
            <a:pPr marL="0" indent="0">
              <a:lnSpc>
                <a:spcPts val="1056"/>
              </a:lnSpc>
              <a:buNone/>
            </a:pPr>
            <a:r>
              <a:rPr lang="en-US" sz="800" dirty="0">
                <a:solidFill>
                  <a:srgbClr val="D4D4D4"/>
                </a:solidFill>
                <a:latin typeface="Courier New" pitchFamily="34" charset="0"/>
                <a:ea typeface="Courier New" pitchFamily="34" charset="-122"/>
                <a:cs typeface="Courier New" pitchFamily="34" charset="-120"/>
              </a:rPr>
              <a:t>    </a:t>
            </a:r>
            <a:r>
              <a:rPr lang="en-US" sz="800" dirty="0">
                <a:solidFill>
                  <a:srgbClr val="569CD6"/>
                </a:solidFill>
                <a:latin typeface="Courier New" pitchFamily="34" charset="0"/>
                <a:ea typeface="Courier New" pitchFamily="34" charset="-122"/>
                <a:cs typeface="Courier New" pitchFamily="34" charset="-120"/>
              </a:rPr>
              <a:t>var</a:t>
            </a:r>
            <a:r>
              <a:rPr lang="en-US" sz="800" dirty="0">
                <a:solidFill>
                  <a:srgbClr val="D4D4D4"/>
                </a:solidFill>
                <a:latin typeface="Courier New" pitchFamily="34" charset="0"/>
                <a:ea typeface="Courier New" pitchFamily="34" charset="-122"/>
                <a:cs typeface="Courier New" pitchFamily="34" charset="-120"/>
              </a:rPr>
              <a:t> </a:t>
            </a:r>
            <a:r>
              <a:rPr lang="en-US" sz="800" dirty="0">
                <a:solidFill>
                  <a:srgbClr val="9CDCFE"/>
                </a:solidFill>
                <a:latin typeface="Courier New" pitchFamily="34" charset="0"/>
                <a:ea typeface="Courier New" pitchFamily="34" charset="-122"/>
                <a:cs typeface="Courier New" pitchFamily="34" charset="-120"/>
              </a:rPr>
              <a:t>missingSkillIds</a:t>
            </a:r>
            <a:r>
              <a:rPr lang="en-US" sz="800" dirty="0">
                <a:solidFill>
                  <a:srgbClr val="D4D4D4"/>
                </a:solidFill>
                <a:latin typeface="Courier New" pitchFamily="34" charset="0"/>
                <a:ea typeface="Courier New" pitchFamily="34" charset="-122"/>
                <a:cs typeface="Courier New" pitchFamily="34" charset="-120"/>
              </a:rPr>
              <a:t> = </a:t>
            </a:r>
            <a:r>
              <a:rPr lang="en-US" sz="800" dirty="0">
                <a:solidFill>
                  <a:srgbClr val="9CDCFE"/>
                </a:solidFill>
                <a:latin typeface="Courier New" pitchFamily="34" charset="0"/>
                <a:ea typeface="Courier New" pitchFamily="34" charset="-122"/>
                <a:cs typeface="Courier New" pitchFamily="34" charset="-120"/>
              </a:rPr>
              <a:t>requiredSkillIds</a:t>
            </a:r>
            <a:r>
              <a:rPr lang="en-US" sz="800" dirty="0">
                <a:solidFill>
                  <a:srgbClr val="D4D4D4"/>
                </a:solidFill>
                <a:latin typeface="Courier New" pitchFamily="34" charset="0"/>
                <a:ea typeface="Courier New" pitchFamily="34" charset="-122"/>
                <a:cs typeface="Courier New" pitchFamily="34" charset="-120"/>
              </a:rPr>
              <a:t>  </a:t>
            </a:r>
            <a:endParaRPr lang="en-US" sz="800" dirty="0"/>
          </a:p>
          <a:p>
            <a:pPr marL="0" indent="0">
              <a:lnSpc>
                <a:spcPts val="1056"/>
              </a:lnSpc>
              <a:buNone/>
            </a:pPr>
            <a:r>
              <a:rPr lang="en-US" sz="800" dirty="0">
                <a:solidFill>
                  <a:srgbClr val="D4D4D4"/>
                </a:solidFill>
                <a:latin typeface="Courier New" pitchFamily="34" charset="0"/>
                <a:ea typeface="Courier New" pitchFamily="34" charset="-122"/>
                <a:cs typeface="Courier New" pitchFamily="34" charset="-120"/>
              </a:rPr>
              <a:t>        .</a:t>
            </a:r>
            <a:r>
              <a:rPr lang="en-US" sz="800" dirty="0">
                <a:solidFill>
                  <a:srgbClr val="DCDCAA"/>
                </a:solidFill>
                <a:latin typeface="Courier New" pitchFamily="34" charset="0"/>
                <a:ea typeface="Courier New" pitchFamily="34" charset="-122"/>
                <a:cs typeface="Courier New" pitchFamily="34" charset="-120"/>
              </a:rPr>
              <a:t>Except</a:t>
            </a:r>
            <a:r>
              <a:rPr lang="en-US" sz="800" dirty="0">
                <a:solidFill>
                  <a:srgbClr val="D4D4D4"/>
                </a:solidFill>
                <a:latin typeface="Courier New" pitchFamily="34" charset="0"/>
                <a:ea typeface="Courier New" pitchFamily="34" charset="-122"/>
                <a:cs typeface="Courier New" pitchFamily="34" charset="-120"/>
              </a:rPr>
              <a:t>(</a:t>
            </a:r>
            <a:r>
              <a:rPr lang="en-US" sz="800" dirty="0">
                <a:solidFill>
                  <a:srgbClr val="9CDCFE"/>
                </a:solidFill>
                <a:latin typeface="Courier New" pitchFamily="34" charset="0"/>
                <a:ea typeface="Courier New" pitchFamily="34" charset="-122"/>
                <a:cs typeface="Courier New" pitchFamily="34" charset="-120"/>
              </a:rPr>
              <a:t>signedOffSkillIds</a:t>
            </a:r>
            <a:r>
              <a:rPr lang="en-US" sz="800" dirty="0">
                <a:solidFill>
                  <a:srgbClr val="D4D4D4"/>
                </a:solidFill>
                <a:latin typeface="Courier New" pitchFamily="34" charset="0"/>
                <a:ea typeface="Courier New" pitchFamily="34" charset="-122"/>
                <a:cs typeface="Courier New" pitchFamily="34" charset="-120"/>
              </a:rPr>
              <a:t>)</a:t>
            </a:r>
            <a:endParaRPr lang="en-US" sz="800" dirty="0"/>
          </a:p>
          <a:p>
            <a:pPr marL="0" indent="0">
              <a:lnSpc>
                <a:spcPts val="1056"/>
              </a:lnSpc>
              <a:buNone/>
            </a:pPr>
            <a:r>
              <a:rPr lang="en-US" sz="800" dirty="0">
                <a:solidFill>
                  <a:srgbClr val="D4D4D4"/>
                </a:solidFill>
                <a:latin typeface="Courier New" pitchFamily="34" charset="0"/>
                <a:ea typeface="Courier New" pitchFamily="34" charset="-122"/>
                <a:cs typeface="Courier New" pitchFamily="34" charset="-120"/>
              </a:rPr>
              <a:t>        .</a:t>
            </a:r>
            <a:r>
              <a:rPr lang="en-US" sz="800" dirty="0">
                <a:solidFill>
                  <a:srgbClr val="DCDCAA"/>
                </a:solidFill>
                <a:latin typeface="Courier New" pitchFamily="34" charset="0"/>
                <a:ea typeface="Courier New" pitchFamily="34" charset="-122"/>
                <a:cs typeface="Courier New" pitchFamily="34" charset="-120"/>
              </a:rPr>
              <a:t>ToList</a:t>
            </a:r>
            <a:r>
              <a:rPr lang="en-US" sz="800" dirty="0">
                <a:solidFill>
                  <a:srgbClr val="D4D4D4"/>
                </a:solidFill>
                <a:latin typeface="Courier New" pitchFamily="34" charset="0"/>
                <a:ea typeface="Courier New" pitchFamily="34" charset="-122"/>
                <a:cs typeface="Courier New" pitchFamily="34" charset="-120"/>
              </a:rPr>
              <a:t>();</a:t>
            </a:r>
            <a:endParaRPr lang="en-US" sz="800" dirty="0"/>
          </a:p>
          <a:p>
            <a:pPr marL="0" indent="0">
              <a:lnSpc>
                <a:spcPts val="1056"/>
              </a:lnSpc>
              <a:buNone/>
            </a:pPr>
            <a:r>
              <a:rPr lang="en-US" sz="800" dirty="0">
                <a:solidFill>
                  <a:srgbClr val="D4D4D4"/>
                </a:solidFill>
                <a:latin typeface="Courier New" pitchFamily="34" charset="0"/>
                <a:ea typeface="Courier New" pitchFamily="34" charset="-122"/>
                <a:cs typeface="Courier New" pitchFamily="34" charset="-120"/>
              </a:rPr>
              <a:t> </a:t>
            </a:r>
            <a:endParaRPr lang="en-US" sz="800" dirty="0"/>
          </a:p>
          <a:p>
            <a:pPr marL="0" indent="0">
              <a:lnSpc>
                <a:spcPts val="1056"/>
              </a:lnSpc>
              <a:buNone/>
            </a:pPr>
            <a:r>
              <a:rPr lang="en-US" sz="800" dirty="0">
                <a:solidFill>
                  <a:srgbClr val="D4D4D4"/>
                </a:solidFill>
                <a:latin typeface="Courier New" pitchFamily="34" charset="0"/>
                <a:ea typeface="Courier New" pitchFamily="34" charset="-122"/>
                <a:cs typeface="Courier New" pitchFamily="34" charset="-120"/>
              </a:rPr>
              <a:t>    </a:t>
            </a:r>
            <a:r>
              <a:rPr lang="en-US" sz="800" dirty="0">
                <a:solidFill>
                  <a:srgbClr val="C586C0"/>
                </a:solidFill>
                <a:latin typeface="Courier New" pitchFamily="34" charset="0"/>
                <a:ea typeface="Courier New" pitchFamily="34" charset="-122"/>
                <a:cs typeface="Courier New" pitchFamily="34" charset="-120"/>
              </a:rPr>
              <a:t>if</a:t>
            </a:r>
            <a:r>
              <a:rPr lang="en-US" sz="800" dirty="0">
                <a:solidFill>
                  <a:srgbClr val="D4D4D4"/>
                </a:solidFill>
                <a:latin typeface="Courier New" pitchFamily="34" charset="0"/>
                <a:ea typeface="Courier New" pitchFamily="34" charset="-122"/>
                <a:cs typeface="Courier New" pitchFamily="34" charset="-120"/>
              </a:rPr>
              <a:t> (</a:t>
            </a:r>
            <a:r>
              <a:rPr lang="en-US" sz="800" dirty="0">
                <a:solidFill>
                  <a:srgbClr val="9CDCFE"/>
                </a:solidFill>
                <a:latin typeface="Courier New" pitchFamily="34" charset="0"/>
                <a:ea typeface="Courier New" pitchFamily="34" charset="-122"/>
                <a:cs typeface="Courier New" pitchFamily="34" charset="-120"/>
              </a:rPr>
              <a:t>missingSkillIds</a:t>
            </a:r>
            <a:r>
              <a:rPr lang="en-US" sz="800" dirty="0">
                <a:solidFill>
                  <a:srgbClr val="D4D4D4"/>
                </a:solidFill>
                <a:latin typeface="Courier New" pitchFamily="34" charset="0"/>
                <a:ea typeface="Courier New" pitchFamily="34" charset="-122"/>
                <a:cs typeface="Courier New" pitchFamily="34" charset="-120"/>
              </a:rPr>
              <a:t>.</a:t>
            </a:r>
            <a:r>
              <a:rPr lang="en-US" sz="800" dirty="0">
                <a:solidFill>
                  <a:srgbClr val="4EC9B0"/>
                </a:solidFill>
                <a:latin typeface="Courier New" pitchFamily="34" charset="0"/>
                <a:ea typeface="Courier New" pitchFamily="34" charset="-122"/>
                <a:cs typeface="Courier New" pitchFamily="34" charset="-120"/>
              </a:rPr>
              <a:t>Count</a:t>
            </a:r>
            <a:r>
              <a:rPr lang="en-US" sz="800" dirty="0">
                <a:solidFill>
                  <a:srgbClr val="D4D4D4"/>
                </a:solidFill>
                <a:latin typeface="Courier New" pitchFamily="34" charset="0"/>
                <a:ea typeface="Courier New" pitchFamily="34" charset="-122"/>
                <a:cs typeface="Courier New" pitchFamily="34" charset="-120"/>
              </a:rPr>
              <a:t> &gt; </a:t>
            </a:r>
            <a:r>
              <a:rPr lang="en-US" sz="800" dirty="0">
                <a:solidFill>
                  <a:srgbClr val="B5CEA8"/>
                </a:solidFill>
                <a:latin typeface="Courier New" pitchFamily="34" charset="0"/>
                <a:ea typeface="Courier New" pitchFamily="34" charset="-122"/>
                <a:cs typeface="Courier New" pitchFamily="34" charset="-120"/>
              </a:rPr>
              <a:t>0</a:t>
            </a:r>
            <a:r>
              <a:rPr lang="en-US" sz="800" dirty="0">
                <a:solidFill>
                  <a:srgbClr val="D4D4D4"/>
                </a:solidFill>
                <a:latin typeface="Courier New" pitchFamily="34" charset="0"/>
                <a:ea typeface="Courier New" pitchFamily="34" charset="-122"/>
                <a:cs typeface="Courier New" pitchFamily="34" charset="-120"/>
              </a:rPr>
              <a:t>)</a:t>
            </a:r>
            <a:endParaRPr lang="en-US" sz="800" dirty="0"/>
          </a:p>
          <a:p>
            <a:pPr marL="0" indent="0">
              <a:lnSpc>
                <a:spcPts val="1056"/>
              </a:lnSpc>
              <a:buNone/>
            </a:pPr>
            <a:r>
              <a:rPr lang="en-US" sz="800" dirty="0">
                <a:solidFill>
                  <a:srgbClr val="D4D4D4"/>
                </a:solidFill>
                <a:latin typeface="Courier New" pitchFamily="34" charset="0"/>
                <a:ea typeface="Courier New" pitchFamily="34" charset="-122"/>
                <a:cs typeface="Courier New" pitchFamily="34" charset="-120"/>
              </a:rPr>
              <a:t>    {</a:t>
            </a:r>
            <a:endParaRPr lang="en-US" sz="800" dirty="0"/>
          </a:p>
          <a:p>
            <a:pPr marL="0" indent="0">
              <a:lnSpc>
                <a:spcPts val="1056"/>
              </a:lnSpc>
              <a:buNone/>
            </a:pPr>
            <a:r>
              <a:rPr lang="en-US" sz="800" dirty="0">
                <a:solidFill>
                  <a:srgbClr val="D4D4D4"/>
                </a:solidFill>
                <a:latin typeface="Courier New" pitchFamily="34" charset="0"/>
                <a:ea typeface="Courier New" pitchFamily="34" charset="-122"/>
                <a:cs typeface="Courier New" pitchFamily="34" charset="-120"/>
              </a:rPr>
              <a:t>        </a:t>
            </a:r>
            <a:r>
              <a:rPr lang="en-US" sz="800" dirty="0">
                <a:solidFill>
                  <a:srgbClr val="C586C0"/>
                </a:solidFill>
                <a:latin typeface="Courier New" pitchFamily="34" charset="0"/>
                <a:ea typeface="Courier New" pitchFamily="34" charset="-122"/>
                <a:cs typeface="Courier New" pitchFamily="34" charset="-120"/>
              </a:rPr>
              <a:t>throw</a:t>
            </a:r>
            <a:r>
              <a:rPr lang="en-US" sz="800" dirty="0">
                <a:solidFill>
                  <a:srgbClr val="D4D4D4"/>
                </a:solidFill>
                <a:latin typeface="Courier New" pitchFamily="34" charset="0"/>
                <a:ea typeface="Courier New" pitchFamily="34" charset="-122"/>
                <a:cs typeface="Courier New" pitchFamily="34" charset="-120"/>
              </a:rPr>
              <a:t> </a:t>
            </a:r>
            <a:r>
              <a:rPr lang="en-US" sz="800" dirty="0">
                <a:solidFill>
                  <a:srgbClr val="569CD6"/>
                </a:solidFill>
                <a:latin typeface="Courier New" pitchFamily="34" charset="0"/>
                <a:ea typeface="Courier New" pitchFamily="34" charset="-122"/>
                <a:cs typeface="Courier New" pitchFamily="34" charset="-120"/>
              </a:rPr>
              <a:t>new</a:t>
            </a:r>
            <a:r>
              <a:rPr lang="en-US" sz="800" dirty="0">
                <a:solidFill>
                  <a:srgbClr val="D4D4D4"/>
                </a:solidFill>
                <a:latin typeface="Courier New" pitchFamily="34" charset="0"/>
                <a:ea typeface="Courier New" pitchFamily="34" charset="-122"/>
                <a:cs typeface="Courier New" pitchFamily="34" charset="-120"/>
              </a:rPr>
              <a:t> </a:t>
            </a:r>
            <a:r>
              <a:rPr lang="en-US" sz="800" dirty="0">
                <a:solidFill>
                  <a:srgbClr val="DCDCAA"/>
                </a:solidFill>
                <a:latin typeface="Courier New" pitchFamily="34" charset="0"/>
                <a:ea typeface="Courier New" pitchFamily="34" charset="-122"/>
                <a:cs typeface="Courier New" pitchFamily="34" charset="-120"/>
              </a:rPr>
              <a:t>InvalidOperationException</a:t>
            </a:r>
            <a:r>
              <a:rPr lang="en-US" sz="800" dirty="0">
                <a:solidFill>
                  <a:srgbClr val="D4D4D4"/>
                </a:solidFill>
                <a:latin typeface="Courier New" pitchFamily="34" charset="0"/>
                <a:ea typeface="Courier New" pitchFamily="34" charset="-122"/>
                <a:cs typeface="Courier New" pitchFamily="34" charset="-120"/>
              </a:rPr>
              <a:t>(</a:t>
            </a:r>
            <a:endParaRPr lang="en-US" sz="800" dirty="0"/>
          </a:p>
          <a:p>
            <a:pPr marL="0" indent="0">
              <a:lnSpc>
                <a:spcPts val="1056"/>
              </a:lnSpc>
              <a:buNone/>
            </a:pPr>
            <a:r>
              <a:rPr lang="en-US" sz="800" dirty="0">
                <a:solidFill>
                  <a:srgbClr val="D4D4D4"/>
                </a:solidFill>
                <a:latin typeface="Courier New" pitchFamily="34" charset="0"/>
                <a:ea typeface="Courier New" pitchFamily="34" charset="-122"/>
                <a:cs typeface="Courier New" pitchFamily="34" charset="-120"/>
              </a:rPr>
              <a:t>            </a:t>
            </a:r>
            <a:r>
              <a:rPr lang="en-US" sz="800" dirty="0">
                <a:solidFill>
                  <a:srgbClr val="CE9178"/>
                </a:solidFill>
                <a:latin typeface="Courier New" pitchFamily="34" charset="0"/>
                <a:ea typeface="Courier New" pitchFamily="34" charset="-122"/>
                <a:cs typeface="Courier New" pitchFamily="34" charset="-120"/>
              </a:rPr>
              <a:t>"The volunteer does not have all required skills for this shift."</a:t>
            </a:r>
            <a:endParaRPr lang="en-US" sz="800" dirty="0"/>
          </a:p>
          <a:p>
            <a:pPr marL="0" indent="0">
              <a:lnSpc>
                <a:spcPts val="1056"/>
              </a:lnSpc>
              <a:buNone/>
            </a:pPr>
            <a:r>
              <a:rPr lang="en-US" sz="800" dirty="0">
                <a:solidFill>
                  <a:srgbClr val="D4D4D4"/>
                </a:solidFill>
                <a:latin typeface="Courier New" pitchFamily="34" charset="0"/>
                <a:ea typeface="Courier New" pitchFamily="34" charset="-122"/>
                <a:cs typeface="Courier New" pitchFamily="34" charset="-120"/>
              </a:rPr>
              <a:t>        );</a:t>
            </a:r>
            <a:endParaRPr lang="en-US" sz="800" dirty="0"/>
          </a:p>
        </p:txBody>
      </p:sp>
    </p:spTree>
    <p:extLst>
      <p:ext uri="{BB962C8B-B14F-4D97-AF65-F5344CB8AC3E}">
        <p14:creationId xmlns:p14="http://schemas.microsoft.com/office/powerpoint/2010/main" val="773162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0B1D33"/>
        </a:solidFill>
        <a:effectLst/>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F6AE2D"/>
          </a:solidFill>
          <a:ln w="12700">
            <a:solidFill>
              <a:srgbClr val="F6AE2D"/>
            </a:solidFill>
            <a:prstDash val="solid"/>
          </a:ln>
        </p:spPr>
        <p:txBody>
          <a:bodyPr/>
          <a:lstStyle/>
          <a:p>
            <a:endParaRPr lang="en-ZA"/>
          </a:p>
        </p:txBody>
      </p:sp>
      <p:sp>
        <p:nvSpPr>
          <p:cNvPr id="3" name="Text 1"/>
          <p:cNvSpPr txBox="1"/>
          <p:nvPr/>
        </p:nvSpPr>
        <p:spPr>
          <a:xfrm>
            <a:off x="548640" y="384048"/>
            <a:ext cx="8229600" cy="274320"/>
          </a:xfrm>
          <a:prstGeom prst="rect">
            <a:avLst/>
          </a:prstGeom>
          <a:noFill/>
          <a:ln/>
        </p:spPr>
        <p:txBody>
          <a:bodyPr wrap="square" lIns="0" tIns="0" rIns="0" bIns="0" rtlCol="0" anchor="ctr"/>
          <a:lstStyle/>
          <a:p>
            <a:pPr marL="0" indent="0">
              <a:buNone/>
            </a:pPr>
            <a:r>
              <a:rPr lang="en-US" sz="1100" b="1" kern="0" spc="400" dirty="0">
                <a:solidFill>
                  <a:srgbClr val="F6AE2D"/>
                </a:solidFill>
                <a:latin typeface="Calibri" pitchFamily="34" charset="0"/>
                <a:ea typeface="Calibri" pitchFamily="34" charset="-122"/>
                <a:cs typeface="Calibri" pitchFamily="34" charset="-120"/>
              </a:rPr>
              <a:t>ROSTER RULES</a:t>
            </a:r>
            <a:endParaRPr lang="en-US" sz="1100" dirty="0"/>
          </a:p>
        </p:txBody>
      </p:sp>
      <p:sp>
        <p:nvSpPr>
          <p:cNvPr id="4" name="Text 2"/>
          <p:cNvSpPr txBox="1"/>
          <p:nvPr/>
        </p:nvSpPr>
        <p:spPr>
          <a:xfrm>
            <a:off x="548640" y="658368"/>
            <a:ext cx="11094415" cy="566928"/>
          </a:xfrm>
          <a:prstGeom prst="rect">
            <a:avLst/>
          </a:prstGeom>
          <a:noFill/>
          <a:ln/>
        </p:spPr>
        <p:txBody>
          <a:bodyPr wrap="square" lIns="0" tIns="0" rIns="0" bIns="0"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Protecting volunteers from overwork</a:t>
            </a:r>
            <a:endParaRPr lang="en-US" sz="3000" dirty="0"/>
          </a:p>
        </p:txBody>
      </p:sp>
      <p:sp>
        <p:nvSpPr>
          <p:cNvPr id="5" name="Shape 3"/>
          <p:cNvSpPr/>
          <p:nvPr/>
        </p:nvSpPr>
        <p:spPr>
          <a:xfrm>
            <a:off x="548640" y="1463040"/>
            <a:ext cx="2072579" cy="2148840"/>
          </a:xfrm>
          <a:prstGeom prst="roundRect">
            <a:avLst>
              <a:gd name="adj" fmla="val 4412"/>
            </a:avLst>
          </a:prstGeom>
          <a:solidFill>
            <a:srgbClr val="13304F"/>
          </a:solidFill>
          <a:ln w="12700">
            <a:solidFill>
              <a:srgbClr val="13304F"/>
            </a:solidFill>
            <a:prstDash val="solid"/>
          </a:ln>
        </p:spPr>
        <p:txBody>
          <a:bodyPr/>
          <a:lstStyle/>
          <a:p>
            <a:endParaRPr lang="en-ZA"/>
          </a:p>
        </p:txBody>
      </p:sp>
      <p:sp>
        <p:nvSpPr>
          <p:cNvPr id="6" name="Shape 4"/>
          <p:cNvSpPr/>
          <p:nvPr/>
        </p:nvSpPr>
        <p:spPr>
          <a:xfrm>
            <a:off x="777240" y="1719072"/>
            <a:ext cx="457200" cy="54864"/>
          </a:xfrm>
          <a:prstGeom prst="rect">
            <a:avLst/>
          </a:prstGeom>
          <a:solidFill>
            <a:srgbClr val="F6AE2D"/>
          </a:solidFill>
          <a:ln w="12700">
            <a:solidFill>
              <a:srgbClr val="F6AE2D"/>
            </a:solidFill>
            <a:prstDash val="solid"/>
          </a:ln>
        </p:spPr>
        <p:txBody>
          <a:bodyPr/>
          <a:lstStyle/>
          <a:p>
            <a:endParaRPr lang="en-ZA"/>
          </a:p>
        </p:txBody>
      </p:sp>
      <p:sp>
        <p:nvSpPr>
          <p:cNvPr id="7" name="Text 5"/>
          <p:cNvSpPr txBox="1"/>
          <p:nvPr/>
        </p:nvSpPr>
        <p:spPr>
          <a:xfrm>
            <a:off x="777240" y="1847088"/>
            <a:ext cx="1706819" cy="822960"/>
          </a:xfrm>
          <a:prstGeom prst="rect">
            <a:avLst/>
          </a:prstGeom>
          <a:noFill/>
          <a:ln/>
        </p:spPr>
        <p:txBody>
          <a:bodyPr wrap="square" lIns="0" tIns="0" rIns="0" bIns="0" rtlCol="0" anchor="ctr"/>
          <a:lstStyle/>
          <a:p>
            <a:pPr marL="0" indent="0" algn="l">
              <a:spcAft>
                <a:spcPts val="300"/>
              </a:spcAft>
              <a:buNone/>
            </a:pPr>
            <a:r>
              <a:rPr lang="en-US" sz="4400" b="1" dirty="0">
                <a:solidFill>
                  <a:srgbClr val="F6AE2D"/>
                </a:solidFill>
                <a:latin typeface="Calibri" pitchFamily="34" charset="0"/>
                <a:ea typeface="Calibri" pitchFamily="34" charset="-122"/>
                <a:cs typeface="Calibri" pitchFamily="34" charset="-120"/>
              </a:rPr>
              <a:t>5</a:t>
            </a:r>
            <a:endParaRPr lang="en-US" sz="4400" dirty="0"/>
          </a:p>
        </p:txBody>
      </p:sp>
      <p:sp>
        <p:nvSpPr>
          <p:cNvPr id="8" name="Text 6"/>
          <p:cNvSpPr txBox="1"/>
          <p:nvPr/>
        </p:nvSpPr>
        <p:spPr>
          <a:xfrm>
            <a:off x="777240" y="2697480"/>
            <a:ext cx="1661099" cy="822960"/>
          </a:xfrm>
          <a:prstGeom prst="rect">
            <a:avLst/>
          </a:prstGeom>
          <a:noFill/>
          <a:ln/>
        </p:spPr>
        <p:txBody>
          <a:bodyPr wrap="square" lIns="0" tIns="0" rIns="0" bIns="0" rtlCol="0" anchor="t"/>
          <a:lstStyle/>
          <a:p>
            <a:pPr marL="0" indent="0" algn="l">
              <a:spcAft>
                <a:spcPts val="300"/>
              </a:spcAft>
              <a:buNone/>
            </a:pPr>
            <a:r>
              <a:rPr lang="en-US" sz="1400" b="1" dirty="0">
                <a:solidFill>
                  <a:srgbClr val="FFFFFF"/>
                </a:solidFill>
                <a:latin typeface="Calibri" pitchFamily="34" charset="0"/>
                <a:ea typeface="Calibri" pitchFamily="34" charset="-122"/>
                <a:cs typeface="Calibri" pitchFamily="34" charset="-120"/>
              </a:rPr>
              <a:t>days</a:t>
            </a:r>
            <a:endParaRPr lang="en-US" sz="1300" dirty="0"/>
          </a:p>
          <a:p>
            <a:pPr marL="0" indent="0" algn="l">
              <a:spcAft>
                <a:spcPts val="300"/>
              </a:spcAft>
              <a:buNone/>
            </a:pPr>
            <a:r>
              <a:rPr lang="en-US" sz="1200" dirty="0">
                <a:solidFill>
                  <a:srgbClr val="93ACC6"/>
                </a:solidFill>
                <a:latin typeface="Calibri" pitchFamily="34" charset="0"/>
                <a:ea typeface="Calibri" pitchFamily="34" charset="-122"/>
                <a:cs typeface="Calibri" pitchFamily="34" charset="-120"/>
              </a:rPr>
              <a:t>a week</a:t>
            </a:r>
            <a:endParaRPr lang="en-US" sz="1300" dirty="0"/>
          </a:p>
        </p:txBody>
      </p:sp>
      <p:sp>
        <p:nvSpPr>
          <p:cNvPr id="9" name="Shape 7"/>
          <p:cNvSpPr/>
          <p:nvPr/>
        </p:nvSpPr>
        <p:spPr>
          <a:xfrm>
            <a:off x="2804099" y="1463040"/>
            <a:ext cx="2072579" cy="2148840"/>
          </a:xfrm>
          <a:prstGeom prst="roundRect">
            <a:avLst>
              <a:gd name="adj" fmla="val 4412"/>
            </a:avLst>
          </a:prstGeom>
          <a:solidFill>
            <a:srgbClr val="13304F"/>
          </a:solidFill>
          <a:ln w="12700">
            <a:solidFill>
              <a:srgbClr val="13304F"/>
            </a:solidFill>
            <a:prstDash val="solid"/>
          </a:ln>
        </p:spPr>
        <p:txBody>
          <a:bodyPr/>
          <a:lstStyle/>
          <a:p>
            <a:endParaRPr lang="en-ZA"/>
          </a:p>
        </p:txBody>
      </p:sp>
      <p:sp>
        <p:nvSpPr>
          <p:cNvPr id="10" name="Shape 8"/>
          <p:cNvSpPr/>
          <p:nvPr/>
        </p:nvSpPr>
        <p:spPr>
          <a:xfrm>
            <a:off x="3032699" y="1719072"/>
            <a:ext cx="457200" cy="54864"/>
          </a:xfrm>
          <a:prstGeom prst="rect">
            <a:avLst/>
          </a:prstGeom>
          <a:solidFill>
            <a:srgbClr val="5ED3C6"/>
          </a:solidFill>
          <a:ln w="12700">
            <a:solidFill>
              <a:srgbClr val="5ED3C6"/>
            </a:solidFill>
            <a:prstDash val="solid"/>
          </a:ln>
        </p:spPr>
        <p:txBody>
          <a:bodyPr/>
          <a:lstStyle/>
          <a:p>
            <a:endParaRPr lang="en-ZA"/>
          </a:p>
        </p:txBody>
      </p:sp>
      <p:sp>
        <p:nvSpPr>
          <p:cNvPr id="11" name="Text 9"/>
          <p:cNvSpPr txBox="1"/>
          <p:nvPr/>
        </p:nvSpPr>
        <p:spPr>
          <a:xfrm>
            <a:off x="3032699" y="1847088"/>
            <a:ext cx="1706819" cy="822960"/>
          </a:xfrm>
          <a:prstGeom prst="rect">
            <a:avLst/>
          </a:prstGeom>
          <a:noFill/>
          <a:ln/>
        </p:spPr>
        <p:txBody>
          <a:bodyPr wrap="square" lIns="0" tIns="0" rIns="0" bIns="0" rtlCol="0" anchor="ctr"/>
          <a:lstStyle/>
          <a:p>
            <a:pPr marL="0" indent="0" algn="l">
              <a:spcAft>
                <a:spcPts val="300"/>
              </a:spcAft>
              <a:buNone/>
            </a:pPr>
            <a:r>
              <a:rPr lang="en-US" sz="4400" b="1" dirty="0">
                <a:solidFill>
                  <a:srgbClr val="5ED3C6"/>
                </a:solidFill>
                <a:latin typeface="Calibri" pitchFamily="34" charset="0"/>
                <a:ea typeface="Calibri" pitchFamily="34" charset="-122"/>
                <a:cs typeface="Calibri" pitchFamily="34" charset="-120"/>
              </a:rPr>
              <a:t>4</a:t>
            </a:r>
            <a:endParaRPr lang="en-US" sz="4400" dirty="0"/>
          </a:p>
        </p:txBody>
      </p:sp>
      <p:sp>
        <p:nvSpPr>
          <p:cNvPr id="12" name="Text 10"/>
          <p:cNvSpPr txBox="1"/>
          <p:nvPr/>
        </p:nvSpPr>
        <p:spPr>
          <a:xfrm>
            <a:off x="3032699" y="2697480"/>
            <a:ext cx="1661099" cy="822960"/>
          </a:xfrm>
          <a:prstGeom prst="rect">
            <a:avLst/>
          </a:prstGeom>
          <a:noFill/>
          <a:ln/>
        </p:spPr>
        <p:txBody>
          <a:bodyPr wrap="square" lIns="0" tIns="0" rIns="0" bIns="0" rtlCol="0" anchor="t"/>
          <a:lstStyle/>
          <a:p>
            <a:pPr marL="0" indent="0" algn="l">
              <a:spcAft>
                <a:spcPts val="300"/>
              </a:spcAft>
              <a:buNone/>
            </a:pPr>
            <a:r>
              <a:rPr lang="en-US" sz="1400" b="1" dirty="0">
                <a:solidFill>
                  <a:srgbClr val="FFFFFF"/>
                </a:solidFill>
                <a:latin typeface="Calibri" pitchFamily="34" charset="0"/>
                <a:ea typeface="Calibri" pitchFamily="34" charset="-122"/>
                <a:cs typeface="Calibri" pitchFamily="34" charset="-120"/>
              </a:rPr>
              <a:t>days</a:t>
            </a:r>
            <a:endParaRPr lang="en-US" sz="1300" dirty="0"/>
          </a:p>
          <a:p>
            <a:pPr marL="0" indent="0" algn="l">
              <a:spcAft>
                <a:spcPts val="300"/>
              </a:spcAft>
              <a:buNone/>
            </a:pPr>
            <a:r>
              <a:rPr lang="en-US" sz="1200" dirty="0">
                <a:solidFill>
                  <a:srgbClr val="93ACC6"/>
                </a:solidFill>
                <a:latin typeface="Calibri" pitchFamily="34" charset="0"/>
                <a:ea typeface="Calibri" pitchFamily="34" charset="-122"/>
                <a:cs typeface="Calibri" pitchFamily="34" charset="-120"/>
              </a:rPr>
              <a:t>in a row</a:t>
            </a:r>
            <a:endParaRPr lang="en-US" sz="1300" dirty="0"/>
          </a:p>
        </p:txBody>
      </p:sp>
      <p:sp>
        <p:nvSpPr>
          <p:cNvPr id="13" name="Shape 11"/>
          <p:cNvSpPr/>
          <p:nvPr/>
        </p:nvSpPr>
        <p:spPr>
          <a:xfrm>
            <a:off x="5059558" y="1463040"/>
            <a:ext cx="2072579" cy="2148840"/>
          </a:xfrm>
          <a:prstGeom prst="roundRect">
            <a:avLst>
              <a:gd name="adj" fmla="val 4412"/>
            </a:avLst>
          </a:prstGeom>
          <a:solidFill>
            <a:srgbClr val="13304F"/>
          </a:solidFill>
          <a:ln w="12700">
            <a:solidFill>
              <a:srgbClr val="13304F"/>
            </a:solidFill>
            <a:prstDash val="solid"/>
          </a:ln>
        </p:spPr>
        <p:txBody>
          <a:bodyPr/>
          <a:lstStyle/>
          <a:p>
            <a:endParaRPr lang="en-ZA"/>
          </a:p>
        </p:txBody>
      </p:sp>
      <p:sp>
        <p:nvSpPr>
          <p:cNvPr id="14" name="Shape 12"/>
          <p:cNvSpPr/>
          <p:nvPr/>
        </p:nvSpPr>
        <p:spPr>
          <a:xfrm>
            <a:off x="5288158" y="1719072"/>
            <a:ext cx="457200" cy="54864"/>
          </a:xfrm>
          <a:prstGeom prst="rect">
            <a:avLst/>
          </a:prstGeom>
          <a:solidFill>
            <a:srgbClr val="F07167"/>
          </a:solidFill>
          <a:ln w="12700">
            <a:solidFill>
              <a:srgbClr val="F07167"/>
            </a:solidFill>
            <a:prstDash val="solid"/>
          </a:ln>
        </p:spPr>
        <p:txBody>
          <a:bodyPr/>
          <a:lstStyle/>
          <a:p>
            <a:endParaRPr lang="en-ZA"/>
          </a:p>
        </p:txBody>
      </p:sp>
      <p:sp>
        <p:nvSpPr>
          <p:cNvPr id="15" name="Text 13"/>
          <p:cNvSpPr txBox="1"/>
          <p:nvPr/>
        </p:nvSpPr>
        <p:spPr>
          <a:xfrm>
            <a:off x="5288158" y="1847088"/>
            <a:ext cx="1706819" cy="822960"/>
          </a:xfrm>
          <a:prstGeom prst="rect">
            <a:avLst/>
          </a:prstGeom>
          <a:noFill/>
          <a:ln/>
        </p:spPr>
        <p:txBody>
          <a:bodyPr wrap="square" lIns="0" tIns="0" rIns="0" bIns="0" rtlCol="0" anchor="ctr"/>
          <a:lstStyle/>
          <a:p>
            <a:pPr marL="0" indent="0" algn="l">
              <a:spcAft>
                <a:spcPts val="300"/>
              </a:spcAft>
              <a:buNone/>
            </a:pPr>
            <a:r>
              <a:rPr lang="en-US" sz="4400" b="1" dirty="0">
                <a:solidFill>
                  <a:srgbClr val="F07167"/>
                </a:solidFill>
                <a:latin typeface="Calibri" pitchFamily="34" charset="0"/>
                <a:ea typeface="Calibri" pitchFamily="34" charset="-122"/>
                <a:cs typeface="Calibri" pitchFamily="34" charset="-120"/>
              </a:rPr>
              <a:t>40</a:t>
            </a:r>
            <a:endParaRPr lang="en-US" sz="4400" dirty="0"/>
          </a:p>
        </p:txBody>
      </p:sp>
      <p:sp>
        <p:nvSpPr>
          <p:cNvPr id="16" name="Text 14"/>
          <p:cNvSpPr txBox="1"/>
          <p:nvPr/>
        </p:nvSpPr>
        <p:spPr>
          <a:xfrm>
            <a:off x="5288158" y="2697480"/>
            <a:ext cx="1661099" cy="822960"/>
          </a:xfrm>
          <a:prstGeom prst="rect">
            <a:avLst/>
          </a:prstGeom>
          <a:noFill/>
          <a:ln/>
        </p:spPr>
        <p:txBody>
          <a:bodyPr wrap="square" lIns="0" tIns="0" rIns="0" bIns="0" rtlCol="0" anchor="t"/>
          <a:lstStyle/>
          <a:p>
            <a:pPr marL="0" indent="0" algn="l">
              <a:spcAft>
                <a:spcPts val="300"/>
              </a:spcAft>
              <a:buNone/>
            </a:pPr>
            <a:r>
              <a:rPr lang="en-US" sz="1400" b="1" dirty="0">
                <a:solidFill>
                  <a:srgbClr val="FFFFFF"/>
                </a:solidFill>
                <a:latin typeface="Calibri" pitchFamily="34" charset="0"/>
                <a:ea typeface="Calibri" pitchFamily="34" charset="-122"/>
                <a:cs typeface="Calibri" pitchFamily="34" charset="-120"/>
              </a:rPr>
              <a:t>hours</a:t>
            </a:r>
            <a:endParaRPr lang="en-US" sz="1300" dirty="0"/>
          </a:p>
          <a:p>
            <a:pPr marL="0" indent="0" algn="l">
              <a:spcAft>
                <a:spcPts val="300"/>
              </a:spcAft>
              <a:buNone/>
            </a:pPr>
            <a:r>
              <a:rPr lang="en-US" sz="1200" dirty="0">
                <a:solidFill>
                  <a:srgbClr val="93ACC6"/>
                </a:solidFill>
                <a:latin typeface="Calibri" pitchFamily="34" charset="0"/>
                <a:ea typeface="Calibri" pitchFamily="34" charset="-122"/>
                <a:cs typeface="Calibri" pitchFamily="34" charset="-120"/>
              </a:rPr>
              <a:t>a week</a:t>
            </a:r>
            <a:endParaRPr lang="en-US" sz="1300" dirty="0"/>
          </a:p>
        </p:txBody>
      </p:sp>
      <p:sp>
        <p:nvSpPr>
          <p:cNvPr id="17" name="Shape 15"/>
          <p:cNvSpPr/>
          <p:nvPr/>
        </p:nvSpPr>
        <p:spPr>
          <a:xfrm>
            <a:off x="7315017" y="1463040"/>
            <a:ext cx="2072579" cy="2148840"/>
          </a:xfrm>
          <a:prstGeom prst="roundRect">
            <a:avLst>
              <a:gd name="adj" fmla="val 4412"/>
            </a:avLst>
          </a:prstGeom>
          <a:solidFill>
            <a:srgbClr val="13304F"/>
          </a:solidFill>
          <a:ln w="12700">
            <a:solidFill>
              <a:srgbClr val="13304F"/>
            </a:solidFill>
            <a:prstDash val="solid"/>
          </a:ln>
        </p:spPr>
        <p:txBody>
          <a:bodyPr/>
          <a:lstStyle/>
          <a:p>
            <a:endParaRPr lang="en-ZA"/>
          </a:p>
        </p:txBody>
      </p:sp>
      <p:sp>
        <p:nvSpPr>
          <p:cNvPr id="18" name="Shape 16"/>
          <p:cNvSpPr/>
          <p:nvPr/>
        </p:nvSpPr>
        <p:spPr>
          <a:xfrm>
            <a:off x="7543617" y="1719072"/>
            <a:ext cx="457200" cy="54864"/>
          </a:xfrm>
          <a:prstGeom prst="rect">
            <a:avLst/>
          </a:prstGeom>
          <a:solidFill>
            <a:srgbClr val="B39DDB"/>
          </a:solidFill>
          <a:ln w="12700">
            <a:solidFill>
              <a:srgbClr val="B39DDB"/>
            </a:solidFill>
            <a:prstDash val="solid"/>
          </a:ln>
        </p:spPr>
        <p:txBody>
          <a:bodyPr/>
          <a:lstStyle/>
          <a:p>
            <a:endParaRPr lang="en-ZA"/>
          </a:p>
        </p:txBody>
      </p:sp>
      <p:sp>
        <p:nvSpPr>
          <p:cNvPr id="19" name="Text 17"/>
          <p:cNvSpPr txBox="1"/>
          <p:nvPr/>
        </p:nvSpPr>
        <p:spPr>
          <a:xfrm>
            <a:off x="7543617" y="1847088"/>
            <a:ext cx="1706819" cy="822960"/>
          </a:xfrm>
          <a:prstGeom prst="rect">
            <a:avLst/>
          </a:prstGeom>
          <a:noFill/>
          <a:ln/>
        </p:spPr>
        <p:txBody>
          <a:bodyPr wrap="square" lIns="0" tIns="0" rIns="0" bIns="0" rtlCol="0" anchor="ctr"/>
          <a:lstStyle/>
          <a:p>
            <a:pPr marL="0" indent="0" algn="l">
              <a:spcAft>
                <a:spcPts val="300"/>
              </a:spcAft>
              <a:buNone/>
            </a:pPr>
            <a:r>
              <a:rPr lang="en-US" sz="4400" b="1" dirty="0">
                <a:solidFill>
                  <a:srgbClr val="B39DDB"/>
                </a:solidFill>
                <a:latin typeface="Calibri" pitchFamily="34" charset="0"/>
                <a:ea typeface="Calibri" pitchFamily="34" charset="-122"/>
                <a:cs typeface="Calibri" pitchFamily="34" charset="-120"/>
              </a:rPr>
              <a:t>1</a:t>
            </a:r>
            <a:endParaRPr lang="en-US" sz="4400" dirty="0"/>
          </a:p>
        </p:txBody>
      </p:sp>
      <p:sp>
        <p:nvSpPr>
          <p:cNvPr id="20" name="Text 18"/>
          <p:cNvSpPr txBox="1"/>
          <p:nvPr/>
        </p:nvSpPr>
        <p:spPr>
          <a:xfrm>
            <a:off x="7543617" y="2697480"/>
            <a:ext cx="1661099" cy="822960"/>
          </a:xfrm>
          <a:prstGeom prst="rect">
            <a:avLst/>
          </a:prstGeom>
          <a:noFill/>
          <a:ln/>
        </p:spPr>
        <p:txBody>
          <a:bodyPr wrap="square" lIns="0" tIns="0" rIns="0" bIns="0" rtlCol="0" anchor="t"/>
          <a:lstStyle/>
          <a:p>
            <a:pPr marL="0" indent="0" algn="l">
              <a:spcAft>
                <a:spcPts val="300"/>
              </a:spcAft>
              <a:buNone/>
            </a:pPr>
            <a:r>
              <a:rPr lang="en-US" sz="1400" b="1" dirty="0">
                <a:solidFill>
                  <a:srgbClr val="FFFFFF"/>
                </a:solidFill>
                <a:latin typeface="Calibri" pitchFamily="34" charset="0"/>
                <a:ea typeface="Calibri" pitchFamily="34" charset="-122"/>
                <a:cs typeface="Calibri" pitchFamily="34" charset="-120"/>
              </a:rPr>
              <a:t>volunteer</a:t>
            </a:r>
            <a:endParaRPr lang="en-US" sz="1300" dirty="0"/>
          </a:p>
          <a:p>
            <a:pPr marL="0" indent="0" algn="l">
              <a:spcAft>
                <a:spcPts val="300"/>
              </a:spcAft>
              <a:buNone/>
            </a:pPr>
            <a:r>
              <a:rPr lang="en-US" sz="1200" dirty="0">
                <a:solidFill>
                  <a:srgbClr val="93ACC6"/>
                </a:solidFill>
                <a:latin typeface="Calibri" pitchFamily="34" charset="0"/>
                <a:ea typeface="Calibri" pitchFamily="34" charset="-122"/>
                <a:cs typeface="Calibri" pitchFamily="34" charset="-120"/>
              </a:rPr>
              <a:t>per quarantine shift</a:t>
            </a:r>
            <a:endParaRPr lang="en-US" sz="1300" dirty="0"/>
          </a:p>
        </p:txBody>
      </p:sp>
      <p:sp>
        <p:nvSpPr>
          <p:cNvPr id="21" name="Shape 19"/>
          <p:cNvSpPr/>
          <p:nvPr/>
        </p:nvSpPr>
        <p:spPr>
          <a:xfrm>
            <a:off x="9570476" y="1463040"/>
            <a:ext cx="2072579" cy="2148840"/>
          </a:xfrm>
          <a:prstGeom prst="roundRect">
            <a:avLst>
              <a:gd name="adj" fmla="val 4412"/>
            </a:avLst>
          </a:prstGeom>
          <a:solidFill>
            <a:srgbClr val="13304F"/>
          </a:solidFill>
          <a:ln w="12700">
            <a:solidFill>
              <a:srgbClr val="13304F"/>
            </a:solidFill>
            <a:prstDash val="solid"/>
          </a:ln>
        </p:spPr>
        <p:txBody>
          <a:bodyPr/>
          <a:lstStyle/>
          <a:p>
            <a:endParaRPr lang="en-ZA"/>
          </a:p>
        </p:txBody>
      </p:sp>
      <p:sp>
        <p:nvSpPr>
          <p:cNvPr id="22" name="Shape 20"/>
          <p:cNvSpPr/>
          <p:nvPr/>
        </p:nvSpPr>
        <p:spPr>
          <a:xfrm>
            <a:off x="9799076" y="1719072"/>
            <a:ext cx="457200" cy="54864"/>
          </a:xfrm>
          <a:prstGeom prst="rect">
            <a:avLst/>
          </a:prstGeom>
          <a:solidFill>
            <a:srgbClr val="5AA9E6"/>
          </a:solidFill>
          <a:ln w="12700">
            <a:solidFill>
              <a:srgbClr val="5AA9E6"/>
            </a:solidFill>
            <a:prstDash val="solid"/>
          </a:ln>
        </p:spPr>
        <p:txBody>
          <a:bodyPr/>
          <a:lstStyle/>
          <a:p>
            <a:endParaRPr lang="en-ZA"/>
          </a:p>
        </p:txBody>
      </p:sp>
      <p:sp>
        <p:nvSpPr>
          <p:cNvPr id="23" name="Text 21"/>
          <p:cNvSpPr txBox="1"/>
          <p:nvPr/>
        </p:nvSpPr>
        <p:spPr>
          <a:xfrm>
            <a:off x="9799076" y="1847088"/>
            <a:ext cx="1706819" cy="822960"/>
          </a:xfrm>
          <a:prstGeom prst="rect">
            <a:avLst/>
          </a:prstGeom>
          <a:noFill/>
          <a:ln/>
        </p:spPr>
        <p:txBody>
          <a:bodyPr wrap="square" lIns="0" tIns="0" rIns="0" bIns="0" rtlCol="0" anchor="ctr"/>
          <a:lstStyle/>
          <a:p>
            <a:pPr marL="0" indent="0" algn="l">
              <a:spcAft>
                <a:spcPts val="300"/>
              </a:spcAft>
              <a:buNone/>
            </a:pPr>
            <a:r>
              <a:rPr lang="en-US" sz="4400" b="1" dirty="0">
                <a:solidFill>
                  <a:srgbClr val="5AA9E6"/>
                </a:solidFill>
                <a:latin typeface="Calibri" pitchFamily="34" charset="0"/>
                <a:ea typeface="Calibri" pitchFamily="34" charset="-122"/>
                <a:cs typeface="Calibri" pitchFamily="34" charset="-120"/>
              </a:rPr>
              <a:t>3</a:t>
            </a:r>
            <a:endParaRPr lang="en-US" sz="4400" dirty="0"/>
          </a:p>
        </p:txBody>
      </p:sp>
      <p:sp>
        <p:nvSpPr>
          <p:cNvPr id="24" name="Text 22"/>
          <p:cNvSpPr txBox="1"/>
          <p:nvPr/>
        </p:nvSpPr>
        <p:spPr>
          <a:xfrm>
            <a:off x="9799076" y="2697480"/>
            <a:ext cx="1661099" cy="822960"/>
          </a:xfrm>
          <a:prstGeom prst="rect">
            <a:avLst/>
          </a:prstGeom>
          <a:noFill/>
          <a:ln/>
        </p:spPr>
        <p:txBody>
          <a:bodyPr wrap="square" lIns="0" tIns="0" rIns="0" bIns="0" rtlCol="0" anchor="t"/>
          <a:lstStyle/>
          <a:p>
            <a:pPr marL="0" indent="0" algn="l">
              <a:spcAft>
                <a:spcPts val="300"/>
              </a:spcAft>
              <a:buNone/>
            </a:pPr>
            <a:r>
              <a:rPr lang="en-US" sz="1400" b="1" dirty="0">
                <a:solidFill>
                  <a:srgbClr val="FFFFFF"/>
                </a:solidFill>
                <a:latin typeface="Calibri" pitchFamily="34" charset="0"/>
                <a:ea typeface="Calibri" pitchFamily="34" charset="-122"/>
                <a:cs typeface="Calibri" pitchFamily="34" charset="-120"/>
              </a:rPr>
              <a:t>days</a:t>
            </a:r>
            <a:endParaRPr lang="en-US" sz="1300" dirty="0"/>
          </a:p>
          <a:p>
            <a:pPr marL="0" indent="0" algn="l">
              <a:spcAft>
                <a:spcPts val="300"/>
              </a:spcAft>
              <a:buNone/>
            </a:pPr>
            <a:r>
              <a:rPr lang="en-US" sz="1200" dirty="0">
                <a:solidFill>
                  <a:srgbClr val="93ACC6"/>
                </a:solidFill>
                <a:latin typeface="Calibri" pitchFamily="34" charset="0"/>
                <a:ea typeface="Calibri" pitchFamily="34" charset="-122"/>
                <a:cs typeface="Calibri" pitchFamily="34" charset="-120"/>
              </a:rPr>
              <a:t>of quarantine in a row</a:t>
            </a:r>
            <a:endParaRPr lang="en-US" sz="1300" dirty="0"/>
          </a:p>
        </p:txBody>
      </p:sp>
      <p:sp>
        <p:nvSpPr>
          <p:cNvPr id="25" name="Text 23"/>
          <p:cNvSpPr txBox="1"/>
          <p:nvPr/>
        </p:nvSpPr>
        <p:spPr>
          <a:xfrm>
            <a:off x="548640" y="3931920"/>
            <a:ext cx="1645920" cy="502920"/>
          </a:xfrm>
          <a:prstGeom prst="rect">
            <a:avLst/>
          </a:prstGeom>
          <a:noFill/>
          <a:ln/>
        </p:spPr>
        <p:txBody>
          <a:bodyPr wrap="square" lIns="0" tIns="0" rIns="0" bIns="0" rtlCol="0" anchor="ctr"/>
          <a:lstStyle/>
          <a:p>
            <a:pPr marL="0" indent="0" algn="l">
              <a:spcAft>
                <a:spcPts val="300"/>
              </a:spcAft>
              <a:buNone/>
            </a:pPr>
            <a:r>
              <a:rPr lang="en-US" sz="1350" b="1" dirty="0">
                <a:solidFill>
                  <a:srgbClr val="FFFFFF"/>
                </a:solidFill>
                <a:latin typeface="Calibri" pitchFamily="34" charset="0"/>
                <a:ea typeface="Calibri" pitchFamily="34" charset="-122"/>
                <a:cs typeface="Calibri" pitchFamily="34" charset="-120"/>
              </a:rPr>
              <a:t>Five days</a:t>
            </a:r>
            <a:endParaRPr lang="en-US" sz="1350" dirty="0"/>
          </a:p>
        </p:txBody>
      </p:sp>
      <p:sp>
        <p:nvSpPr>
          <p:cNvPr id="26" name="Shape 24"/>
          <p:cNvSpPr/>
          <p:nvPr/>
        </p:nvSpPr>
        <p:spPr>
          <a:xfrm>
            <a:off x="2286000" y="3931920"/>
            <a:ext cx="9357055" cy="502920"/>
          </a:xfrm>
          <a:prstGeom prst="roundRect">
            <a:avLst>
              <a:gd name="adj" fmla="val 10909"/>
            </a:avLst>
          </a:prstGeom>
          <a:solidFill>
            <a:srgbClr val="1E1E1E"/>
          </a:solidFill>
          <a:ln w="9525">
            <a:solidFill>
              <a:srgbClr val="333337"/>
            </a:solidFill>
            <a:prstDash val="solid"/>
          </a:ln>
        </p:spPr>
        <p:txBody>
          <a:bodyPr/>
          <a:lstStyle/>
          <a:p>
            <a:endParaRPr lang="en-ZA"/>
          </a:p>
        </p:txBody>
      </p:sp>
      <p:sp>
        <p:nvSpPr>
          <p:cNvPr id="27" name="Text 25"/>
          <p:cNvSpPr txBox="1"/>
          <p:nvPr/>
        </p:nvSpPr>
        <p:spPr>
          <a:xfrm>
            <a:off x="2450592" y="3931920"/>
            <a:ext cx="9082735" cy="502920"/>
          </a:xfrm>
          <a:prstGeom prst="rect">
            <a:avLst/>
          </a:prstGeom>
          <a:noFill/>
          <a:ln/>
        </p:spPr>
        <p:txBody>
          <a:bodyPr wrap="square" lIns="0" tIns="0" rIns="0" bIns="0" rtlCol="0" anchor="ctr"/>
          <a:lstStyle/>
          <a:p>
            <a:pPr marL="0" indent="0">
              <a:buNone/>
            </a:pPr>
            <a:r>
              <a:rPr lang="en-US" sz="1300" dirty="0">
                <a:solidFill>
                  <a:srgbClr val="C586C0"/>
                </a:solidFill>
                <a:latin typeface="Courier New" pitchFamily="34" charset="0"/>
                <a:ea typeface="Courier New" pitchFamily="34" charset="-122"/>
                <a:cs typeface="Courier New" pitchFamily="34" charset="-120"/>
              </a:rPr>
              <a:t>if</a:t>
            </a:r>
            <a:r>
              <a:rPr lang="en-US" sz="1300" dirty="0">
                <a:solidFill>
                  <a:srgbClr val="D4D4D4"/>
                </a:solidFill>
                <a:latin typeface="Courier New" pitchFamily="34" charset="0"/>
                <a:ea typeface="Courier New" pitchFamily="34" charset="-122"/>
                <a:cs typeface="Courier New" pitchFamily="34" charset="-120"/>
              </a:rPr>
              <a:t> (</a:t>
            </a:r>
            <a:r>
              <a:rPr lang="en-US" sz="1300" dirty="0">
                <a:solidFill>
                  <a:srgbClr val="9CDCFE"/>
                </a:solidFill>
                <a:latin typeface="Courier New" pitchFamily="34" charset="0"/>
                <a:ea typeface="Courier New" pitchFamily="34" charset="-122"/>
                <a:cs typeface="Courier New" pitchFamily="34" charset="-120"/>
              </a:rPr>
              <a:t>isNewWorkingDay</a:t>
            </a:r>
            <a:r>
              <a:rPr lang="en-US" sz="1300" dirty="0">
                <a:solidFill>
                  <a:srgbClr val="D4D4D4"/>
                </a:solidFill>
                <a:latin typeface="Courier New" pitchFamily="34" charset="0"/>
                <a:ea typeface="Courier New" pitchFamily="34" charset="-122"/>
                <a:cs typeface="Courier New" pitchFamily="34" charset="-120"/>
              </a:rPr>
              <a:t> &amp;&amp; </a:t>
            </a:r>
            <a:r>
              <a:rPr lang="en-US" sz="1300" dirty="0">
                <a:solidFill>
                  <a:srgbClr val="9CDCFE"/>
                </a:solidFill>
                <a:latin typeface="Courier New" pitchFamily="34" charset="0"/>
                <a:ea typeface="Courier New" pitchFamily="34" charset="-122"/>
                <a:cs typeface="Courier New" pitchFamily="34" charset="-120"/>
              </a:rPr>
              <a:t>assignedDatesThisWeek</a:t>
            </a:r>
            <a:r>
              <a:rPr lang="en-US" sz="1300" dirty="0">
                <a:solidFill>
                  <a:srgbClr val="D4D4D4"/>
                </a:solidFill>
                <a:latin typeface="Courier New" pitchFamily="34" charset="0"/>
                <a:ea typeface="Courier New" pitchFamily="34" charset="-122"/>
                <a:cs typeface="Courier New" pitchFamily="34" charset="-120"/>
              </a:rPr>
              <a:t>.</a:t>
            </a:r>
            <a:r>
              <a:rPr lang="en-US" sz="1300" dirty="0">
                <a:solidFill>
                  <a:srgbClr val="4EC9B0"/>
                </a:solidFill>
                <a:latin typeface="Courier New" pitchFamily="34" charset="0"/>
                <a:ea typeface="Courier New" pitchFamily="34" charset="-122"/>
                <a:cs typeface="Courier New" pitchFamily="34" charset="-120"/>
              </a:rPr>
              <a:t>Count</a:t>
            </a:r>
            <a:r>
              <a:rPr lang="en-US" sz="1300" dirty="0">
                <a:solidFill>
                  <a:srgbClr val="D4D4D4"/>
                </a:solidFill>
                <a:latin typeface="Courier New" pitchFamily="34" charset="0"/>
                <a:ea typeface="Courier New" pitchFamily="34" charset="-122"/>
                <a:cs typeface="Courier New" pitchFamily="34" charset="-120"/>
              </a:rPr>
              <a:t> &gt;= </a:t>
            </a:r>
            <a:r>
              <a:rPr lang="en-US" sz="1300" dirty="0">
                <a:solidFill>
                  <a:srgbClr val="B5CEA8"/>
                </a:solidFill>
                <a:latin typeface="Courier New" pitchFamily="34" charset="0"/>
                <a:ea typeface="Courier New" pitchFamily="34" charset="-122"/>
                <a:cs typeface="Courier New" pitchFamily="34" charset="-120"/>
              </a:rPr>
              <a:t>5</a:t>
            </a:r>
            <a:r>
              <a:rPr lang="en-US" sz="1300" dirty="0">
                <a:solidFill>
                  <a:srgbClr val="D4D4D4"/>
                </a:solidFill>
                <a:latin typeface="Courier New" pitchFamily="34" charset="0"/>
                <a:ea typeface="Courier New" pitchFamily="34" charset="-122"/>
                <a:cs typeface="Courier New" pitchFamily="34" charset="-120"/>
              </a:rPr>
              <a:t>)</a:t>
            </a:r>
            <a:endParaRPr lang="en-US" sz="1300" dirty="0"/>
          </a:p>
        </p:txBody>
      </p:sp>
      <p:sp>
        <p:nvSpPr>
          <p:cNvPr id="28" name="Text 26"/>
          <p:cNvSpPr txBox="1"/>
          <p:nvPr/>
        </p:nvSpPr>
        <p:spPr>
          <a:xfrm>
            <a:off x="548640" y="4590288"/>
            <a:ext cx="1645920" cy="502920"/>
          </a:xfrm>
          <a:prstGeom prst="rect">
            <a:avLst/>
          </a:prstGeom>
          <a:noFill/>
          <a:ln/>
        </p:spPr>
        <p:txBody>
          <a:bodyPr wrap="square" lIns="0" tIns="0" rIns="0" bIns="0" rtlCol="0" anchor="ctr"/>
          <a:lstStyle/>
          <a:p>
            <a:pPr marL="0" indent="0" algn="l">
              <a:spcAft>
                <a:spcPts val="300"/>
              </a:spcAft>
              <a:buNone/>
            </a:pPr>
            <a:r>
              <a:rPr lang="en-US" sz="1350" b="1" dirty="0">
                <a:solidFill>
                  <a:srgbClr val="FFFFFF"/>
                </a:solidFill>
                <a:latin typeface="Calibri" pitchFamily="34" charset="0"/>
                <a:ea typeface="Calibri" pitchFamily="34" charset="-122"/>
                <a:cs typeface="Calibri" pitchFamily="34" charset="-120"/>
              </a:rPr>
              <a:t>Forty hours</a:t>
            </a:r>
            <a:endParaRPr lang="en-US" sz="1350" dirty="0"/>
          </a:p>
        </p:txBody>
      </p:sp>
      <p:sp>
        <p:nvSpPr>
          <p:cNvPr id="29" name="Shape 27"/>
          <p:cNvSpPr/>
          <p:nvPr/>
        </p:nvSpPr>
        <p:spPr>
          <a:xfrm>
            <a:off x="2286000" y="4590288"/>
            <a:ext cx="9357055" cy="502920"/>
          </a:xfrm>
          <a:prstGeom prst="roundRect">
            <a:avLst>
              <a:gd name="adj" fmla="val 10909"/>
            </a:avLst>
          </a:prstGeom>
          <a:solidFill>
            <a:srgbClr val="1E1E1E"/>
          </a:solidFill>
          <a:ln w="9525">
            <a:solidFill>
              <a:srgbClr val="333337"/>
            </a:solidFill>
            <a:prstDash val="solid"/>
          </a:ln>
        </p:spPr>
        <p:txBody>
          <a:bodyPr/>
          <a:lstStyle/>
          <a:p>
            <a:endParaRPr lang="en-ZA"/>
          </a:p>
        </p:txBody>
      </p:sp>
      <p:sp>
        <p:nvSpPr>
          <p:cNvPr id="30" name="Text 28"/>
          <p:cNvSpPr txBox="1"/>
          <p:nvPr/>
        </p:nvSpPr>
        <p:spPr>
          <a:xfrm>
            <a:off x="2450592" y="4590288"/>
            <a:ext cx="9082735" cy="502920"/>
          </a:xfrm>
          <a:prstGeom prst="rect">
            <a:avLst/>
          </a:prstGeom>
          <a:noFill/>
          <a:ln/>
        </p:spPr>
        <p:txBody>
          <a:bodyPr wrap="square" lIns="0" tIns="0" rIns="0" bIns="0" rtlCol="0" anchor="ctr"/>
          <a:lstStyle/>
          <a:p>
            <a:pPr marL="0" indent="0">
              <a:buNone/>
            </a:pPr>
            <a:r>
              <a:rPr lang="en-US" sz="1300" dirty="0">
                <a:solidFill>
                  <a:srgbClr val="C586C0"/>
                </a:solidFill>
                <a:latin typeface="Courier New" pitchFamily="34" charset="0"/>
                <a:ea typeface="Courier New" pitchFamily="34" charset="-122"/>
                <a:cs typeface="Courier New" pitchFamily="34" charset="-120"/>
              </a:rPr>
              <a:t>if</a:t>
            </a:r>
            <a:r>
              <a:rPr lang="en-US" sz="1300" dirty="0">
                <a:solidFill>
                  <a:srgbClr val="D4D4D4"/>
                </a:solidFill>
                <a:latin typeface="Courier New" pitchFamily="34" charset="0"/>
                <a:ea typeface="Courier New" pitchFamily="34" charset="-122"/>
                <a:cs typeface="Courier New" pitchFamily="34" charset="-120"/>
              </a:rPr>
              <a:t> (</a:t>
            </a:r>
            <a:r>
              <a:rPr lang="en-US" sz="1300" dirty="0">
                <a:solidFill>
                  <a:srgbClr val="9CDCFE"/>
                </a:solidFill>
                <a:latin typeface="Courier New" pitchFamily="34" charset="0"/>
                <a:ea typeface="Courier New" pitchFamily="34" charset="-122"/>
                <a:cs typeface="Courier New" pitchFamily="34" charset="-120"/>
              </a:rPr>
              <a:t>scheduledHoursThisWeek</a:t>
            </a:r>
            <a:r>
              <a:rPr lang="en-US" sz="1300" dirty="0">
                <a:solidFill>
                  <a:srgbClr val="D4D4D4"/>
                </a:solidFill>
                <a:latin typeface="Courier New" pitchFamily="34" charset="0"/>
                <a:ea typeface="Courier New" pitchFamily="34" charset="-122"/>
                <a:cs typeface="Courier New" pitchFamily="34" charset="-120"/>
              </a:rPr>
              <a:t> + </a:t>
            </a:r>
            <a:r>
              <a:rPr lang="en-US" sz="1300" dirty="0">
                <a:solidFill>
                  <a:srgbClr val="9CDCFE"/>
                </a:solidFill>
                <a:latin typeface="Courier New" pitchFamily="34" charset="0"/>
                <a:ea typeface="Courier New" pitchFamily="34" charset="-122"/>
                <a:cs typeface="Courier New" pitchFamily="34" charset="-120"/>
              </a:rPr>
              <a:t>newShiftHours</a:t>
            </a:r>
            <a:r>
              <a:rPr lang="en-US" sz="1300" dirty="0">
                <a:solidFill>
                  <a:srgbClr val="D4D4D4"/>
                </a:solidFill>
                <a:latin typeface="Courier New" pitchFamily="34" charset="0"/>
                <a:ea typeface="Courier New" pitchFamily="34" charset="-122"/>
                <a:cs typeface="Courier New" pitchFamily="34" charset="-120"/>
              </a:rPr>
              <a:t> &gt; </a:t>
            </a:r>
            <a:r>
              <a:rPr lang="en-US" sz="1300" dirty="0">
                <a:solidFill>
                  <a:srgbClr val="B5CEA8"/>
                </a:solidFill>
                <a:latin typeface="Courier New" pitchFamily="34" charset="0"/>
                <a:ea typeface="Courier New" pitchFamily="34" charset="-122"/>
                <a:cs typeface="Courier New" pitchFamily="34" charset="-120"/>
              </a:rPr>
              <a:t>40</a:t>
            </a:r>
            <a:r>
              <a:rPr lang="en-US" sz="1300" dirty="0">
                <a:solidFill>
                  <a:srgbClr val="9CDCFE"/>
                </a:solidFill>
                <a:latin typeface="Courier New" pitchFamily="34" charset="0"/>
                <a:ea typeface="Courier New" pitchFamily="34" charset="-122"/>
                <a:cs typeface="Courier New" pitchFamily="34" charset="-120"/>
              </a:rPr>
              <a:t>m</a:t>
            </a:r>
            <a:r>
              <a:rPr lang="en-US" sz="1300" dirty="0">
                <a:solidFill>
                  <a:srgbClr val="D4D4D4"/>
                </a:solidFill>
                <a:latin typeface="Courier New" pitchFamily="34" charset="0"/>
                <a:ea typeface="Courier New" pitchFamily="34" charset="-122"/>
                <a:cs typeface="Courier New" pitchFamily="34" charset="-120"/>
              </a:rPr>
              <a:t>)</a:t>
            </a:r>
            <a:endParaRPr lang="en-US" sz="1300" dirty="0"/>
          </a:p>
        </p:txBody>
      </p:sp>
      <p:sp>
        <p:nvSpPr>
          <p:cNvPr id="31" name="Text 29"/>
          <p:cNvSpPr txBox="1"/>
          <p:nvPr/>
        </p:nvSpPr>
        <p:spPr>
          <a:xfrm>
            <a:off x="548640" y="5248656"/>
            <a:ext cx="1645920" cy="502920"/>
          </a:xfrm>
          <a:prstGeom prst="rect">
            <a:avLst/>
          </a:prstGeom>
          <a:noFill/>
          <a:ln/>
        </p:spPr>
        <p:txBody>
          <a:bodyPr wrap="square" lIns="0" tIns="0" rIns="0" bIns="0" rtlCol="0" anchor="ctr"/>
          <a:lstStyle/>
          <a:p>
            <a:pPr marL="0" indent="0" algn="l">
              <a:spcAft>
                <a:spcPts val="300"/>
              </a:spcAft>
              <a:buNone/>
            </a:pPr>
            <a:r>
              <a:rPr lang="en-US" sz="1350" b="1" dirty="0">
                <a:solidFill>
                  <a:srgbClr val="FFFFFF"/>
                </a:solidFill>
                <a:latin typeface="Calibri" pitchFamily="34" charset="0"/>
                <a:ea typeface="Calibri" pitchFamily="34" charset="-122"/>
                <a:cs typeface="Calibri" pitchFamily="34" charset="-120"/>
              </a:rPr>
              <a:t>Quarantine</a:t>
            </a:r>
            <a:endParaRPr lang="en-US" sz="1350" dirty="0"/>
          </a:p>
        </p:txBody>
      </p:sp>
      <p:sp>
        <p:nvSpPr>
          <p:cNvPr id="32" name="Shape 30"/>
          <p:cNvSpPr/>
          <p:nvPr/>
        </p:nvSpPr>
        <p:spPr>
          <a:xfrm>
            <a:off x="2286000" y="5248656"/>
            <a:ext cx="9357055" cy="502920"/>
          </a:xfrm>
          <a:prstGeom prst="roundRect">
            <a:avLst>
              <a:gd name="adj" fmla="val 10909"/>
            </a:avLst>
          </a:prstGeom>
          <a:solidFill>
            <a:srgbClr val="1E1E1E"/>
          </a:solidFill>
          <a:ln w="9525">
            <a:solidFill>
              <a:srgbClr val="333337"/>
            </a:solidFill>
            <a:prstDash val="solid"/>
          </a:ln>
        </p:spPr>
        <p:txBody>
          <a:bodyPr/>
          <a:lstStyle/>
          <a:p>
            <a:endParaRPr lang="en-ZA"/>
          </a:p>
        </p:txBody>
      </p:sp>
      <p:sp>
        <p:nvSpPr>
          <p:cNvPr id="33" name="Text 31"/>
          <p:cNvSpPr txBox="1"/>
          <p:nvPr/>
        </p:nvSpPr>
        <p:spPr>
          <a:xfrm>
            <a:off x="2450592" y="5248656"/>
            <a:ext cx="9082735" cy="502920"/>
          </a:xfrm>
          <a:prstGeom prst="rect">
            <a:avLst/>
          </a:prstGeom>
          <a:noFill/>
          <a:ln/>
        </p:spPr>
        <p:txBody>
          <a:bodyPr wrap="square" lIns="0" tIns="0" rIns="0" bIns="0" rtlCol="0" anchor="ctr"/>
          <a:lstStyle/>
          <a:p>
            <a:pPr marL="0" indent="0">
              <a:buNone/>
            </a:pPr>
            <a:r>
              <a:rPr lang="en-US" sz="1300" dirty="0">
                <a:solidFill>
                  <a:srgbClr val="C586C0"/>
                </a:solidFill>
                <a:latin typeface="Courier New" pitchFamily="34" charset="0"/>
                <a:ea typeface="Courier New" pitchFamily="34" charset="-122"/>
                <a:cs typeface="Courier New" pitchFamily="34" charset="-120"/>
              </a:rPr>
              <a:t>if</a:t>
            </a:r>
            <a:r>
              <a:rPr lang="en-US" sz="1300" dirty="0">
                <a:solidFill>
                  <a:srgbClr val="D4D4D4"/>
                </a:solidFill>
                <a:latin typeface="Courier New" pitchFamily="34" charset="0"/>
                <a:ea typeface="Courier New" pitchFamily="34" charset="-122"/>
                <a:cs typeface="Courier New" pitchFamily="34" charset="-120"/>
              </a:rPr>
              <a:t> (</a:t>
            </a:r>
            <a:r>
              <a:rPr lang="en-US" sz="1300" dirty="0">
                <a:solidFill>
                  <a:srgbClr val="9CDCFE"/>
                </a:solidFill>
                <a:latin typeface="Courier New" pitchFamily="34" charset="0"/>
                <a:ea typeface="Courier New" pitchFamily="34" charset="-122"/>
                <a:cs typeface="Courier New" pitchFamily="34" charset="-120"/>
              </a:rPr>
              <a:t>quarantineVolunteerCount</a:t>
            </a:r>
            <a:r>
              <a:rPr lang="en-US" sz="1300" dirty="0">
                <a:solidFill>
                  <a:srgbClr val="D4D4D4"/>
                </a:solidFill>
                <a:latin typeface="Courier New" pitchFamily="34" charset="0"/>
                <a:ea typeface="Courier New" pitchFamily="34" charset="-122"/>
                <a:cs typeface="Courier New" pitchFamily="34" charset="-120"/>
              </a:rPr>
              <a:t> &gt;= </a:t>
            </a:r>
            <a:r>
              <a:rPr lang="en-US" sz="1300" dirty="0">
                <a:solidFill>
                  <a:srgbClr val="B5CEA8"/>
                </a:solidFill>
                <a:latin typeface="Courier New" pitchFamily="34" charset="0"/>
                <a:ea typeface="Courier New" pitchFamily="34" charset="-122"/>
                <a:cs typeface="Courier New" pitchFamily="34" charset="-120"/>
              </a:rPr>
              <a:t>1</a:t>
            </a:r>
            <a:r>
              <a:rPr lang="en-US" sz="1300" dirty="0">
                <a:solidFill>
                  <a:srgbClr val="D4D4D4"/>
                </a:solidFill>
                <a:latin typeface="Courier New" pitchFamily="34" charset="0"/>
                <a:ea typeface="Courier New" pitchFamily="34" charset="-122"/>
                <a:cs typeface="Courier New" pitchFamily="34" charset="-120"/>
              </a:rPr>
              <a:t>)</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0B1D33"/>
        </a:solidFill>
        <a:effectLst/>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7BD389"/>
          </a:solidFill>
          <a:ln w="12700">
            <a:solidFill>
              <a:srgbClr val="7BD389"/>
            </a:solidFill>
            <a:prstDash val="solid"/>
          </a:ln>
        </p:spPr>
        <p:txBody>
          <a:bodyPr/>
          <a:lstStyle/>
          <a:p>
            <a:endParaRPr lang="en-ZA"/>
          </a:p>
        </p:txBody>
      </p:sp>
      <p:sp>
        <p:nvSpPr>
          <p:cNvPr id="3" name="Text 1"/>
          <p:cNvSpPr txBox="1"/>
          <p:nvPr/>
        </p:nvSpPr>
        <p:spPr>
          <a:xfrm>
            <a:off x="548640" y="384048"/>
            <a:ext cx="8229600" cy="274320"/>
          </a:xfrm>
          <a:prstGeom prst="rect">
            <a:avLst/>
          </a:prstGeom>
          <a:noFill/>
          <a:ln/>
        </p:spPr>
        <p:txBody>
          <a:bodyPr wrap="square" lIns="0" tIns="0" rIns="0" bIns="0" rtlCol="0" anchor="ctr"/>
          <a:lstStyle/>
          <a:p>
            <a:pPr marL="0" indent="0">
              <a:buNone/>
            </a:pPr>
            <a:r>
              <a:rPr lang="en-US" sz="1100" b="1" kern="0" spc="400" dirty="0">
                <a:solidFill>
                  <a:srgbClr val="7BD389"/>
                </a:solidFill>
                <a:latin typeface="Calibri" pitchFamily="34" charset="0"/>
                <a:ea typeface="Calibri" pitchFamily="34" charset="-122"/>
                <a:cs typeface="Calibri" pitchFamily="34" charset="-120"/>
              </a:rPr>
              <a:t>PUBLISHING</a:t>
            </a:r>
            <a:endParaRPr lang="en-US" sz="1100" dirty="0"/>
          </a:p>
        </p:txBody>
      </p:sp>
      <p:sp>
        <p:nvSpPr>
          <p:cNvPr id="4" name="Text 2"/>
          <p:cNvSpPr txBox="1"/>
          <p:nvPr/>
        </p:nvSpPr>
        <p:spPr>
          <a:xfrm>
            <a:off x="548640" y="658368"/>
            <a:ext cx="11094415" cy="566928"/>
          </a:xfrm>
          <a:prstGeom prst="rect">
            <a:avLst/>
          </a:prstGeom>
          <a:noFill/>
          <a:ln/>
        </p:spPr>
        <p:txBody>
          <a:bodyPr wrap="square" lIns="0" tIns="0" rIns="0" bIns="0"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Publishing a roster tells every volunteer</a:t>
            </a:r>
            <a:endParaRPr lang="en-US" sz="3000" dirty="0"/>
          </a:p>
        </p:txBody>
      </p:sp>
      <p:sp>
        <p:nvSpPr>
          <p:cNvPr id="5" name="Shape 3"/>
          <p:cNvSpPr/>
          <p:nvPr/>
        </p:nvSpPr>
        <p:spPr>
          <a:xfrm>
            <a:off x="548640" y="2331720"/>
            <a:ext cx="2331720" cy="1828800"/>
          </a:xfrm>
          <a:prstGeom prst="roundRect">
            <a:avLst>
              <a:gd name="adj" fmla="val 5000"/>
            </a:avLst>
          </a:prstGeom>
          <a:solidFill>
            <a:srgbClr val="13304F"/>
          </a:solidFill>
          <a:ln w="15875">
            <a:solidFill>
              <a:srgbClr val="7BD389"/>
            </a:solidFill>
            <a:prstDash val="solid"/>
          </a:ln>
        </p:spPr>
        <p:txBody>
          <a:bodyPr/>
          <a:lstStyle/>
          <a:p>
            <a:endParaRPr lang="en-ZA"/>
          </a:p>
        </p:txBody>
      </p:sp>
      <p:sp>
        <p:nvSpPr>
          <p:cNvPr id="6" name="Shape 4"/>
          <p:cNvSpPr/>
          <p:nvPr/>
        </p:nvSpPr>
        <p:spPr>
          <a:xfrm>
            <a:off x="731520" y="2532888"/>
            <a:ext cx="548640" cy="548640"/>
          </a:xfrm>
          <a:prstGeom prst="ellipse">
            <a:avLst/>
          </a:prstGeom>
          <a:solidFill>
            <a:srgbClr val="0B1D33"/>
          </a:solidFill>
          <a:ln w="12700">
            <a:solidFill>
              <a:srgbClr val="0B1D33"/>
            </a:solidFill>
            <a:prstDash val="solid"/>
          </a:ln>
        </p:spPr>
        <p:txBody>
          <a:bodyPr/>
          <a:lstStyle/>
          <a:p>
            <a:endParaRPr lang="en-ZA"/>
          </a:p>
        </p:txBody>
      </p:sp>
      <p:pic>
        <p:nvPicPr>
          <p:cNvPr id="7" name="Image 0" descr="preencoded.png"/>
          <p:cNvPicPr>
            <a:picLocks noChangeAspect="1"/>
          </p:cNvPicPr>
          <p:nvPr/>
        </p:nvPicPr>
        <p:blipFill>
          <a:blip r:embed="rId3"/>
          <a:stretch>
            <a:fillRect/>
          </a:stretch>
        </p:blipFill>
        <p:spPr>
          <a:xfrm>
            <a:off x="868680" y="2670048"/>
            <a:ext cx="274320" cy="274320"/>
          </a:xfrm>
          <a:prstGeom prst="rect">
            <a:avLst/>
          </a:prstGeom>
        </p:spPr>
      </p:pic>
      <p:sp>
        <p:nvSpPr>
          <p:cNvPr id="8" name="Text 5"/>
          <p:cNvSpPr txBox="1"/>
          <p:nvPr/>
        </p:nvSpPr>
        <p:spPr>
          <a:xfrm>
            <a:off x="731520" y="3200400"/>
            <a:ext cx="1965960" cy="868680"/>
          </a:xfrm>
          <a:prstGeom prst="rect">
            <a:avLst/>
          </a:prstGeom>
          <a:noFill/>
          <a:ln/>
        </p:spPr>
        <p:txBody>
          <a:bodyPr wrap="square" lIns="0" tIns="0" rIns="0" bIns="0" rtlCol="0" anchor="t"/>
          <a:lstStyle/>
          <a:p>
            <a:pPr marL="0" indent="0" algn="l">
              <a:spcAft>
                <a:spcPts val="300"/>
              </a:spcAft>
              <a:buNone/>
            </a:pPr>
            <a:r>
              <a:rPr lang="en-US" sz="1450" b="1" dirty="0">
                <a:solidFill>
                  <a:srgbClr val="FFFFFF"/>
                </a:solidFill>
                <a:latin typeface="Calibri" pitchFamily="34" charset="0"/>
                <a:ea typeface="Calibri" pitchFamily="34" charset="-122"/>
                <a:cs typeface="Calibri" pitchFamily="34" charset="-120"/>
              </a:rPr>
              <a:t>Admin publishes</a:t>
            </a:r>
            <a:endParaRPr lang="en-US" sz="1300" dirty="0"/>
          </a:p>
          <a:p>
            <a:pPr marL="0" indent="0" algn="l">
              <a:spcAft>
                <a:spcPts val="300"/>
              </a:spcAft>
              <a:buNone/>
            </a:pPr>
            <a:r>
              <a:rPr lang="en-US" sz="1200" dirty="0">
                <a:solidFill>
                  <a:srgbClr val="93ACC6"/>
                </a:solidFill>
                <a:latin typeface="Calibri" pitchFamily="34" charset="0"/>
                <a:ea typeface="Calibri" pitchFamily="34" charset="-122"/>
                <a:cs typeface="Calibri" pitchFamily="34" charset="-120"/>
              </a:rPr>
              <a:t>PATCH /api/Rosters/{id}/publish</a:t>
            </a:r>
            <a:endParaRPr lang="en-US" sz="1300" dirty="0"/>
          </a:p>
        </p:txBody>
      </p:sp>
      <p:sp>
        <p:nvSpPr>
          <p:cNvPr id="9" name="Shape 6"/>
          <p:cNvSpPr/>
          <p:nvPr/>
        </p:nvSpPr>
        <p:spPr>
          <a:xfrm>
            <a:off x="2926080" y="3246120"/>
            <a:ext cx="548640" cy="914"/>
          </a:xfrm>
          <a:prstGeom prst="line">
            <a:avLst/>
          </a:prstGeom>
          <a:noFill/>
          <a:ln w="25400">
            <a:solidFill>
              <a:srgbClr val="7BD389"/>
            </a:solidFill>
            <a:prstDash val="solid"/>
            <a:tailEnd type="triangle"/>
          </a:ln>
        </p:spPr>
        <p:txBody>
          <a:bodyPr/>
          <a:lstStyle/>
          <a:p>
            <a:endParaRPr lang="en-ZA"/>
          </a:p>
        </p:txBody>
      </p:sp>
      <p:sp>
        <p:nvSpPr>
          <p:cNvPr id="10" name="Shape 7"/>
          <p:cNvSpPr/>
          <p:nvPr/>
        </p:nvSpPr>
        <p:spPr>
          <a:xfrm>
            <a:off x="3520440" y="2331720"/>
            <a:ext cx="2834640" cy="1828800"/>
          </a:xfrm>
          <a:prstGeom prst="roundRect">
            <a:avLst>
              <a:gd name="adj" fmla="val 5000"/>
            </a:avLst>
          </a:prstGeom>
          <a:solidFill>
            <a:srgbClr val="13304F"/>
          </a:solidFill>
          <a:ln w="15875">
            <a:solidFill>
              <a:srgbClr val="7BD389"/>
            </a:solidFill>
            <a:prstDash val="solid"/>
          </a:ln>
        </p:spPr>
        <p:txBody>
          <a:bodyPr/>
          <a:lstStyle/>
          <a:p>
            <a:endParaRPr lang="en-ZA"/>
          </a:p>
        </p:txBody>
      </p:sp>
      <p:sp>
        <p:nvSpPr>
          <p:cNvPr id="11" name="Shape 8"/>
          <p:cNvSpPr/>
          <p:nvPr/>
        </p:nvSpPr>
        <p:spPr>
          <a:xfrm>
            <a:off x="3703320" y="2532888"/>
            <a:ext cx="548640" cy="548640"/>
          </a:xfrm>
          <a:prstGeom prst="ellipse">
            <a:avLst/>
          </a:prstGeom>
          <a:solidFill>
            <a:srgbClr val="0B1D33"/>
          </a:solidFill>
          <a:ln w="12700">
            <a:solidFill>
              <a:srgbClr val="0B1D33"/>
            </a:solidFill>
            <a:prstDash val="solid"/>
          </a:ln>
        </p:spPr>
        <p:txBody>
          <a:bodyPr/>
          <a:lstStyle/>
          <a:p>
            <a:endParaRPr lang="en-ZA"/>
          </a:p>
        </p:txBody>
      </p:sp>
      <p:pic>
        <p:nvPicPr>
          <p:cNvPr id="12" name="Image 1" descr="preencoded.png"/>
          <p:cNvPicPr>
            <a:picLocks noChangeAspect="1"/>
          </p:cNvPicPr>
          <p:nvPr/>
        </p:nvPicPr>
        <p:blipFill>
          <a:blip r:embed="rId4"/>
          <a:stretch>
            <a:fillRect/>
          </a:stretch>
        </p:blipFill>
        <p:spPr>
          <a:xfrm>
            <a:off x="3840480" y="2670048"/>
            <a:ext cx="274320" cy="274320"/>
          </a:xfrm>
          <a:prstGeom prst="rect">
            <a:avLst/>
          </a:prstGeom>
        </p:spPr>
      </p:pic>
      <p:sp>
        <p:nvSpPr>
          <p:cNvPr id="13" name="Text 9"/>
          <p:cNvSpPr txBox="1"/>
          <p:nvPr/>
        </p:nvSpPr>
        <p:spPr>
          <a:xfrm>
            <a:off x="3703320" y="3200400"/>
            <a:ext cx="2468880" cy="868680"/>
          </a:xfrm>
          <a:prstGeom prst="rect">
            <a:avLst/>
          </a:prstGeom>
          <a:noFill/>
          <a:ln/>
        </p:spPr>
        <p:txBody>
          <a:bodyPr wrap="square" lIns="0" tIns="0" rIns="0" bIns="0" rtlCol="0" anchor="t"/>
          <a:lstStyle/>
          <a:p>
            <a:pPr marL="0" indent="0" algn="l">
              <a:spcAft>
                <a:spcPts val="300"/>
              </a:spcAft>
              <a:buNone/>
            </a:pPr>
            <a:r>
              <a:rPr lang="en-US" sz="1450" b="1" dirty="0">
                <a:solidFill>
                  <a:srgbClr val="FFFFFF"/>
                </a:solidFill>
                <a:latin typeface="Calibri" pitchFamily="34" charset="0"/>
                <a:ea typeface="Calibri" pitchFamily="34" charset="-122"/>
                <a:cs typeface="Calibri" pitchFamily="34" charset="-120"/>
              </a:rPr>
              <a:t>Draft → Published</a:t>
            </a:r>
            <a:endParaRPr lang="en-US" sz="1300" dirty="0"/>
          </a:p>
          <a:p>
            <a:pPr marL="0" indent="0" algn="l">
              <a:spcAft>
                <a:spcPts val="300"/>
              </a:spcAft>
              <a:buNone/>
            </a:pPr>
            <a:r>
              <a:rPr lang="en-US" sz="1200" dirty="0">
                <a:solidFill>
                  <a:srgbClr val="93ACC6"/>
                </a:solidFill>
                <a:latin typeface="Calibri" pitchFamily="34" charset="0"/>
                <a:ea typeface="Calibri" pitchFamily="34" charset="-122"/>
                <a:cs typeface="Calibri" pitchFamily="34" charset="-120"/>
              </a:rPr>
              <a:t>Only once. Publishing again is refused.</a:t>
            </a:r>
            <a:endParaRPr lang="en-US" sz="1300" dirty="0"/>
          </a:p>
        </p:txBody>
      </p:sp>
      <p:sp>
        <p:nvSpPr>
          <p:cNvPr id="14" name="Shape 10"/>
          <p:cNvSpPr/>
          <p:nvPr/>
        </p:nvSpPr>
        <p:spPr>
          <a:xfrm>
            <a:off x="7452360" y="1783080"/>
            <a:ext cx="4190695" cy="1417320"/>
          </a:xfrm>
          <a:prstGeom prst="roundRect">
            <a:avLst>
              <a:gd name="adj" fmla="val 6452"/>
            </a:avLst>
          </a:prstGeom>
          <a:solidFill>
            <a:srgbClr val="13304F"/>
          </a:solidFill>
          <a:ln w="15875">
            <a:solidFill>
              <a:srgbClr val="7BD389"/>
            </a:solidFill>
            <a:prstDash val="solid"/>
          </a:ln>
        </p:spPr>
        <p:txBody>
          <a:bodyPr/>
          <a:lstStyle/>
          <a:p>
            <a:endParaRPr lang="en-ZA"/>
          </a:p>
        </p:txBody>
      </p:sp>
      <p:sp>
        <p:nvSpPr>
          <p:cNvPr id="15" name="Shape 11"/>
          <p:cNvSpPr/>
          <p:nvPr/>
        </p:nvSpPr>
        <p:spPr>
          <a:xfrm>
            <a:off x="7653528" y="2194560"/>
            <a:ext cx="594360" cy="594360"/>
          </a:xfrm>
          <a:prstGeom prst="ellipse">
            <a:avLst/>
          </a:prstGeom>
          <a:solidFill>
            <a:srgbClr val="0B1D33"/>
          </a:solidFill>
          <a:ln w="12700">
            <a:solidFill>
              <a:srgbClr val="0B1D33"/>
            </a:solidFill>
            <a:prstDash val="solid"/>
          </a:ln>
        </p:spPr>
        <p:txBody>
          <a:bodyPr/>
          <a:lstStyle/>
          <a:p>
            <a:endParaRPr lang="en-ZA"/>
          </a:p>
        </p:txBody>
      </p:sp>
      <p:pic>
        <p:nvPicPr>
          <p:cNvPr id="16" name="Image 2" descr="preencoded.png"/>
          <p:cNvPicPr>
            <a:picLocks noChangeAspect="1"/>
          </p:cNvPicPr>
          <p:nvPr/>
        </p:nvPicPr>
        <p:blipFill>
          <a:blip r:embed="rId5"/>
          <a:stretch>
            <a:fillRect/>
          </a:stretch>
        </p:blipFill>
        <p:spPr>
          <a:xfrm>
            <a:off x="7802118" y="2343150"/>
            <a:ext cx="297180" cy="297180"/>
          </a:xfrm>
          <a:prstGeom prst="rect">
            <a:avLst/>
          </a:prstGeom>
        </p:spPr>
      </p:pic>
      <p:sp>
        <p:nvSpPr>
          <p:cNvPr id="17" name="Text 12"/>
          <p:cNvSpPr txBox="1"/>
          <p:nvPr/>
        </p:nvSpPr>
        <p:spPr>
          <a:xfrm>
            <a:off x="8412480" y="1920240"/>
            <a:ext cx="3093415" cy="1143000"/>
          </a:xfrm>
          <a:prstGeom prst="rect">
            <a:avLst/>
          </a:prstGeom>
          <a:noFill/>
          <a:ln/>
        </p:spPr>
        <p:txBody>
          <a:bodyPr wrap="square" lIns="0" tIns="0" rIns="0" bIns="0" rtlCol="0" anchor="ctr"/>
          <a:lstStyle/>
          <a:p>
            <a:pPr marL="0" indent="0" algn="l">
              <a:spcAft>
                <a:spcPts val="300"/>
              </a:spcAft>
              <a:buNone/>
            </a:pPr>
            <a:r>
              <a:rPr lang="en-US" sz="1500" b="1" dirty="0">
                <a:solidFill>
                  <a:srgbClr val="FFFFFF"/>
                </a:solidFill>
                <a:latin typeface="Calibri" pitchFamily="34" charset="0"/>
                <a:ea typeface="Calibri" pitchFamily="34" charset="-122"/>
                <a:cs typeface="Calibri" pitchFamily="34" charset="-120"/>
              </a:rPr>
              <a:t>In-app notification</a:t>
            </a:r>
            <a:endParaRPr lang="en-US" sz="1300" dirty="0"/>
          </a:p>
          <a:p>
            <a:pPr marL="0" indent="0" algn="l">
              <a:spcAft>
                <a:spcPts val="300"/>
              </a:spcAft>
              <a:buNone/>
            </a:pPr>
            <a:r>
              <a:rPr lang="en-US" sz="1250" dirty="0">
                <a:solidFill>
                  <a:srgbClr val="93ACC6"/>
                </a:solidFill>
                <a:latin typeface="Calibri" pitchFamily="34" charset="0"/>
                <a:ea typeface="Calibri" pitchFamily="34" charset="-122"/>
                <a:cs typeface="Calibri" pitchFamily="34" charset="-120"/>
              </a:rPr>
              <a:t>Saved for each assigned volunteer.</a:t>
            </a:r>
            <a:endParaRPr lang="en-US" sz="1300" dirty="0"/>
          </a:p>
        </p:txBody>
      </p:sp>
      <p:sp>
        <p:nvSpPr>
          <p:cNvPr id="18" name="Shape 13"/>
          <p:cNvSpPr/>
          <p:nvPr/>
        </p:nvSpPr>
        <p:spPr>
          <a:xfrm flipV="1">
            <a:off x="6400800" y="2491740"/>
            <a:ext cx="1005840" cy="754380"/>
          </a:xfrm>
          <a:prstGeom prst="line">
            <a:avLst/>
          </a:prstGeom>
          <a:noFill/>
          <a:ln w="19050">
            <a:solidFill>
              <a:srgbClr val="7BD389"/>
            </a:solidFill>
            <a:prstDash val="solid"/>
            <a:tailEnd type="triangle"/>
          </a:ln>
        </p:spPr>
        <p:txBody>
          <a:bodyPr/>
          <a:lstStyle/>
          <a:p>
            <a:endParaRPr lang="en-ZA"/>
          </a:p>
        </p:txBody>
      </p:sp>
      <p:sp>
        <p:nvSpPr>
          <p:cNvPr id="19" name="Shape 14"/>
          <p:cNvSpPr/>
          <p:nvPr/>
        </p:nvSpPr>
        <p:spPr>
          <a:xfrm>
            <a:off x="7452360" y="3566160"/>
            <a:ext cx="4190695" cy="1417320"/>
          </a:xfrm>
          <a:prstGeom prst="roundRect">
            <a:avLst>
              <a:gd name="adj" fmla="val 6452"/>
            </a:avLst>
          </a:prstGeom>
          <a:solidFill>
            <a:srgbClr val="13304F"/>
          </a:solidFill>
          <a:ln w="15875">
            <a:solidFill>
              <a:srgbClr val="7BD389"/>
            </a:solidFill>
            <a:prstDash val="solid"/>
          </a:ln>
        </p:spPr>
        <p:txBody>
          <a:bodyPr/>
          <a:lstStyle/>
          <a:p>
            <a:endParaRPr lang="en-ZA"/>
          </a:p>
        </p:txBody>
      </p:sp>
      <p:sp>
        <p:nvSpPr>
          <p:cNvPr id="20" name="Shape 15"/>
          <p:cNvSpPr/>
          <p:nvPr/>
        </p:nvSpPr>
        <p:spPr>
          <a:xfrm>
            <a:off x="7653528" y="3977640"/>
            <a:ext cx="594360" cy="594360"/>
          </a:xfrm>
          <a:prstGeom prst="ellipse">
            <a:avLst/>
          </a:prstGeom>
          <a:solidFill>
            <a:srgbClr val="0B1D33"/>
          </a:solidFill>
          <a:ln w="12700">
            <a:solidFill>
              <a:srgbClr val="0B1D33"/>
            </a:solidFill>
            <a:prstDash val="solid"/>
          </a:ln>
        </p:spPr>
        <p:txBody>
          <a:bodyPr/>
          <a:lstStyle/>
          <a:p>
            <a:endParaRPr lang="en-ZA"/>
          </a:p>
        </p:txBody>
      </p:sp>
      <p:pic>
        <p:nvPicPr>
          <p:cNvPr id="21" name="Image 3" descr="preencoded.png"/>
          <p:cNvPicPr>
            <a:picLocks noChangeAspect="1"/>
          </p:cNvPicPr>
          <p:nvPr/>
        </p:nvPicPr>
        <p:blipFill>
          <a:blip r:embed="rId6"/>
          <a:stretch>
            <a:fillRect/>
          </a:stretch>
        </p:blipFill>
        <p:spPr>
          <a:xfrm>
            <a:off x="7802118" y="4126230"/>
            <a:ext cx="297180" cy="297180"/>
          </a:xfrm>
          <a:prstGeom prst="rect">
            <a:avLst/>
          </a:prstGeom>
        </p:spPr>
      </p:pic>
      <p:sp>
        <p:nvSpPr>
          <p:cNvPr id="22" name="Text 16"/>
          <p:cNvSpPr txBox="1"/>
          <p:nvPr/>
        </p:nvSpPr>
        <p:spPr>
          <a:xfrm>
            <a:off x="8412480" y="3703320"/>
            <a:ext cx="3093415" cy="1143000"/>
          </a:xfrm>
          <a:prstGeom prst="rect">
            <a:avLst/>
          </a:prstGeom>
          <a:noFill/>
          <a:ln/>
        </p:spPr>
        <p:txBody>
          <a:bodyPr wrap="square" lIns="0" tIns="0" rIns="0" bIns="0" rtlCol="0" anchor="ctr"/>
          <a:lstStyle/>
          <a:p>
            <a:pPr marL="0" indent="0" algn="l">
              <a:spcAft>
                <a:spcPts val="300"/>
              </a:spcAft>
              <a:buNone/>
            </a:pPr>
            <a:r>
              <a:rPr lang="en-US" sz="1500" b="1" dirty="0">
                <a:solidFill>
                  <a:srgbClr val="FFFFFF"/>
                </a:solidFill>
                <a:latin typeface="Calibri" pitchFamily="34" charset="0"/>
                <a:ea typeface="Calibri" pitchFamily="34" charset="-122"/>
                <a:cs typeface="Calibri" pitchFamily="34" charset="-120"/>
              </a:rPr>
              <a:t>Push to their phone</a:t>
            </a:r>
            <a:endParaRPr lang="en-US" sz="1300" dirty="0"/>
          </a:p>
          <a:p>
            <a:pPr marL="0" indent="0" algn="l">
              <a:spcAft>
                <a:spcPts val="300"/>
              </a:spcAft>
              <a:buNone/>
            </a:pPr>
            <a:r>
              <a:rPr lang="en-US" sz="1250" dirty="0">
                <a:solidFill>
                  <a:srgbClr val="93ACC6"/>
                </a:solidFill>
                <a:latin typeface="Calibri" pitchFamily="34" charset="0"/>
                <a:ea typeface="Calibri" pitchFamily="34" charset="-122"/>
                <a:cs typeface="Calibri" pitchFamily="34" charset="-120"/>
              </a:rPr>
              <a:t>Sent through Expo's push API.</a:t>
            </a:r>
            <a:endParaRPr lang="en-US" sz="1300" dirty="0"/>
          </a:p>
        </p:txBody>
      </p:sp>
      <p:sp>
        <p:nvSpPr>
          <p:cNvPr id="23" name="Shape 17"/>
          <p:cNvSpPr/>
          <p:nvPr/>
        </p:nvSpPr>
        <p:spPr>
          <a:xfrm>
            <a:off x="6400800" y="3246120"/>
            <a:ext cx="1005840" cy="1028700"/>
          </a:xfrm>
          <a:prstGeom prst="line">
            <a:avLst/>
          </a:prstGeom>
          <a:noFill/>
          <a:ln w="19050">
            <a:solidFill>
              <a:srgbClr val="7BD389"/>
            </a:solidFill>
            <a:prstDash val="solid"/>
            <a:tailEnd type="triangle"/>
          </a:ln>
        </p:spPr>
        <p:txBody>
          <a:bodyPr/>
          <a:lstStyle/>
          <a:p>
            <a:endParaRPr lang="en-ZA"/>
          </a:p>
        </p:txBody>
      </p:sp>
      <p:sp>
        <p:nvSpPr>
          <p:cNvPr id="24" name="Shape 18"/>
          <p:cNvSpPr/>
          <p:nvPr/>
        </p:nvSpPr>
        <p:spPr>
          <a:xfrm>
            <a:off x="548640" y="5532120"/>
            <a:ext cx="4754880" cy="438912"/>
          </a:xfrm>
          <a:prstGeom prst="roundRect">
            <a:avLst>
              <a:gd name="adj" fmla="val 12500"/>
            </a:avLst>
          </a:prstGeom>
          <a:solidFill>
            <a:srgbClr val="1E1E1E"/>
          </a:solidFill>
          <a:ln w="9525">
            <a:solidFill>
              <a:srgbClr val="333337"/>
            </a:solidFill>
            <a:prstDash val="solid"/>
          </a:ln>
        </p:spPr>
        <p:txBody>
          <a:bodyPr/>
          <a:lstStyle/>
          <a:p>
            <a:endParaRPr lang="en-ZA"/>
          </a:p>
        </p:txBody>
      </p:sp>
      <p:sp>
        <p:nvSpPr>
          <p:cNvPr id="25" name="Text 19"/>
          <p:cNvSpPr txBox="1"/>
          <p:nvPr/>
        </p:nvSpPr>
        <p:spPr>
          <a:xfrm>
            <a:off x="713232" y="5532120"/>
            <a:ext cx="4480560" cy="438912"/>
          </a:xfrm>
          <a:prstGeom prst="rect">
            <a:avLst/>
          </a:prstGeom>
          <a:noFill/>
          <a:ln/>
        </p:spPr>
        <p:txBody>
          <a:bodyPr wrap="square" lIns="0" tIns="0" rIns="0" bIns="0" rtlCol="0" anchor="ctr"/>
          <a:lstStyle/>
          <a:p>
            <a:pPr marL="0" indent="0">
              <a:buNone/>
            </a:pPr>
            <a:r>
              <a:rPr lang="en-US" sz="1200" dirty="0">
                <a:solidFill>
                  <a:srgbClr val="9CDCFE"/>
                </a:solidFill>
                <a:latin typeface="Courier New" pitchFamily="34" charset="0"/>
                <a:ea typeface="Courier New" pitchFamily="34" charset="-122"/>
                <a:cs typeface="Courier New" pitchFamily="34" charset="-120"/>
              </a:rPr>
              <a:t>roster</a:t>
            </a:r>
            <a:r>
              <a:rPr lang="en-US" sz="1200" dirty="0">
                <a:solidFill>
                  <a:srgbClr val="D4D4D4"/>
                </a:solidFill>
                <a:latin typeface="Courier New" pitchFamily="34" charset="0"/>
                <a:ea typeface="Courier New" pitchFamily="34" charset="-122"/>
                <a:cs typeface="Courier New" pitchFamily="34" charset="-120"/>
              </a:rPr>
              <a:t>.</a:t>
            </a:r>
            <a:r>
              <a:rPr lang="en-US" sz="1200" dirty="0">
                <a:solidFill>
                  <a:srgbClr val="4EC9B0"/>
                </a:solidFill>
                <a:latin typeface="Courier New" pitchFamily="34" charset="0"/>
                <a:ea typeface="Courier New" pitchFamily="34" charset="-122"/>
                <a:cs typeface="Courier New" pitchFamily="34" charset="-120"/>
              </a:rPr>
              <a:t>Status</a:t>
            </a:r>
            <a:r>
              <a:rPr lang="en-US" sz="1200" dirty="0">
                <a:solidFill>
                  <a:srgbClr val="D4D4D4"/>
                </a:solidFill>
                <a:latin typeface="Courier New" pitchFamily="34" charset="0"/>
                <a:ea typeface="Courier New" pitchFamily="34" charset="-122"/>
                <a:cs typeface="Courier New" pitchFamily="34" charset="-120"/>
              </a:rPr>
              <a:t> = </a:t>
            </a:r>
            <a:r>
              <a:rPr lang="en-US" sz="1200" dirty="0">
                <a:solidFill>
                  <a:srgbClr val="4EC9B0"/>
                </a:solidFill>
                <a:latin typeface="Courier New" pitchFamily="34" charset="0"/>
                <a:ea typeface="Courier New" pitchFamily="34" charset="-122"/>
                <a:cs typeface="Courier New" pitchFamily="34" charset="-120"/>
              </a:rPr>
              <a:t>RosterStatus</a:t>
            </a:r>
            <a:r>
              <a:rPr lang="en-US" sz="1200" dirty="0">
                <a:solidFill>
                  <a:srgbClr val="D4D4D4"/>
                </a:solidFill>
                <a:latin typeface="Courier New" pitchFamily="34" charset="0"/>
                <a:ea typeface="Courier New" pitchFamily="34" charset="-122"/>
                <a:cs typeface="Courier New" pitchFamily="34" charset="-120"/>
              </a:rPr>
              <a:t>.</a:t>
            </a:r>
            <a:r>
              <a:rPr lang="en-US" sz="1200" dirty="0">
                <a:solidFill>
                  <a:srgbClr val="4EC9B0"/>
                </a:solidFill>
                <a:latin typeface="Courier New" pitchFamily="34" charset="0"/>
                <a:ea typeface="Courier New" pitchFamily="34" charset="-122"/>
                <a:cs typeface="Courier New" pitchFamily="34" charset="-120"/>
              </a:rPr>
              <a:t>Published</a:t>
            </a:r>
            <a:r>
              <a:rPr lang="en-US" sz="1200" dirty="0">
                <a:solidFill>
                  <a:srgbClr val="D4D4D4"/>
                </a:solidFill>
                <a:latin typeface="Courier New" pitchFamily="34" charset="0"/>
                <a:ea typeface="Courier New" pitchFamily="34" charset="-122"/>
                <a:cs typeface="Courier New" pitchFamily="34" charset="-120"/>
              </a:rPr>
              <a:t>;</a:t>
            </a:r>
            <a:endParaRPr lang="en-US" sz="1200" dirty="0"/>
          </a:p>
        </p:txBody>
      </p:sp>
      <p:sp>
        <p:nvSpPr>
          <p:cNvPr id="26" name="Shape 20"/>
          <p:cNvSpPr/>
          <p:nvPr/>
        </p:nvSpPr>
        <p:spPr>
          <a:xfrm>
            <a:off x="5577840" y="5532120"/>
            <a:ext cx="6065215" cy="413766"/>
          </a:xfrm>
          <a:prstGeom prst="roundRect">
            <a:avLst>
              <a:gd name="adj" fmla="val 13260"/>
            </a:avLst>
          </a:prstGeom>
          <a:solidFill>
            <a:srgbClr val="1E1E1E"/>
          </a:solidFill>
          <a:ln w="9525">
            <a:solidFill>
              <a:srgbClr val="333337"/>
            </a:solidFill>
            <a:prstDash val="solid"/>
          </a:ln>
        </p:spPr>
        <p:txBody>
          <a:bodyPr/>
          <a:lstStyle/>
          <a:p>
            <a:endParaRPr lang="en-ZA"/>
          </a:p>
        </p:txBody>
      </p:sp>
      <p:sp>
        <p:nvSpPr>
          <p:cNvPr id="27" name="Text 21"/>
          <p:cNvSpPr txBox="1"/>
          <p:nvPr/>
        </p:nvSpPr>
        <p:spPr>
          <a:xfrm>
            <a:off x="5742432" y="5532120"/>
            <a:ext cx="5790895" cy="413766"/>
          </a:xfrm>
          <a:prstGeom prst="rect">
            <a:avLst/>
          </a:prstGeom>
          <a:noFill/>
          <a:ln/>
        </p:spPr>
        <p:txBody>
          <a:bodyPr wrap="square" lIns="0" tIns="0" rIns="0" bIns="0" rtlCol="0" anchor="ctr"/>
          <a:lstStyle/>
          <a:p>
            <a:pPr marL="0" indent="0">
              <a:buNone/>
            </a:pPr>
            <a:r>
              <a:rPr lang="en-US" sz="1050" dirty="0">
                <a:solidFill>
                  <a:srgbClr val="C586C0"/>
                </a:solidFill>
                <a:latin typeface="Courier New" pitchFamily="34" charset="0"/>
                <a:ea typeface="Courier New" pitchFamily="34" charset="-122"/>
                <a:cs typeface="Courier New" pitchFamily="34" charset="-120"/>
              </a:rPr>
              <a:t>await</a:t>
            </a:r>
            <a:r>
              <a:rPr lang="en-US" sz="1050" dirty="0">
                <a:solidFill>
                  <a:srgbClr val="D4D4D4"/>
                </a:solidFill>
                <a:latin typeface="Courier New" pitchFamily="34" charset="0"/>
                <a:ea typeface="Courier New" pitchFamily="34" charset="-122"/>
                <a:cs typeface="Courier New" pitchFamily="34" charset="-120"/>
              </a:rPr>
              <a:t> </a:t>
            </a:r>
            <a:r>
              <a:rPr lang="en-US" sz="1050" dirty="0">
                <a:solidFill>
                  <a:srgbClr val="9CDCFE"/>
                </a:solidFill>
                <a:latin typeface="Courier New" pitchFamily="34" charset="0"/>
                <a:ea typeface="Courier New" pitchFamily="34" charset="-122"/>
                <a:cs typeface="Courier New" pitchFamily="34" charset="-120"/>
              </a:rPr>
              <a:t>_expoPushNotificationService</a:t>
            </a:r>
            <a:r>
              <a:rPr lang="en-US" sz="1050" dirty="0">
                <a:solidFill>
                  <a:srgbClr val="D4D4D4"/>
                </a:solidFill>
                <a:latin typeface="Courier New" pitchFamily="34" charset="0"/>
                <a:ea typeface="Courier New" pitchFamily="34" charset="-122"/>
                <a:cs typeface="Courier New" pitchFamily="34" charset="-120"/>
              </a:rPr>
              <a:t>.</a:t>
            </a:r>
            <a:r>
              <a:rPr lang="en-US" sz="1050" dirty="0">
                <a:solidFill>
                  <a:srgbClr val="DCDCAA"/>
                </a:solidFill>
                <a:latin typeface="Courier New" pitchFamily="34" charset="0"/>
                <a:ea typeface="Courier New" pitchFamily="34" charset="-122"/>
                <a:cs typeface="Courier New" pitchFamily="34" charset="-120"/>
              </a:rPr>
              <a:t>SendPushNotificationAsync</a:t>
            </a:r>
            <a:r>
              <a:rPr lang="en-US" sz="1050" dirty="0">
                <a:solidFill>
                  <a:srgbClr val="D4D4D4"/>
                </a:solidFill>
                <a:latin typeface="Courier New" pitchFamily="34" charset="0"/>
                <a:ea typeface="Courier New" pitchFamily="34" charset="-122"/>
                <a:cs typeface="Courier New" pitchFamily="34" charset="-120"/>
              </a:rPr>
              <a:t>(</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0B1D33"/>
        </a:solidFill>
        <a:effectLst/>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F6AE2D"/>
          </a:solidFill>
          <a:ln w="12700">
            <a:solidFill>
              <a:srgbClr val="F6AE2D"/>
            </a:solidFill>
            <a:prstDash val="solid"/>
          </a:ln>
        </p:spPr>
        <p:txBody>
          <a:bodyPr/>
          <a:lstStyle/>
          <a:p>
            <a:endParaRPr lang="en-ZA"/>
          </a:p>
        </p:txBody>
      </p:sp>
      <p:sp>
        <p:nvSpPr>
          <p:cNvPr id="3" name="Text 1"/>
          <p:cNvSpPr txBox="1"/>
          <p:nvPr/>
        </p:nvSpPr>
        <p:spPr>
          <a:xfrm>
            <a:off x="548640" y="384048"/>
            <a:ext cx="8229600" cy="274320"/>
          </a:xfrm>
          <a:prstGeom prst="rect">
            <a:avLst/>
          </a:prstGeom>
          <a:noFill/>
          <a:ln/>
        </p:spPr>
        <p:txBody>
          <a:bodyPr wrap="square" lIns="0" tIns="0" rIns="0" bIns="0" rtlCol="0" anchor="ctr"/>
          <a:lstStyle/>
          <a:p>
            <a:pPr marL="0" indent="0">
              <a:buNone/>
            </a:pPr>
            <a:r>
              <a:rPr lang="en-US" sz="1100" b="1" kern="0" spc="400" dirty="0">
                <a:solidFill>
                  <a:srgbClr val="F6AE2D"/>
                </a:solidFill>
                <a:latin typeface="Calibri" pitchFamily="34" charset="0"/>
                <a:ea typeface="Calibri" pitchFamily="34" charset="-122"/>
                <a:cs typeface="Calibri" pitchFamily="34" charset="-120"/>
              </a:rPr>
              <a:t>REMINDERS</a:t>
            </a:r>
            <a:endParaRPr lang="en-US" sz="1100" dirty="0"/>
          </a:p>
        </p:txBody>
      </p:sp>
      <p:sp>
        <p:nvSpPr>
          <p:cNvPr id="4" name="Text 2"/>
          <p:cNvSpPr txBox="1"/>
          <p:nvPr/>
        </p:nvSpPr>
        <p:spPr>
          <a:xfrm>
            <a:off x="548640" y="658368"/>
            <a:ext cx="11094415" cy="566928"/>
          </a:xfrm>
          <a:prstGeom prst="rect">
            <a:avLst/>
          </a:prstGeom>
          <a:noFill/>
          <a:ln/>
        </p:spPr>
        <p:txBody>
          <a:bodyPr wrap="square" lIns="0" tIns="0" rIns="0" bIns="0"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Background workers that run on a schedule</a:t>
            </a:r>
            <a:endParaRPr lang="en-US" sz="3000" dirty="0"/>
          </a:p>
        </p:txBody>
      </p:sp>
      <p:sp>
        <p:nvSpPr>
          <p:cNvPr id="5" name="Text 3"/>
          <p:cNvSpPr txBox="1"/>
          <p:nvPr/>
        </p:nvSpPr>
        <p:spPr>
          <a:xfrm>
            <a:off x="548640" y="1463040"/>
            <a:ext cx="2743200" cy="320040"/>
          </a:xfrm>
          <a:prstGeom prst="rect">
            <a:avLst/>
          </a:prstGeom>
          <a:noFill/>
          <a:ln/>
        </p:spPr>
        <p:txBody>
          <a:bodyPr wrap="square" lIns="0" tIns="0" rIns="0" bIns="0" rtlCol="0" anchor="t"/>
          <a:lstStyle/>
          <a:p>
            <a:pPr marL="0" indent="0" algn="l">
              <a:spcAft>
                <a:spcPts val="300"/>
              </a:spcAft>
              <a:buNone/>
            </a:pPr>
            <a:r>
              <a:rPr lang="en-US" sz="1200" b="1" dirty="0">
                <a:solidFill>
                  <a:srgbClr val="F6AE2D"/>
                </a:solidFill>
                <a:latin typeface="Calibri" pitchFamily="34" charset="0"/>
                <a:ea typeface="Calibri" pitchFamily="34" charset="-122"/>
                <a:cs typeface="Calibri" pitchFamily="34" charset="-120"/>
              </a:rPr>
              <a:t>EVERY DAY</a:t>
            </a:r>
            <a:endParaRPr lang="en-US" sz="1200" dirty="0"/>
          </a:p>
        </p:txBody>
      </p:sp>
      <p:sp>
        <p:nvSpPr>
          <p:cNvPr id="6" name="Shape 4"/>
          <p:cNvSpPr/>
          <p:nvPr/>
        </p:nvSpPr>
        <p:spPr>
          <a:xfrm>
            <a:off x="731520" y="2331720"/>
            <a:ext cx="10728655" cy="0"/>
          </a:xfrm>
          <a:prstGeom prst="line">
            <a:avLst/>
          </a:prstGeom>
          <a:noFill/>
          <a:ln w="25400">
            <a:solidFill>
              <a:srgbClr val="93ACC6"/>
            </a:solidFill>
            <a:prstDash val="solid"/>
          </a:ln>
        </p:spPr>
        <p:txBody>
          <a:bodyPr/>
          <a:lstStyle/>
          <a:p>
            <a:endParaRPr lang="en-ZA"/>
          </a:p>
        </p:txBody>
      </p:sp>
      <p:sp>
        <p:nvSpPr>
          <p:cNvPr id="7" name="Shape 5"/>
          <p:cNvSpPr/>
          <p:nvPr/>
        </p:nvSpPr>
        <p:spPr>
          <a:xfrm>
            <a:off x="731520" y="2240280"/>
            <a:ext cx="0" cy="182880"/>
          </a:xfrm>
          <a:prstGeom prst="line">
            <a:avLst/>
          </a:prstGeom>
          <a:noFill/>
          <a:ln w="19050">
            <a:solidFill>
              <a:srgbClr val="93ACC6"/>
            </a:solidFill>
            <a:prstDash val="solid"/>
          </a:ln>
        </p:spPr>
        <p:txBody>
          <a:bodyPr/>
          <a:lstStyle/>
          <a:p>
            <a:endParaRPr lang="en-ZA"/>
          </a:p>
        </p:txBody>
      </p:sp>
      <p:sp>
        <p:nvSpPr>
          <p:cNvPr id="8" name="Text 6"/>
          <p:cNvSpPr txBox="1"/>
          <p:nvPr/>
        </p:nvSpPr>
        <p:spPr>
          <a:xfrm>
            <a:off x="274320" y="2468880"/>
            <a:ext cx="914400" cy="274320"/>
          </a:xfrm>
          <a:prstGeom prst="rect">
            <a:avLst/>
          </a:prstGeom>
          <a:noFill/>
          <a:ln/>
        </p:spPr>
        <p:txBody>
          <a:bodyPr wrap="square" lIns="0" tIns="0" rIns="0" bIns="0" rtlCol="0" anchor="t"/>
          <a:lstStyle/>
          <a:p>
            <a:pPr marL="0" indent="0" algn="ctr">
              <a:spcAft>
                <a:spcPts val="300"/>
              </a:spcAft>
              <a:buNone/>
            </a:pPr>
            <a:r>
              <a:rPr lang="en-US" sz="1100" dirty="0">
                <a:solidFill>
                  <a:srgbClr val="93ACC6"/>
                </a:solidFill>
                <a:latin typeface="Calibri" pitchFamily="34" charset="0"/>
                <a:ea typeface="Calibri" pitchFamily="34" charset="-122"/>
                <a:cs typeface="Calibri" pitchFamily="34" charset="-120"/>
              </a:rPr>
              <a:t>00:00</a:t>
            </a:r>
            <a:endParaRPr lang="en-US" sz="1100" dirty="0"/>
          </a:p>
        </p:txBody>
      </p:sp>
      <p:sp>
        <p:nvSpPr>
          <p:cNvPr id="9" name="Shape 7"/>
          <p:cNvSpPr/>
          <p:nvPr/>
        </p:nvSpPr>
        <p:spPr>
          <a:xfrm>
            <a:off x="3413684" y="2240280"/>
            <a:ext cx="0" cy="182880"/>
          </a:xfrm>
          <a:prstGeom prst="line">
            <a:avLst/>
          </a:prstGeom>
          <a:noFill/>
          <a:ln w="19050">
            <a:solidFill>
              <a:srgbClr val="93ACC6"/>
            </a:solidFill>
            <a:prstDash val="solid"/>
          </a:ln>
        </p:spPr>
        <p:txBody>
          <a:bodyPr/>
          <a:lstStyle/>
          <a:p>
            <a:endParaRPr lang="en-ZA"/>
          </a:p>
        </p:txBody>
      </p:sp>
      <p:sp>
        <p:nvSpPr>
          <p:cNvPr id="10" name="Text 8"/>
          <p:cNvSpPr txBox="1"/>
          <p:nvPr/>
        </p:nvSpPr>
        <p:spPr>
          <a:xfrm>
            <a:off x="2956484" y="2468880"/>
            <a:ext cx="914400" cy="274320"/>
          </a:xfrm>
          <a:prstGeom prst="rect">
            <a:avLst/>
          </a:prstGeom>
          <a:noFill/>
          <a:ln/>
        </p:spPr>
        <p:txBody>
          <a:bodyPr wrap="square" lIns="0" tIns="0" rIns="0" bIns="0" rtlCol="0" anchor="t"/>
          <a:lstStyle/>
          <a:p>
            <a:pPr marL="0" indent="0" algn="ctr">
              <a:spcAft>
                <a:spcPts val="300"/>
              </a:spcAft>
              <a:buNone/>
            </a:pPr>
            <a:r>
              <a:rPr lang="en-US" sz="1100" dirty="0">
                <a:solidFill>
                  <a:srgbClr val="93ACC6"/>
                </a:solidFill>
                <a:latin typeface="Calibri" pitchFamily="34" charset="0"/>
                <a:ea typeface="Calibri" pitchFamily="34" charset="-122"/>
                <a:cs typeface="Calibri" pitchFamily="34" charset="-120"/>
              </a:rPr>
              <a:t>06:00</a:t>
            </a:r>
            <a:endParaRPr lang="en-US" sz="1100" dirty="0"/>
          </a:p>
        </p:txBody>
      </p:sp>
      <p:sp>
        <p:nvSpPr>
          <p:cNvPr id="11" name="Shape 9"/>
          <p:cNvSpPr/>
          <p:nvPr/>
        </p:nvSpPr>
        <p:spPr>
          <a:xfrm>
            <a:off x="6095848" y="2240280"/>
            <a:ext cx="0" cy="182880"/>
          </a:xfrm>
          <a:prstGeom prst="line">
            <a:avLst/>
          </a:prstGeom>
          <a:noFill/>
          <a:ln w="19050">
            <a:solidFill>
              <a:srgbClr val="93ACC6"/>
            </a:solidFill>
            <a:prstDash val="solid"/>
          </a:ln>
        </p:spPr>
        <p:txBody>
          <a:bodyPr/>
          <a:lstStyle/>
          <a:p>
            <a:endParaRPr lang="en-ZA"/>
          </a:p>
        </p:txBody>
      </p:sp>
      <p:sp>
        <p:nvSpPr>
          <p:cNvPr id="12" name="Text 10"/>
          <p:cNvSpPr txBox="1"/>
          <p:nvPr/>
        </p:nvSpPr>
        <p:spPr>
          <a:xfrm>
            <a:off x="5638648" y="2468880"/>
            <a:ext cx="914400" cy="274320"/>
          </a:xfrm>
          <a:prstGeom prst="rect">
            <a:avLst/>
          </a:prstGeom>
          <a:noFill/>
          <a:ln/>
        </p:spPr>
        <p:txBody>
          <a:bodyPr wrap="square" lIns="0" tIns="0" rIns="0" bIns="0" rtlCol="0" anchor="t"/>
          <a:lstStyle/>
          <a:p>
            <a:pPr marL="0" indent="0" algn="ctr">
              <a:spcAft>
                <a:spcPts val="300"/>
              </a:spcAft>
              <a:buNone/>
            </a:pPr>
            <a:r>
              <a:rPr lang="en-US" sz="1100" dirty="0">
                <a:solidFill>
                  <a:srgbClr val="93ACC6"/>
                </a:solidFill>
                <a:latin typeface="Calibri" pitchFamily="34" charset="0"/>
                <a:ea typeface="Calibri" pitchFamily="34" charset="-122"/>
                <a:cs typeface="Calibri" pitchFamily="34" charset="-120"/>
              </a:rPr>
              <a:t>12:00</a:t>
            </a:r>
            <a:endParaRPr lang="en-US" sz="1100" dirty="0"/>
          </a:p>
        </p:txBody>
      </p:sp>
      <p:sp>
        <p:nvSpPr>
          <p:cNvPr id="13" name="Shape 11"/>
          <p:cNvSpPr/>
          <p:nvPr/>
        </p:nvSpPr>
        <p:spPr>
          <a:xfrm>
            <a:off x="8778011" y="2240280"/>
            <a:ext cx="0" cy="182880"/>
          </a:xfrm>
          <a:prstGeom prst="line">
            <a:avLst/>
          </a:prstGeom>
          <a:noFill/>
          <a:ln w="19050">
            <a:solidFill>
              <a:srgbClr val="93ACC6"/>
            </a:solidFill>
            <a:prstDash val="solid"/>
          </a:ln>
        </p:spPr>
        <p:txBody>
          <a:bodyPr/>
          <a:lstStyle/>
          <a:p>
            <a:endParaRPr lang="en-ZA"/>
          </a:p>
        </p:txBody>
      </p:sp>
      <p:sp>
        <p:nvSpPr>
          <p:cNvPr id="14" name="Text 12"/>
          <p:cNvSpPr txBox="1"/>
          <p:nvPr/>
        </p:nvSpPr>
        <p:spPr>
          <a:xfrm>
            <a:off x="8320811" y="2468880"/>
            <a:ext cx="914400" cy="274320"/>
          </a:xfrm>
          <a:prstGeom prst="rect">
            <a:avLst/>
          </a:prstGeom>
          <a:noFill/>
          <a:ln/>
        </p:spPr>
        <p:txBody>
          <a:bodyPr wrap="square" lIns="0" tIns="0" rIns="0" bIns="0" rtlCol="0" anchor="t"/>
          <a:lstStyle/>
          <a:p>
            <a:pPr marL="0" indent="0" algn="ctr">
              <a:spcAft>
                <a:spcPts val="300"/>
              </a:spcAft>
              <a:buNone/>
            </a:pPr>
            <a:r>
              <a:rPr lang="en-US" sz="1100" dirty="0">
                <a:solidFill>
                  <a:srgbClr val="93ACC6"/>
                </a:solidFill>
                <a:latin typeface="Calibri" pitchFamily="34" charset="0"/>
                <a:ea typeface="Calibri" pitchFamily="34" charset="-122"/>
                <a:cs typeface="Calibri" pitchFamily="34" charset="-120"/>
              </a:rPr>
              <a:t>18:00</a:t>
            </a:r>
            <a:endParaRPr lang="en-US" sz="1100" dirty="0"/>
          </a:p>
        </p:txBody>
      </p:sp>
      <p:sp>
        <p:nvSpPr>
          <p:cNvPr id="15" name="Shape 13"/>
          <p:cNvSpPr/>
          <p:nvPr/>
        </p:nvSpPr>
        <p:spPr>
          <a:xfrm>
            <a:off x="11460175" y="2240280"/>
            <a:ext cx="0" cy="182880"/>
          </a:xfrm>
          <a:prstGeom prst="line">
            <a:avLst/>
          </a:prstGeom>
          <a:noFill/>
          <a:ln w="19050">
            <a:solidFill>
              <a:srgbClr val="93ACC6"/>
            </a:solidFill>
            <a:prstDash val="solid"/>
          </a:ln>
        </p:spPr>
        <p:txBody>
          <a:bodyPr/>
          <a:lstStyle/>
          <a:p>
            <a:endParaRPr lang="en-ZA"/>
          </a:p>
        </p:txBody>
      </p:sp>
      <p:sp>
        <p:nvSpPr>
          <p:cNvPr id="16" name="Text 14"/>
          <p:cNvSpPr txBox="1"/>
          <p:nvPr/>
        </p:nvSpPr>
        <p:spPr>
          <a:xfrm>
            <a:off x="11002975" y="2468880"/>
            <a:ext cx="914400" cy="274320"/>
          </a:xfrm>
          <a:prstGeom prst="rect">
            <a:avLst/>
          </a:prstGeom>
          <a:noFill/>
          <a:ln/>
        </p:spPr>
        <p:txBody>
          <a:bodyPr wrap="square" lIns="0" tIns="0" rIns="0" bIns="0" rtlCol="0" anchor="t"/>
          <a:lstStyle/>
          <a:p>
            <a:pPr marL="0" indent="0" algn="ctr">
              <a:spcAft>
                <a:spcPts val="300"/>
              </a:spcAft>
              <a:buNone/>
            </a:pPr>
            <a:r>
              <a:rPr lang="en-US" sz="1100" dirty="0">
                <a:solidFill>
                  <a:srgbClr val="93ACC6"/>
                </a:solidFill>
                <a:latin typeface="Calibri" pitchFamily="34" charset="0"/>
                <a:ea typeface="Calibri" pitchFamily="34" charset="-122"/>
                <a:cs typeface="Calibri" pitchFamily="34" charset="-120"/>
              </a:rPr>
              <a:t>24:00</a:t>
            </a:r>
            <a:endParaRPr lang="en-US" sz="1100" dirty="0"/>
          </a:p>
        </p:txBody>
      </p:sp>
      <p:sp>
        <p:nvSpPr>
          <p:cNvPr id="17" name="Shape 15"/>
          <p:cNvSpPr/>
          <p:nvPr/>
        </p:nvSpPr>
        <p:spPr>
          <a:xfrm>
            <a:off x="8595131" y="2148840"/>
            <a:ext cx="365760" cy="365760"/>
          </a:xfrm>
          <a:prstGeom prst="ellipse">
            <a:avLst/>
          </a:prstGeom>
          <a:solidFill>
            <a:srgbClr val="F6AE2D"/>
          </a:solidFill>
          <a:ln w="12700">
            <a:solidFill>
              <a:srgbClr val="F6AE2D"/>
            </a:solidFill>
            <a:prstDash val="solid"/>
          </a:ln>
        </p:spPr>
        <p:txBody>
          <a:bodyPr/>
          <a:lstStyle/>
          <a:p>
            <a:endParaRPr lang="en-ZA"/>
          </a:p>
        </p:txBody>
      </p:sp>
      <p:sp>
        <p:nvSpPr>
          <p:cNvPr id="18" name="Shape 16"/>
          <p:cNvSpPr/>
          <p:nvPr/>
        </p:nvSpPr>
        <p:spPr>
          <a:xfrm>
            <a:off x="5669051" y="1417320"/>
            <a:ext cx="2834640" cy="685800"/>
          </a:xfrm>
          <a:prstGeom prst="roundRect">
            <a:avLst>
              <a:gd name="adj" fmla="val 13333"/>
            </a:avLst>
          </a:prstGeom>
          <a:solidFill>
            <a:srgbClr val="1A3D63"/>
          </a:solidFill>
          <a:ln w="15875">
            <a:solidFill>
              <a:srgbClr val="F6AE2D"/>
            </a:solidFill>
            <a:prstDash val="solid"/>
          </a:ln>
        </p:spPr>
        <p:txBody>
          <a:bodyPr/>
          <a:lstStyle/>
          <a:p>
            <a:endParaRPr lang="en-ZA"/>
          </a:p>
        </p:txBody>
      </p:sp>
      <p:sp>
        <p:nvSpPr>
          <p:cNvPr id="19" name="Text 17"/>
          <p:cNvSpPr txBox="1"/>
          <p:nvPr/>
        </p:nvSpPr>
        <p:spPr>
          <a:xfrm>
            <a:off x="5760491" y="1417320"/>
            <a:ext cx="2697480" cy="685800"/>
          </a:xfrm>
          <a:prstGeom prst="rect">
            <a:avLst/>
          </a:prstGeom>
          <a:noFill/>
          <a:ln/>
        </p:spPr>
        <p:txBody>
          <a:bodyPr wrap="square" lIns="0" tIns="0" rIns="0" bIns="0" rtlCol="0" anchor="ctr"/>
          <a:lstStyle/>
          <a:p>
            <a:pPr marL="0" indent="0" algn="l">
              <a:spcAft>
                <a:spcPts val="300"/>
              </a:spcAft>
              <a:buNone/>
            </a:pPr>
            <a:r>
              <a:rPr lang="en-US" sz="1200" b="1" dirty="0">
                <a:solidFill>
                  <a:srgbClr val="FFFFFF"/>
                </a:solidFill>
                <a:latin typeface="Calibri" pitchFamily="34" charset="0"/>
                <a:ea typeface="Calibri" pitchFamily="34" charset="-122"/>
                <a:cs typeface="Calibri" pitchFamily="34" charset="-120"/>
              </a:rPr>
              <a:t>Remind tomorrow's volunteers about their shifts</a:t>
            </a:r>
            <a:endParaRPr lang="en-US" sz="1200" dirty="0"/>
          </a:p>
        </p:txBody>
      </p:sp>
      <p:sp>
        <p:nvSpPr>
          <p:cNvPr id="20" name="Text 18"/>
          <p:cNvSpPr txBox="1"/>
          <p:nvPr/>
        </p:nvSpPr>
        <p:spPr>
          <a:xfrm>
            <a:off x="548640" y="2926080"/>
            <a:ext cx="2743200" cy="320040"/>
          </a:xfrm>
          <a:prstGeom prst="rect">
            <a:avLst/>
          </a:prstGeom>
          <a:noFill/>
          <a:ln/>
        </p:spPr>
        <p:txBody>
          <a:bodyPr wrap="square" lIns="0" tIns="0" rIns="0" bIns="0" rtlCol="0" anchor="t"/>
          <a:lstStyle/>
          <a:p>
            <a:pPr marL="0" indent="0" algn="l">
              <a:spcAft>
                <a:spcPts val="300"/>
              </a:spcAft>
              <a:buNone/>
            </a:pPr>
            <a:r>
              <a:rPr lang="en-US" sz="1200" b="1" dirty="0">
                <a:solidFill>
                  <a:srgbClr val="5ED3C6"/>
                </a:solidFill>
                <a:latin typeface="Calibri" pitchFamily="34" charset="0"/>
                <a:ea typeface="Calibri" pitchFamily="34" charset="-122"/>
                <a:cs typeface="Calibri" pitchFamily="34" charset="-120"/>
              </a:rPr>
              <a:t>EVERY WEEK</a:t>
            </a:r>
            <a:endParaRPr lang="en-US" sz="1200" dirty="0"/>
          </a:p>
        </p:txBody>
      </p:sp>
      <p:sp>
        <p:nvSpPr>
          <p:cNvPr id="21" name="Shape 19"/>
          <p:cNvSpPr/>
          <p:nvPr/>
        </p:nvSpPr>
        <p:spPr>
          <a:xfrm>
            <a:off x="548640" y="3291840"/>
            <a:ext cx="1467351" cy="685800"/>
          </a:xfrm>
          <a:prstGeom prst="roundRect">
            <a:avLst>
              <a:gd name="adj" fmla="val 13333"/>
            </a:avLst>
          </a:prstGeom>
          <a:solidFill>
            <a:srgbClr val="13304F"/>
          </a:solidFill>
          <a:ln w="12700">
            <a:solidFill>
              <a:srgbClr val="13304F"/>
            </a:solidFill>
            <a:prstDash val="solid"/>
          </a:ln>
        </p:spPr>
        <p:txBody>
          <a:bodyPr/>
          <a:lstStyle/>
          <a:p>
            <a:endParaRPr lang="en-ZA"/>
          </a:p>
        </p:txBody>
      </p:sp>
      <p:sp>
        <p:nvSpPr>
          <p:cNvPr id="22" name="Text 20"/>
          <p:cNvSpPr txBox="1"/>
          <p:nvPr/>
        </p:nvSpPr>
        <p:spPr>
          <a:xfrm>
            <a:off x="548640" y="3291840"/>
            <a:ext cx="1467351" cy="685800"/>
          </a:xfrm>
          <a:prstGeom prst="rect">
            <a:avLst/>
          </a:prstGeom>
          <a:noFill/>
          <a:ln/>
        </p:spPr>
        <p:txBody>
          <a:bodyPr wrap="square" lIns="0" tIns="0" rIns="0" bIns="0" rtlCol="0" anchor="ctr"/>
          <a:lstStyle/>
          <a:p>
            <a:pPr marL="0" indent="0" algn="ctr">
              <a:spcAft>
                <a:spcPts val="300"/>
              </a:spcAft>
              <a:buNone/>
            </a:pPr>
            <a:r>
              <a:rPr lang="en-US" sz="1300" dirty="0">
                <a:solidFill>
                  <a:srgbClr val="93ACC6"/>
                </a:solidFill>
                <a:latin typeface="Calibri" pitchFamily="34" charset="0"/>
                <a:ea typeface="Calibri" pitchFamily="34" charset="-122"/>
                <a:cs typeface="Calibri" pitchFamily="34" charset="-120"/>
              </a:rPr>
              <a:t>Mon</a:t>
            </a:r>
            <a:endParaRPr lang="en-US" sz="1300" dirty="0"/>
          </a:p>
        </p:txBody>
      </p:sp>
      <p:sp>
        <p:nvSpPr>
          <p:cNvPr id="23" name="Shape 21"/>
          <p:cNvSpPr/>
          <p:nvPr/>
        </p:nvSpPr>
        <p:spPr>
          <a:xfrm>
            <a:off x="2153151" y="3291840"/>
            <a:ext cx="1467351" cy="685800"/>
          </a:xfrm>
          <a:prstGeom prst="roundRect">
            <a:avLst>
              <a:gd name="adj" fmla="val 13333"/>
            </a:avLst>
          </a:prstGeom>
          <a:solidFill>
            <a:srgbClr val="13304F"/>
          </a:solidFill>
          <a:ln w="12700">
            <a:solidFill>
              <a:srgbClr val="13304F"/>
            </a:solidFill>
            <a:prstDash val="solid"/>
          </a:ln>
        </p:spPr>
        <p:txBody>
          <a:bodyPr/>
          <a:lstStyle/>
          <a:p>
            <a:endParaRPr lang="en-ZA"/>
          </a:p>
        </p:txBody>
      </p:sp>
      <p:sp>
        <p:nvSpPr>
          <p:cNvPr id="24" name="Text 22"/>
          <p:cNvSpPr txBox="1"/>
          <p:nvPr/>
        </p:nvSpPr>
        <p:spPr>
          <a:xfrm>
            <a:off x="2153151" y="3291840"/>
            <a:ext cx="1467351" cy="685800"/>
          </a:xfrm>
          <a:prstGeom prst="rect">
            <a:avLst/>
          </a:prstGeom>
          <a:noFill/>
          <a:ln/>
        </p:spPr>
        <p:txBody>
          <a:bodyPr wrap="square" lIns="0" tIns="0" rIns="0" bIns="0" rtlCol="0" anchor="ctr"/>
          <a:lstStyle/>
          <a:p>
            <a:pPr marL="0" indent="0" algn="ctr">
              <a:spcAft>
                <a:spcPts val="300"/>
              </a:spcAft>
              <a:buNone/>
            </a:pPr>
            <a:r>
              <a:rPr lang="en-US" sz="1300" dirty="0">
                <a:solidFill>
                  <a:srgbClr val="93ACC6"/>
                </a:solidFill>
                <a:latin typeface="Calibri" pitchFamily="34" charset="0"/>
                <a:ea typeface="Calibri" pitchFamily="34" charset="-122"/>
                <a:cs typeface="Calibri" pitchFamily="34" charset="-120"/>
              </a:rPr>
              <a:t>Tue</a:t>
            </a:r>
            <a:endParaRPr lang="en-US" sz="1300" dirty="0"/>
          </a:p>
        </p:txBody>
      </p:sp>
      <p:sp>
        <p:nvSpPr>
          <p:cNvPr id="25" name="Shape 23"/>
          <p:cNvSpPr/>
          <p:nvPr/>
        </p:nvSpPr>
        <p:spPr>
          <a:xfrm>
            <a:off x="3757661" y="3291840"/>
            <a:ext cx="1467351" cy="685800"/>
          </a:xfrm>
          <a:prstGeom prst="roundRect">
            <a:avLst>
              <a:gd name="adj" fmla="val 13333"/>
            </a:avLst>
          </a:prstGeom>
          <a:solidFill>
            <a:srgbClr val="13304F"/>
          </a:solidFill>
          <a:ln w="12700">
            <a:solidFill>
              <a:srgbClr val="13304F"/>
            </a:solidFill>
            <a:prstDash val="solid"/>
          </a:ln>
        </p:spPr>
        <p:txBody>
          <a:bodyPr/>
          <a:lstStyle/>
          <a:p>
            <a:endParaRPr lang="en-ZA"/>
          </a:p>
        </p:txBody>
      </p:sp>
      <p:sp>
        <p:nvSpPr>
          <p:cNvPr id="26" name="Text 24"/>
          <p:cNvSpPr txBox="1"/>
          <p:nvPr/>
        </p:nvSpPr>
        <p:spPr>
          <a:xfrm>
            <a:off x="3757661" y="3291840"/>
            <a:ext cx="1467351" cy="685800"/>
          </a:xfrm>
          <a:prstGeom prst="rect">
            <a:avLst/>
          </a:prstGeom>
          <a:noFill/>
          <a:ln/>
        </p:spPr>
        <p:txBody>
          <a:bodyPr wrap="square" lIns="0" tIns="0" rIns="0" bIns="0" rtlCol="0" anchor="ctr"/>
          <a:lstStyle/>
          <a:p>
            <a:pPr marL="0" indent="0" algn="ctr">
              <a:spcAft>
                <a:spcPts val="300"/>
              </a:spcAft>
              <a:buNone/>
            </a:pPr>
            <a:r>
              <a:rPr lang="en-US" sz="1300" dirty="0">
                <a:solidFill>
                  <a:srgbClr val="93ACC6"/>
                </a:solidFill>
                <a:latin typeface="Calibri" pitchFamily="34" charset="0"/>
                <a:ea typeface="Calibri" pitchFamily="34" charset="-122"/>
                <a:cs typeface="Calibri" pitchFamily="34" charset="-120"/>
              </a:rPr>
              <a:t>Wed</a:t>
            </a:r>
            <a:endParaRPr lang="en-US" sz="1300" dirty="0"/>
          </a:p>
        </p:txBody>
      </p:sp>
      <p:sp>
        <p:nvSpPr>
          <p:cNvPr id="27" name="Shape 25"/>
          <p:cNvSpPr/>
          <p:nvPr/>
        </p:nvSpPr>
        <p:spPr>
          <a:xfrm>
            <a:off x="5362172" y="3291840"/>
            <a:ext cx="1467351" cy="685800"/>
          </a:xfrm>
          <a:prstGeom prst="roundRect">
            <a:avLst>
              <a:gd name="adj" fmla="val 13333"/>
            </a:avLst>
          </a:prstGeom>
          <a:solidFill>
            <a:srgbClr val="13304F"/>
          </a:solidFill>
          <a:ln w="12700">
            <a:solidFill>
              <a:srgbClr val="13304F"/>
            </a:solidFill>
            <a:prstDash val="solid"/>
          </a:ln>
        </p:spPr>
        <p:txBody>
          <a:bodyPr/>
          <a:lstStyle/>
          <a:p>
            <a:endParaRPr lang="en-ZA"/>
          </a:p>
        </p:txBody>
      </p:sp>
      <p:sp>
        <p:nvSpPr>
          <p:cNvPr id="28" name="Text 26"/>
          <p:cNvSpPr txBox="1"/>
          <p:nvPr/>
        </p:nvSpPr>
        <p:spPr>
          <a:xfrm>
            <a:off x="5362172" y="3291840"/>
            <a:ext cx="1467351" cy="685800"/>
          </a:xfrm>
          <a:prstGeom prst="rect">
            <a:avLst/>
          </a:prstGeom>
          <a:noFill/>
          <a:ln/>
        </p:spPr>
        <p:txBody>
          <a:bodyPr wrap="square" lIns="0" tIns="0" rIns="0" bIns="0" rtlCol="0" anchor="ctr"/>
          <a:lstStyle/>
          <a:p>
            <a:pPr marL="0" indent="0" algn="ctr">
              <a:spcAft>
                <a:spcPts val="300"/>
              </a:spcAft>
              <a:buNone/>
            </a:pPr>
            <a:r>
              <a:rPr lang="en-US" sz="1300" dirty="0">
                <a:solidFill>
                  <a:srgbClr val="93ACC6"/>
                </a:solidFill>
                <a:latin typeface="Calibri" pitchFamily="34" charset="0"/>
                <a:ea typeface="Calibri" pitchFamily="34" charset="-122"/>
                <a:cs typeface="Calibri" pitchFamily="34" charset="-120"/>
              </a:rPr>
              <a:t>Thu</a:t>
            </a:r>
            <a:endParaRPr lang="en-US" sz="1300" dirty="0"/>
          </a:p>
        </p:txBody>
      </p:sp>
      <p:sp>
        <p:nvSpPr>
          <p:cNvPr id="29" name="Shape 27"/>
          <p:cNvSpPr/>
          <p:nvPr/>
        </p:nvSpPr>
        <p:spPr>
          <a:xfrm>
            <a:off x="6966683" y="3291840"/>
            <a:ext cx="1467351" cy="685800"/>
          </a:xfrm>
          <a:prstGeom prst="roundRect">
            <a:avLst>
              <a:gd name="adj" fmla="val 13333"/>
            </a:avLst>
          </a:prstGeom>
          <a:solidFill>
            <a:srgbClr val="13304F"/>
          </a:solidFill>
          <a:ln w="12700">
            <a:solidFill>
              <a:srgbClr val="13304F"/>
            </a:solidFill>
            <a:prstDash val="solid"/>
          </a:ln>
        </p:spPr>
        <p:txBody>
          <a:bodyPr/>
          <a:lstStyle/>
          <a:p>
            <a:endParaRPr lang="en-ZA"/>
          </a:p>
        </p:txBody>
      </p:sp>
      <p:sp>
        <p:nvSpPr>
          <p:cNvPr id="30" name="Text 28"/>
          <p:cNvSpPr txBox="1"/>
          <p:nvPr/>
        </p:nvSpPr>
        <p:spPr>
          <a:xfrm>
            <a:off x="6966683" y="3291840"/>
            <a:ext cx="1467351" cy="685800"/>
          </a:xfrm>
          <a:prstGeom prst="rect">
            <a:avLst/>
          </a:prstGeom>
          <a:noFill/>
          <a:ln/>
        </p:spPr>
        <p:txBody>
          <a:bodyPr wrap="square" lIns="0" tIns="0" rIns="0" bIns="0" rtlCol="0" anchor="ctr"/>
          <a:lstStyle/>
          <a:p>
            <a:pPr marL="0" indent="0" algn="ctr">
              <a:spcAft>
                <a:spcPts val="300"/>
              </a:spcAft>
              <a:buNone/>
            </a:pPr>
            <a:r>
              <a:rPr lang="en-US" sz="1300" dirty="0">
                <a:solidFill>
                  <a:srgbClr val="93ACC6"/>
                </a:solidFill>
                <a:latin typeface="Calibri" pitchFamily="34" charset="0"/>
                <a:ea typeface="Calibri" pitchFamily="34" charset="-122"/>
                <a:cs typeface="Calibri" pitchFamily="34" charset="-120"/>
              </a:rPr>
              <a:t>Fri</a:t>
            </a:r>
            <a:endParaRPr lang="en-US" sz="1300" dirty="0"/>
          </a:p>
        </p:txBody>
      </p:sp>
      <p:sp>
        <p:nvSpPr>
          <p:cNvPr id="31" name="Shape 29"/>
          <p:cNvSpPr/>
          <p:nvPr/>
        </p:nvSpPr>
        <p:spPr>
          <a:xfrm>
            <a:off x="8571194" y="3291840"/>
            <a:ext cx="1467351" cy="685800"/>
          </a:xfrm>
          <a:prstGeom prst="roundRect">
            <a:avLst>
              <a:gd name="adj" fmla="val 13333"/>
            </a:avLst>
          </a:prstGeom>
          <a:solidFill>
            <a:srgbClr val="1A3D63"/>
          </a:solidFill>
          <a:ln w="15875">
            <a:solidFill>
              <a:srgbClr val="5ED3C6"/>
            </a:solidFill>
            <a:prstDash val="solid"/>
          </a:ln>
        </p:spPr>
        <p:txBody>
          <a:bodyPr/>
          <a:lstStyle/>
          <a:p>
            <a:endParaRPr lang="en-ZA"/>
          </a:p>
        </p:txBody>
      </p:sp>
      <p:sp>
        <p:nvSpPr>
          <p:cNvPr id="32" name="Text 30"/>
          <p:cNvSpPr txBox="1"/>
          <p:nvPr/>
        </p:nvSpPr>
        <p:spPr>
          <a:xfrm>
            <a:off x="8571194" y="3291840"/>
            <a:ext cx="1467351" cy="685800"/>
          </a:xfrm>
          <a:prstGeom prst="rect">
            <a:avLst/>
          </a:prstGeom>
          <a:noFill/>
          <a:ln/>
        </p:spPr>
        <p:txBody>
          <a:bodyPr wrap="square" lIns="0" tIns="0" rIns="0" bIns="0" rtlCol="0" anchor="ctr"/>
          <a:lstStyle/>
          <a:p>
            <a:pPr marL="0" indent="0" algn="ctr">
              <a:spcAft>
                <a:spcPts val="300"/>
              </a:spcAft>
              <a:buNone/>
            </a:pPr>
            <a:r>
              <a:rPr lang="en-US" sz="1300" b="1" dirty="0">
                <a:solidFill>
                  <a:srgbClr val="5ED3C6"/>
                </a:solidFill>
                <a:latin typeface="Calibri" pitchFamily="34" charset="0"/>
                <a:ea typeface="Calibri" pitchFamily="34" charset="-122"/>
                <a:cs typeface="Calibri" pitchFamily="34" charset="-120"/>
              </a:rPr>
              <a:t>Sat  18:00</a:t>
            </a:r>
            <a:endParaRPr lang="en-US" sz="1300" dirty="0"/>
          </a:p>
        </p:txBody>
      </p:sp>
      <p:sp>
        <p:nvSpPr>
          <p:cNvPr id="33" name="Shape 31"/>
          <p:cNvSpPr/>
          <p:nvPr/>
        </p:nvSpPr>
        <p:spPr>
          <a:xfrm>
            <a:off x="10175704" y="3291840"/>
            <a:ext cx="1467351" cy="685800"/>
          </a:xfrm>
          <a:prstGeom prst="roundRect">
            <a:avLst>
              <a:gd name="adj" fmla="val 13333"/>
            </a:avLst>
          </a:prstGeom>
          <a:solidFill>
            <a:srgbClr val="13304F"/>
          </a:solidFill>
          <a:ln w="12700">
            <a:solidFill>
              <a:srgbClr val="13304F"/>
            </a:solidFill>
            <a:prstDash val="solid"/>
          </a:ln>
        </p:spPr>
        <p:txBody>
          <a:bodyPr/>
          <a:lstStyle/>
          <a:p>
            <a:endParaRPr lang="en-ZA"/>
          </a:p>
        </p:txBody>
      </p:sp>
      <p:sp>
        <p:nvSpPr>
          <p:cNvPr id="34" name="Text 32"/>
          <p:cNvSpPr txBox="1"/>
          <p:nvPr/>
        </p:nvSpPr>
        <p:spPr>
          <a:xfrm>
            <a:off x="10175704" y="3291840"/>
            <a:ext cx="1467351" cy="685800"/>
          </a:xfrm>
          <a:prstGeom prst="rect">
            <a:avLst/>
          </a:prstGeom>
          <a:noFill/>
          <a:ln/>
        </p:spPr>
        <p:txBody>
          <a:bodyPr wrap="square" lIns="0" tIns="0" rIns="0" bIns="0" rtlCol="0" anchor="ctr"/>
          <a:lstStyle/>
          <a:p>
            <a:pPr marL="0" indent="0" algn="ctr">
              <a:spcAft>
                <a:spcPts val="300"/>
              </a:spcAft>
              <a:buNone/>
            </a:pPr>
            <a:r>
              <a:rPr lang="en-US" sz="1300" dirty="0">
                <a:solidFill>
                  <a:srgbClr val="93ACC6"/>
                </a:solidFill>
                <a:latin typeface="Calibri" pitchFamily="34" charset="0"/>
                <a:ea typeface="Calibri" pitchFamily="34" charset="-122"/>
                <a:cs typeface="Calibri" pitchFamily="34" charset="-120"/>
              </a:rPr>
              <a:t>Sun</a:t>
            </a:r>
            <a:endParaRPr lang="en-US" sz="1300" dirty="0"/>
          </a:p>
        </p:txBody>
      </p:sp>
      <p:sp>
        <p:nvSpPr>
          <p:cNvPr id="35" name="Text 33"/>
          <p:cNvSpPr txBox="1"/>
          <p:nvPr/>
        </p:nvSpPr>
        <p:spPr>
          <a:xfrm>
            <a:off x="548640" y="4069080"/>
            <a:ext cx="11094415" cy="365760"/>
          </a:xfrm>
          <a:prstGeom prst="rect">
            <a:avLst/>
          </a:prstGeom>
          <a:noFill/>
          <a:ln/>
        </p:spPr>
        <p:txBody>
          <a:bodyPr wrap="square" lIns="0" tIns="0" rIns="0" bIns="0" rtlCol="0" anchor="t"/>
          <a:lstStyle/>
          <a:p>
            <a:pPr marL="0" indent="0" algn="l">
              <a:spcAft>
                <a:spcPts val="300"/>
              </a:spcAft>
              <a:buNone/>
            </a:pPr>
            <a:r>
              <a:rPr lang="en-US" sz="1250" dirty="0">
                <a:solidFill>
                  <a:srgbClr val="E3ECF6"/>
                </a:solidFill>
                <a:latin typeface="Calibri" pitchFamily="34" charset="0"/>
                <a:ea typeface="Calibri" pitchFamily="34" charset="-122"/>
                <a:cs typeface="Calibri" pitchFamily="34" charset="-120"/>
              </a:rPr>
              <a:t>Saturday: remind every volunteer to update their availability for the coming week.</a:t>
            </a:r>
            <a:endParaRPr lang="en-US" sz="1250" dirty="0"/>
          </a:p>
        </p:txBody>
      </p:sp>
      <p:sp>
        <p:nvSpPr>
          <p:cNvPr id="36" name="Text 34"/>
          <p:cNvSpPr txBox="1"/>
          <p:nvPr/>
        </p:nvSpPr>
        <p:spPr>
          <a:xfrm>
            <a:off x="548640" y="4663440"/>
            <a:ext cx="5455768" cy="320040"/>
          </a:xfrm>
          <a:prstGeom prst="rect">
            <a:avLst/>
          </a:prstGeom>
          <a:noFill/>
          <a:ln/>
        </p:spPr>
        <p:txBody>
          <a:bodyPr wrap="square" lIns="0" tIns="0" rIns="0" bIns="0" rtlCol="0" anchor="t"/>
          <a:lstStyle/>
          <a:p>
            <a:pPr marL="0" indent="0" algn="l">
              <a:spcAft>
                <a:spcPts val="300"/>
              </a:spcAft>
              <a:buNone/>
            </a:pPr>
            <a:r>
              <a:rPr lang="en-US" sz="1300" b="1" dirty="0">
                <a:solidFill>
                  <a:srgbClr val="FFFFFF"/>
                </a:solidFill>
                <a:latin typeface="Calibri" pitchFamily="34" charset="0"/>
                <a:ea typeface="Calibri" pitchFamily="34" charset="-122"/>
                <a:cs typeface="Calibri" pitchFamily="34" charset="-120"/>
              </a:rPr>
              <a:t>Wait until 18:00</a:t>
            </a:r>
            <a:endParaRPr lang="en-US" sz="1300" dirty="0"/>
          </a:p>
        </p:txBody>
      </p:sp>
      <p:sp>
        <p:nvSpPr>
          <p:cNvPr id="37" name="Shape 35"/>
          <p:cNvSpPr/>
          <p:nvPr/>
        </p:nvSpPr>
        <p:spPr>
          <a:xfrm>
            <a:off x="548640" y="5029200"/>
            <a:ext cx="5455768" cy="430530"/>
          </a:xfrm>
          <a:prstGeom prst="roundRect">
            <a:avLst>
              <a:gd name="adj" fmla="val 12743"/>
            </a:avLst>
          </a:prstGeom>
          <a:solidFill>
            <a:srgbClr val="1E1E1E"/>
          </a:solidFill>
          <a:ln w="9525">
            <a:solidFill>
              <a:srgbClr val="333337"/>
            </a:solidFill>
            <a:prstDash val="solid"/>
          </a:ln>
        </p:spPr>
        <p:txBody>
          <a:bodyPr/>
          <a:lstStyle/>
          <a:p>
            <a:endParaRPr lang="en-ZA"/>
          </a:p>
        </p:txBody>
      </p:sp>
      <p:sp>
        <p:nvSpPr>
          <p:cNvPr id="38" name="Text 36"/>
          <p:cNvSpPr txBox="1"/>
          <p:nvPr/>
        </p:nvSpPr>
        <p:spPr>
          <a:xfrm>
            <a:off x="713232" y="5029200"/>
            <a:ext cx="5181448" cy="430530"/>
          </a:xfrm>
          <a:prstGeom prst="rect">
            <a:avLst/>
          </a:prstGeom>
          <a:noFill/>
          <a:ln/>
        </p:spPr>
        <p:txBody>
          <a:bodyPr wrap="square" lIns="0" tIns="0" rIns="0" bIns="0" rtlCol="0" anchor="ctr"/>
          <a:lstStyle/>
          <a:p>
            <a:pPr marL="0" indent="0">
              <a:buNone/>
            </a:pPr>
            <a:r>
              <a:rPr lang="en-US" sz="1150" dirty="0">
                <a:solidFill>
                  <a:srgbClr val="569CD6"/>
                </a:solidFill>
                <a:latin typeface="Courier New" pitchFamily="34" charset="0"/>
                <a:ea typeface="Courier New" pitchFamily="34" charset="-122"/>
                <a:cs typeface="Courier New" pitchFamily="34" charset="-120"/>
              </a:rPr>
              <a:t>var</a:t>
            </a:r>
            <a:r>
              <a:rPr lang="en-US" sz="1150" dirty="0">
                <a:solidFill>
                  <a:srgbClr val="D4D4D4"/>
                </a:solidFill>
                <a:latin typeface="Courier New" pitchFamily="34" charset="0"/>
                <a:ea typeface="Courier New" pitchFamily="34" charset="-122"/>
                <a:cs typeface="Courier New" pitchFamily="34" charset="-120"/>
              </a:rPr>
              <a:t> </a:t>
            </a:r>
            <a:r>
              <a:rPr lang="en-US" sz="1150" dirty="0">
                <a:solidFill>
                  <a:srgbClr val="9CDCFE"/>
                </a:solidFill>
                <a:latin typeface="Courier New" pitchFamily="34" charset="0"/>
                <a:ea typeface="Courier New" pitchFamily="34" charset="-122"/>
                <a:cs typeface="Courier New" pitchFamily="34" charset="-120"/>
              </a:rPr>
              <a:t>nextRun</a:t>
            </a:r>
            <a:r>
              <a:rPr lang="en-US" sz="1150" dirty="0">
                <a:solidFill>
                  <a:srgbClr val="D4D4D4"/>
                </a:solidFill>
                <a:latin typeface="Courier New" pitchFamily="34" charset="0"/>
                <a:ea typeface="Courier New" pitchFamily="34" charset="-122"/>
                <a:cs typeface="Courier New" pitchFamily="34" charset="-120"/>
              </a:rPr>
              <a:t> = </a:t>
            </a:r>
            <a:r>
              <a:rPr lang="en-US" sz="1150" dirty="0">
                <a:solidFill>
                  <a:srgbClr val="9CDCFE"/>
                </a:solidFill>
                <a:latin typeface="Courier New" pitchFamily="34" charset="0"/>
                <a:ea typeface="Courier New" pitchFamily="34" charset="-122"/>
                <a:cs typeface="Courier New" pitchFamily="34" charset="-120"/>
              </a:rPr>
              <a:t>now</a:t>
            </a:r>
            <a:r>
              <a:rPr lang="en-US" sz="1150" dirty="0">
                <a:solidFill>
                  <a:srgbClr val="D4D4D4"/>
                </a:solidFill>
                <a:latin typeface="Courier New" pitchFamily="34" charset="0"/>
                <a:ea typeface="Courier New" pitchFamily="34" charset="-122"/>
                <a:cs typeface="Courier New" pitchFamily="34" charset="-120"/>
              </a:rPr>
              <a:t>.</a:t>
            </a:r>
            <a:r>
              <a:rPr lang="en-US" sz="1150" dirty="0">
                <a:solidFill>
                  <a:srgbClr val="4EC9B0"/>
                </a:solidFill>
                <a:latin typeface="Courier New" pitchFamily="34" charset="0"/>
                <a:ea typeface="Courier New" pitchFamily="34" charset="-122"/>
                <a:cs typeface="Courier New" pitchFamily="34" charset="-120"/>
              </a:rPr>
              <a:t>Date</a:t>
            </a:r>
            <a:r>
              <a:rPr lang="en-US" sz="1150" dirty="0">
                <a:solidFill>
                  <a:srgbClr val="D4D4D4"/>
                </a:solidFill>
                <a:latin typeface="Courier New" pitchFamily="34" charset="0"/>
                <a:ea typeface="Courier New" pitchFamily="34" charset="-122"/>
                <a:cs typeface="Courier New" pitchFamily="34" charset="-120"/>
              </a:rPr>
              <a:t>.</a:t>
            </a:r>
            <a:r>
              <a:rPr lang="en-US" sz="1150" dirty="0">
                <a:solidFill>
                  <a:srgbClr val="DCDCAA"/>
                </a:solidFill>
                <a:latin typeface="Courier New" pitchFamily="34" charset="0"/>
                <a:ea typeface="Courier New" pitchFamily="34" charset="-122"/>
                <a:cs typeface="Courier New" pitchFamily="34" charset="-120"/>
              </a:rPr>
              <a:t>AddHours</a:t>
            </a:r>
            <a:r>
              <a:rPr lang="en-US" sz="1150" dirty="0">
                <a:solidFill>
                  <a:srgbClr val="D4D4D4"/>
                </a:solidFill>
                <a:latin typeface="Courier New" pitchFamily="34" charset="0"/>
                <a:ea typeface="Courier New" pitchFamily="34" charset="-122"/>
                <a:cs typeface="Courier New" pitchFamily="34" charset="-120"/>
              </a:rPr>
              <a:t>(</a:t>
            </a:r>
            <a:r>
              <a:rPr lang="en-US" sz="1150" dirty="0">
                <a:solidFill>
                  <a:srgbClr val="B5CEA8"/>
                </a:solidFill>
                <a:latin typeface="Courier New" pitchFamily="34" charset="0"/>
                <a:ea typeface="Courier New" pitchFamily="34" charset="-122"/>
                <a:cs typeface="Courier New" pitchFamily="34" charset="-120"/>
              </a:rPr>
              <a:t>18</a:t>
            </a:r>
            <a:r>
              <a:rPr lang="en-US" sz="1150" dirty="0">
                <a:solidFill>
                  <a:srgbClr val="D4D4D4"/>
                </a:solidFill>
                <a:latin typeface="Courier New" pitchFamily="34" charset="0"/>
                <a:ea typeface="Courier New" pitchFamily="34" charset="-122"/>
                <a:cs typeface="Courier New" pitchFamily="34" charset="-120"/>
              </a:rPr>
              <a:t>);</a:t>
            </a:r>
            <a:endParaRPr lang="en-US" sz="1150" dirty="0"/>
          </a:p>
        </p:txBody>
      </p:sp>
      <p:sp>
        <p:nvSpPr>
          <p:cNvPr id="39" name="Text 37"/>
          <p:cNvSpPr txBox="1"/>
          <p:nvPr/>
        </p:nvSpPr>
        <p:spPr>
          <a:xfrm>
            <a:off x="6187288" y="4663440"/>
            <a:ext cx="5455768" cy="320040"/>
          </a:xfrm>
          <a:prstGeom prst="rect">
            <a:avLst/>
          </a:prstGeom>
          <a:noFill/>
          <a:ln/>
        </p:spPr>
        <p:txBody>
          <a:bodyPr wrap="square" lIns="0" tIns="0" rIns="0" bIns="0" rtlCol="0" anchor="t"/>
          <a:lstStyle/>
          <a:p>
            <a:pPr marL="0" indent="0" algn="l">
              <a:spcAft>
                <a:spcPts val="300"/>
              </a:spcAft>
              <a:buNone/>
            </a:pPr>
            <a:r>
              <a:rPr lang="en-US" sz="1300" b="1" dirty="0">
                <a:solidFill>
                  <a:srgbClr val="FFFFFF"/>
                </a:solidFill>
                <a:latin typeface="Calibri" pitchFamily="34" charset="0"/>
                <a:ea typeface="Calibri" pitchFamily="34" charset="-122"/>
                <a:cs typeface="Calibri" pitchFamily="34" charset="-120"/>
              </a:rPr>
              <a:t>Fresh scope each run</a:t>
            </a:r>
            <a:endParaRPr lang="en-US" sz="1300" dirty="0"/>
          </a:p>
        </p:txBody>
      </p:sp>
      <p:sp>
        <p:nvSpPr>
          <p:cNvPr id="40" name="Shape 38"/>
          <p:cNvSpPr/>
          <p:nvPr/>
        </p:nvSpPr>
        <p:spPr>
          <a:xfrm>
            <a:off x="6187288" y="5029200"/>
            <a:ext cx="5455768" cy="430530"/>
          </a:xfrm>
          <a:prstGeom prst="roundRect">
            <a:avLst>
              <a:gd name="adj" fmla="val 12743"/>
            </a:avLst>
          </a:prstGeom>
          <a:solidFill>
            <a:srgbClr val="1E1E1E"/>
          </a:solidFill>
          <a:ln w="9525">
            <a:solidFill>
              <a:srgbClr val="333337"/>
            </a:solidFill>
            <a:prstDash val="solid"/>
          </a:ln>
        </p:spPr>
        <p:txBody>
          <a:bodyPr/>
          <a:lstStyle/>
          <a:p>
            <a:endParaRPr lang="en-ZA"/>
          </a:p>
        </p:txBody>
      </p:sp>
      <p:sp>
        <p:nvSpPr>
          <p:cNvPr id="41" name="Text 39"/>
          <p:cNvSpPr txBox="1"/>
          <p:nvPr/>
        </p:nvSpPr>
        <p:spPr>
          <a:xfrm>
            <a:off x="6351880" y="5029200"/>
            <a:ext cx="5181448" cy="430530"/>
          </a:xfrm>
          <a:prstGeom prst="rect">
            <a:avLst/>
          </a:prstGeom>
          <a:noFill/>
          <a:ln/>
        </p:spPr>
        <p:txBody>
          <a:bodyPr wrap="square" lIns="0" tIns="0" rIns="0" bIns="0" rtlCol="0" anchor="ctr"/>
          <a:lstStyle/>
          <a:p>
            <a:pPr marL="0" indent="0">
              <a:buNone/>
            </a:pPr>
            <a:r>
              <a:rPr lang="en-US" sz="1150" dirty="0">
                <a:solidFill>
                  <a:srgbClr val="569CD6"/>
                </a:solidFill>
                <a:latin typeface="Courier New" pitchFamily="34" charset="0"/>
                <a:ea typeface="Courier New" pitchFamily="34" charset="-122"/>
                <a:cs typeface="Courier New" pitchFamily="34" charset="-120"/>
              </a:rPr>
              <a:t>using</a:t>
            </a:r>
            <a:r>
              <a:rPr lang="en-US" sz="1150" dirty="0">
                <a:solidFill>
                  <a:srgbClr val="D4D4D4"/>
                </a:solidFill>
                <a:latin typeface="Courier New" pitchFamily="34" charset="0"/>
                <a:ea typeface="Courier New" pitchFamily="34" charset="-122"/>
                <a:cs typeface="Courier New" pitchFamily="34" charset="-120"/>
              </a:rPr>
              <a:t> </a:t>
            </a:r>
            <a:r>
              <a:rPr lang="en-US" sz="1150" dirty="0">
                <a:solidFill>
                  <a:srgbClr val="569CD6"/>
                </a:solidFill>
                <a:latin typeface="Courier New" pitchFamily="34" charset="0"/>
                <a:ea typeface="Courier New" pitchFamily="34" charset="-122"/>
                <a:cs typeface="Courier New" pitchFamily="34" charset="-120"/>
              </a:rPr>
              <a:t>var</a:t>
            </a:r>
            <a:r>
              <a:rPr lang="en-US" sz="1150" dirty="0">
                <a:solidFill>
                  <a:srgbClr val="D4D4D4"/>
                </a:solidFill>
                <a:latin typeface="Courier New" pitchFamily="34" charset="0"/>
                <a:ea typeface="Courier New" pitchFamily="34" charset="-122"/>
                <a:cs typeface="Courier New" pitchFamily="34" charset="-120"/>
              </a:rPr>
              <a:t> </a:t>
            </a:r>
            <a:r>
              <a:rPr lang="en-US" sz="1150" dirty="0">
                <a:solidFill>
                  <a:srgbClr val="9CDCFE"/>
                </a:solidFill>
                <a:latin typeface="Courier New" pitchFamily="34" charset="0"/>
                <a:ea typeface="Courier New" pitchFamily="34" charset="-122"/>
                <a:cs typeface="Courier New" pitchFamily="34" charset="-120"/>
              </a:rPr>
              <a:t>scope</a:t>
            </a:r>
            <a:r>
              <a:rPr lang="en-US" sz="1150" dirty="0">
                <a:solidFill>
                  <a:srgbClr val="D4D4D4"/>
                </a:solidFill>
                <a:latin typeface="Courier New" pitchFamily="34" charset="0"/>
                <a:ea typeface="Courier New" pitchFamily="34" charset="-122"/>
                <a:cs typeface="Courier New" pitchFamily="34" charset="-120"/>
              </a:rPr>
              <a:t> = </a:t>
            </a:r>
            <a:r>
              <a:rPr lang="en-US" sz="1150" dirty="0">
                <a:solidFill>
                  <a:srgbClr val="9CDCFE"/>
                </a:solidFill>
                <a:latin typeface="Courier New" pitchFamily="34" charset="0"/>
                <a:ea typeface="Courier New" pitchFamily="34" charset="-122"/>
                <a:cs typeface="Courier New" pitchFamily="34" charset="-120"/>
              </a:rPr>
              <a:t>_scopeFactory</a:t>
            </a:r>
            <a:r>
              <a:rPr lang="en-US" sz="1150" dirty="0">
                <a:solidFill>
                  <a:srgbClr val="D4D4D4"/>
                </a:solidFill>
                <a:latin typeface="Courier New" pitchFamily="34" charset="0"/>
                <a:ea typeface="Courier New" pitchFamily="34" charset="-122"/>
                <a:cs typeface="Courier New" pitchFamily="34" charset="-120"/>
              </a:rPr>
              <a:t>.</a:t>
            </a:r>
            <a:r>
              <a:rPr lang="en-US" sz="1150" dirty="0">
                <a:solidFill>
                  <a:srgbClr val="DCDCAA"/>
                </a:solidFill>
                <a:latin typeface="Courier New" pitchFamily="34" charset="0"/>
                <a:ea typeface="Courier New" pitchFamily="34" charset="-122"/>
                <a:cs typeface="Courier New" pitchFamily="34" charset="-120"/>
              </a:rPr>
              <a:t>CreateScope</a:t>
            </a:r>
            <a:r>
              <a:rPr lang="en-US" sz="1150" dirty="0">
                <a:solidFill>
                  <a:srgbClr val="D4D4D4"/>
                </a:solidFill>
                <a:latin typeface="Courier New" pitchFamily="34" charset="0"/>
                <a:ea typeface="Courier New" pitchFamily="34" charset="-122"/>
                <a:cs typeface="Courier New" pitchFamily="34" charset="-120"/>
              </a:rPr>
              <a:t>();</a:t>
            </a:r>
            <a:endParaRPr lang="en-US" sz="1150" dirty="0"/>
          </a:p>
        </p:txBody>
      </p:sp>
      <p:sp>
        <p:nvSpPr>
          <p:cNvPr id="42" name="Text 40"/>
          <p:cNvSpPr txBox="1"/>
          <p:nvPr/>
        </p:nvSpPr>
        <p:spPr>
          <a:xfrm>
            <a:off x="548640" y="5715000"/>
            <a:ext cx="11094415" cy="365760"/>
          </a:xfrm>
          <a:prstGeom prst="rect">
            <a:avLst/>
          </a:prstGeom>
          <a:noFill/>
          <a:ln/>
        </p:spPr>
        <p:txBody>
          <a:bodyPr wrap="square" lIns="0" tIns="0" rIns="0" bIns="0" rtlCol="0" anchor="t"/>
          <a:lstStyle/>
          <a:p>
            <a:pPr marL="0" indent="0" algn="l">
              <a:spcAft>
                <a:spcPts val="300"/>
              </a:spcAft>
              <a:buNone/>
            </a:pPr>
            <a:r>
              <a:rPr lang="en-US" sz="1200" i="1" dirty="0">
                <a:solidFill>
                  <a:srgbClr val="93ACC6"/>
                </a:solidFill>
                <a:latin typeface="Calibri" pitchFamily="34" charset="0"/>
                <a:ea typeface="Calibri" pitchFamily="34" charset="-122"/>
                <a:cs typeface="Calibri" pitchFamily="34" charset="-120"/>
              </a:rPr>
              <a:t>The worker lives for the app's lifetime, but needs a new database scope for every run.</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bg>
      <p:bgPr>
        <a:solidFill>
          <a:srgbClr val="0B1D33"/>
        </a:solidFill>
        <a:effectLst/>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5ED3C6"/>
          </a:solidFill>
          <a:ln w="12700">
            <a:solidFill>
              <a:srgbClr val="5ED3C6"/>
            </a:solidFill>
            <a:prstDash val="solid"/>
          </a:ln>
        </p:spPr>
        <p:txBody>
          <a:bodyPr/>
          <a:lstStyle/>
          <a:p>
            <a:endParaRPr lang="en-ZA"/>
          </a:p>
        </p:txBody>
      </p:sp>
      <p:sp>
        <p:nvSpPr>
          <p:cNvPr id="3" name="Text 1"/>
          <p:cNvSpPr txBox="1"/>
          <p:nvPr/>
        </p:nvSpPr>
        <p:spPr>
          <a:xfrm>
            <a:off x="548640" y="384048"/>
            <a:ext cx="8229600" cy="274320"/>
          </a:xfrm>
          <a:prstGeom prst="rect">
            <a:avLst/>
          </a:prstGeom>
          <a:noFill/>
          <a:ln/>
        </p:spPr>
        <p:txBody>
          <a:bodyPr wrap="square" lIns="0" tIns="0" rIns="0" bIns="0" rtlCol="0" anchor="ctr"/>
          <a:lstStyle/>
          <a:p>
            <a:pPr marL="0" indent="0">
              <a:buNone/>
            </a:pPr>
            <a:r>
              <a:rPr lang="en-US" sz="1100" b="1" kern="0" spc="400" dirty="0">
                <a:solidFill>
                  <a:srgbClr val="5ED3C6"/>
                </a:solidFill>
                <a:latin typeface="Calibri" pitchFamily="34" charset="0"/>
                <a:ea typeface="Calibri" pitchFamily="34" charset="-122"/>
                <a:cs typeface="Calibri" pitchFamily="34" charset="-120"/>
              </a:rPr>
              <a:t>ATTENDANCE</a:t>
            </a:r>
            <a:endParaRPr lang="en-US" sz="1100" dirty="0"/>
          </a:p>
        </p:txBody>
      </p:sp>
      <p:sp>
        <p:nvSpPr>
          <p:cNvPr id="4" name="Text 2"/>
          <p:cNvSpPr txBox="1"/>
          <p:nvPr/>
        </p:nvSpPr>
        <p:spPr>
          <a:xfrm>
            <a:off x="548640" y="658368"/>
            <a:ext cx="11094415" cy="566928"/>
          </a:xfrm>
          <a:prstGeom prst="rect">
            <a:avLst/>
          </a:prstGeom>
          <a:noFill/>
          <a:ln/>
        </p:spPr>
        <p:txBody>
          <a:bodyPr wrap="square" lIns="0" tIns="0" rIns="0" bIns="0"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Hours come from the shift, not from typing</a:t>
            </a:r>
            <a:endParaRPr lang="en-US" sz="3000" dirty="0"/>
          </a:p>
        </p:txBody>
      </p:sp>
      <p:sp>
        <p:nvSpPr>
          <p:cNvPr id="5" name="Shape 3"/>
          <p:cNvSpPr/>
          <p:nvPr/>
        </p:nvSpPr>
        <p:spPr>
          <a:xfrm>
            <a:off x="2651760" y="1600200"/>
            <a:ext cx="0" cy="2377440"/>
          </a:xfrm>
          <a:prstGeom prst="line">
            <a:avLst/>
          </a:prstGeom>
          <a:noFill/>
          <a:ln w="9525">
            <a:solidFill>
              <a:srgbClr val="21406A"/>
            </a:solidFill>
            <a:prstDash val="solid"/>
          </a:ln>
        </p:spPr>
        <p:txBody>
          <a:bodyPr/>
          <a:lstStyle/>
          <a:p>
            <a:endParaRPr lang="en-ZA"/>
          </a:p>
        </p:txBody>
      </p:sp>
      <p:sp>
        <p:nvSpPr>
          <p:cNvPr id="6" name="Text 4"/>
          <p:cNvSpPr txBox="1"/>
          <p:nvPr/>
        </p:nvSpPr>
        <p:spPr>
          <a:xfrm>
            <a:off x="2377440" y="1325880"/>
            <a:ext cx="548640" cy="274320"/>
          </a:xfrm>
          <a:prstGeom prst="rect">
            <a:avLst/>
          </a:prstGeom>
          <a:noFill/>
          <a:ln/>
        </p:spPr>
        <p:txBody>
          <a:bodyPr wrap="square" lIns="0" tIns="0" rIns="0" bIns="0" rtlCol="0" anchor="t"/>
          <a:lstStyle/>
          <a:p>
            <a:pPr marL="0" indent="0" algn="ctr">
              <a:spcAft>
                <a:spcPts val="300"/>
              </a:spcAft>
              <a:buNone/>
            </a:pPr>
            <a:r>
              <a:rPr lang="en-US" sz="1000" dirty="0">
                <a:solidFill>
                  <a:srgbClr val="93ACC6"/>
                </a:solidFill>
                <a:latin typeface="Calibri" pitchFamily="34" charset="0"/>
                <a:ea typeface="Calibri" pitchFamily="34" charset="-122"/>
                <a:cs typeface="Calibri" pitchFamily="34" charset="-120"/>
              </a:rPr>
              <a:t>08</a:t>
            </a:r>
            <a:endParaRPr lang="en-US" sz="1000" dirty="0"/>
          </a:p>
        </p:txBody>
      </p:sp>
      <p:sp>
        <p:nvSpPr>
          <p:cNvPr id="7" name="Shape 5"/>
          <p:cNvSpPr/>
          <p:nvPr/>
        </p:nvSpPr>
        <p:spPr>
          <a:xfrm>
            <a:off x="3474720" y="1600200"/>
            <a:ext cx="0" cy="2377440"/>
          </a:xfrm>
          <a:prstGeom prst="line">
            <a:avLst/>
          </a:prstGeom>
          <a:noFill/>
          <a:ln w="9525">
            <a:solidFill>
              <a:srgbClr val="21406A"/>
            </a:solidFill>
            <a:prstDash val="solid"/>
          </a:ln>
        </p:spPr>
        <p:txBody>
          <a:bodyPr/>
          <a:lstStyle/>
          <a:p>
            <a:endParaRPr lang="en-ZA"/>
          </a:p>
        </p:txBody>
      </p:sp>
      <p:sp>
        <p:nvSpPr>
          <p:cNvPr id="8" name="Text 6"/>
          <p:cNvSpPr txBox="1"/>
          <p:nvPr/>
        </p:nvSpPr>
        <p:spPr>
          <a:xfrm>
            <a:off x="3200400" y="1325880"/>
            <a:ext cx="548640" cy="274320"/>
          </a:xfrm>
          <a:prstGeom prst="rect">
            <a:avLst/>
          </a:prstGeom>
          <a:noFill/>
          <a:ln/>
        </p:spPr>
        <p:txBody>
          <a:bodyPr wrap="square" lIns="0" tIns="0" rIns="0" bIns="0" rtlCol="0" anchor="t"/>
          <a:lstStyle/>
          <a:p>
            <a:pPr marL="0" indent="0" algn="ctr">
              <a:spcAft>
                <a:spcPts val="300"/>
              </a:spcAft>
              <a:buNone/>
            </a:pPr>
            <a:r>
              <a:rPr lang="en-US" sz="1000" dirty="0">
                <a:solidFill>
                  <a:srgbClr val="93ACC6"/>
                </a:solidFill>
                <a:latin typeface="Calibri" pitchFamily="34" charset="0"/>
                <a:ea typeface="Calibri" pitchFamily="34" charset="-122"/>
                <a:cs typeface="Calibri" pitchFamily="34" charset="-120"/>
              </a:rPr>
              <a:t>09</a:t>
            </a:r>
            <a:endParaRPr lang="en-US" sz="1000" dirty="0"/>
          </a:p>
        </p:txBody>
      </p:sp>
      <p:sp>
        <p:nvSpPr>
          <p:cNvPr id="9" name="Shape 7"/>
          <p:cNvSpPr/>
          <p:nvPr/>
        </p:nvSpPr>
        <p:spPr>
          <a:xfrm>
            <a:off x="4297680" y="1600200"/>
            <a:ext cx="0" cy="2377440"/>
          </a:xfrm>
          <a:prstGeom prst="line">
            <a:avLst/>
          </a:prstGeom>
          <a:noFill/>
          <a:ln w="9525">
            <a:solidFill>
              <a:srgbClr val="21406A"/>
            </a:solidFill>
            <a:prstDash val="solid"/>
          </a:ln>
        </p:spPr>
        <p:txBody>
          <a:bodyPr/>
          <a:lstStyle/>
          <a:p>
            <a:endParaRPr lang="en-ZA"/>
          </a:p>
        </p:txBody>
      </p:sp>
      <p:sp>
        <p:nvSpPr>
          <p:cNvPr id="10" name="Text 8"/>
          <p:cNvSpPr txBox="1"/>
          <p:nvPr/>
        </p:nvSpPr>
        <p:spPr>
          <a:xfrm>
            <a:off x="4023360" y="1325880"/>
            <a:ext cx="548640" cy="274320"/>
          </a:xfrm>
          <a:prstGeom prst="rect">
            <a:avLst/>
          </a:prstGeom>
          <a:noFill/>
          <a:ln/>
        </p:spPr>
        <p:txBody>
          <a:bodyPr wrap="square" lIns="0" tIns="0" rIns="0" bIns="0" rtlCol="0" anchor="t"/>
          <a:lstStyle/>
          <a:p>
            <a:pPr marL="0" indent="0" algn="ctr">
              <a:spcAft>
                <a:spcPts val="300"/>
              </a:spcAft>
              <a:buNone/>
            </a:pPr>
            <a:r>
              <a:rPr lang="en-US" sz="1000" dirty="0">
                <a:solidFill>
                  <a:srgbClr val="93ACC6"/>
                </a:solidFill>
                <a:latin typeface="Calibri" pitchFamily="34" charset="0"/>
                <a:ea typeface="Calibri" pitchFamily="34" charset="-122"/>
                <a:cs typeface="Calibri" pitchFamily="34" charset="-120"/>
              </a:rPr>
              <a:t>10</a:t>
            </a:r>
            <a:endParaRPr lang="en-US" sz="1000" dirty="0"/>
          </a:p>
        </p:txBody>
      </p:sp>
      <p:sp>
        <p:nvSpPr>
          <p:cNvPr id="11" name="Shape 9"/>
          <p:cNvSpPr/>
          <p:nvPr/>
        </p:nvSpPr>
        <p:spPr>
          <a:xfrm>
            <a:off x="5120640" y="1600200"/>
            <a:ext cx="0" cy="2377440"/>
          </a:xfrm>
          <a:prstGeom prst="line">
            <a:avLst/>
          </a:prstGeom>
          <a:noFill/>
          <a:ln w="9525">
            <a:solidFill>
              <a:srgbClr val="21406A"/>
            </a:solidFill>
            <a:prstDash val="solid"/>
          </a:ln>
        </p:spPr>
        <p:txBody>
          <a:bodyPr/>
          <a:lstStyle/>
          <a:p>
            <a:endParaRPr lang="en-ZA"/>
          </a:p>
        </p:txBody>
      </p:sp>
      <p:sp>
        <p:nvSpPr>
          <p:cNvPr id="12" name="Text 10"/>
          <p:cNvSpPr txBox="1"/>
          <p:nvPr/>
        </p:nvSpPr>
        <p:spPr>
          <a:xfrm>
            <a:off x="4846320" y="1325880"/>
            <a:ext cx="548640" cy="274320"/>
          </a:xfrm>
          <a:prstGeom prst="rect">
            <a:avLst/>
          </a:prstGeom>
          <a:noFill/>
          <a:ln/>
        </p:spPr>
        <p:txBody>
          <a:bodyPr wrap="square" lIns="0" tIns="0" rIns="0" bIns="0" rtlCol="0" anchor="t"/>
          <a:lstStyle/>
          <a:p>
            <a:pPr marL="0" indent="0" algn="ctr">
              <a:spcAft>
                <a:spcPts val="300"/>
              </a:spcAft>
              <a:buNone/>
            </a:pPr>
            <a:r>
              <a:rPr lang="en-US" sz="1000" dirty="0">
                <a:solidFill>
                  <a:srgbClr val="93ACC6"/>
                </a:solidFill>
                <a:latin typeface="Calibri" pitchFamily="34" charset="0"/>
                <a:ea typeface="Calibri" pitchFamily="34" charset="-122"/>
                <a:cs typeface="Calibri" pitchFamily="34" charset="-120"/>
              </a:rPr>
              <a:t>11</a:t>
            </a:r>
            <a:endParaRPr lang="en-US" sz="1000" dirty="0"/>
          </a:p>
        </p:txBody>
      </p:sp>
      <p:sp>
        <p:nvSpPr>
          <p:cNvPr id="13" name="Shape 11"/>
          <p:cNvSpPr/>
          <p:nvPr/>
        </p:nvSpPr>
        <p:spPr>
          <a:xfrm>
            <a:off x="5943600" y="1600200"/>
            <a:ext cx="0" cy="2377440"/>
          </a:xfrm>
          <a:prstGeom prst="line">
            <a:avLst/>
          </a:prstGeom>
          <a:noFill/>
          <a:ln w="9525">
            <a:solidFill>
              <a:srgbClr val="21406A"/>
            </a:solidFill>
            <a:prstDash val="solid"/>
          </a:ln>
        </p:spPr>
        <p:txBody>
          <a:bodyPr/>
          <a:lstStyle/>
          <a:p>
            <a:endParaRPr lang="en-ZA"/>
          </a:p>
        </p:txBody>
      </p:sp>
      <p:sp>
        <p:nvSpPr>
          <p:cNvPr id="14" name="Text 12"/>
          <p:cNvSpPr txBox="1"/>
          <p:nvPr/>
        </p:nvSpPr>
        <p:spPr>
          <a:xfrm>
            <a:off x="5669280" y="1325880"/>
            <a:ext cx="548640" cy="274320"/>
          </a:xfrm>
          <a:prstGeom prst="rect">
            <a:avLst/>
          </a:prstGeom>
          <a:noFill/>
          <a:ln/>
        </p:spPr>
        <p:txBody>
          <a:bodyPr wrap="square" lIns="0" tIns="0" rIns="0" bIns="0" rtlCol="0" anchor="t"/>
          <a:lstStyle/>
          <a:p>
            <a:pPr marL="0" indent="0" algn="ctr">
              <a:spcAft>
                <a:spcPts val="300"/>
              </a:spcAft>
              <a:buNone/>
            </a:pPr>
            <a:r>
              <a:rPr lang="en-US" sz="1000" dirty="0">
                <a:solidFill>
                  <a:srgbClr val="93ACC6"/>
                </a:solidFill>
                <a:latin typeface="Calibri" pitchFamily="34" charset="0"/>
                <a:ea typeface="Calibri" pitchFamily="34" charset="-122"/>
                <a:cs typeface="Calibri" pitchFamily="34" charset="-120"/>
              </a:rPr>
              <a:t>12</a:t>
            </a:r>
            <a:endParaRPr lang="en-US" sz="1000" dirty="0"/>
          </a:p>
        </p:txBody>
      </p:sp>
      <p:sp>
        <p:nvSpPr>
          <p:cNvPr id="15" name="Shape 13"/>
          <p:cNvSpPr/>
          <p:nvPr/>
        </p:nvSpPr>
        <p:spPr>
          <a:xfrm>
            <a:off x="6766560" y="1600200"/>
            <a:ext cx="0" cy="2377440"/>
          </a:xfrm>
          <a:prstGeom prst="line">
            <a:avLst/>
          </a:prstGeom>
          <a:noFill/>
          <a:ln w="9525">
            <a:solidFill>
              <a:srgbClr val="21406A"/>
            </a:solidFill>
            <a:prstDash val="solid"/>
          </a:ln>
        </p:spPr>
        <p:txBody>
          <a:bodyPr/>
          <a:lstStyle/>
          <a:p>
            <a:endParaRPr lang="en-ZA"/>
          </a:p>
        </p:txBody>
      </p:sp>
      <p:sp>
        <p:nvSpPr>
          <p:cNvPr id="16" name="Text 14"/>
          <p:cNvSpPr txBox="1"/>
          <p:nvPr/>
        </p:nvSpPr>
        <p:spPr>
          <a:xfrm>
            <a:off x="6492240" y="1325880"/>
            <a:ext cx="548640" cy="274320"/>
          </a:xfrm>
          <a:prstGeom prst="rect">
            <a:avLst/>
          </a:prstGeom>
          <a:noFill/>
          <a:ln/>
        </p:spPr>
        <p:txBody>
          <a:bodyPr wrap="square" lIns="0" tIns="0" rIns="0" bIns="0" rtlCol="0" anchor="t"/>
          <a:lstStyle/>
          <a:p>
            <a:pPr marL="0" indent="0" algn="ctr">
              <a:spcAft>
                <a:spcPts val="300"/>
              </a:spcAft>
              <a:buNone/>
            </a:pPr>
            <a:r>
              <a:rPr lang="en-US" sz="1000" dirty="0">
                <a:solidFill>
                  <a:srgbClr val="93ACC6"/>
                </a:solidFill>
                <a:latin typeface="Calibri" pitchFamily="34" charset="0"/>
                <a:ea typeface="Calibri" pitchFamily="34" charset="-122"/>
                <a:cs typeface="Calibri" pitchFamily="34" charset="-120"/>
              </a:rPr>
              <a:t>13</a:t>
            </a:r>
            <a:endParaRPr lang="en-US" sz="1000" dirty="0"/>
          </a:p>
        </p:txBody>
      </p:sp>
      <p:sp>
        <p:nvSpPr>
          <p:cNvPr id="17" name="Shape 15"/>
          <p:cNvSpPr/>
          <p:nvPr/>
        </p:nvSpPr>
        <p:spPr>
          <a:xfrm>
            <a:off x="7589520" y="1600200"/>
            <a:ext cx="0" cy="2377440"/>
          </a:xfrm>
          <a:prstGeom prst="line">
            <a:avLst/>
          </a:prstGeom>
          <a:noFill/>
          <a:ln w="9525">
            <a:solidFill>
              <a:srgbClr val="21406A"/>
            </a:solidFill>
            <a:prstDash val="solid"/>
          </a:ln>
        </p:spPr>
        <p:txBody>
          <a:bodyPr/>
          <a:lstStyle/>
          <a:p>
            <a:endParaRPr lang="en-ZA"/>
          </a:p>
        </p:txBody>
      </p:sp>
      <p:sp>
        <p:nvSpPr>
          <p:cNvPr id="18" name="Text 16"/>
          <p:cNvSpPr txBox="1"/>
          <p:nvPr/>
        </p:nvSpPr>
        <p:spPr>
          <a:xfrm>
            <a:off x="7315200" y="1325880"/>
            <a:ext cx="548640" cy="274320"/>
          </a:xfrm>
          <a:prstGeom prst="rect">
            <a:avLst/>
          </a:prstGeom>
          <a:noFill/>
          <a:ln/>
        </p:spPr>
        <p:txBody>
          <a:bodyPr wrap="square" lIns="0" tIns="0" rIns="0" bIns="0" rtlCol="0" anchor="t"/>
          <a:lstStyle/>
          <a:p>
            <a:pPr marL="0" indent="0" algn="ctr">
              <a:spcAft>
                <a:spcPts val="300"/>
              </a:spcAft>
              <a:buNone/>
            </a:pPr>
            <a:r>
              <a:rPr lang="en-US" sz="1000" dirty="0">
                <a:solidFill>
                  <a:srgbClr val="93ACC6"/>
                </a:solidFill>
                <a:latin typeface="Calibri" pitchFamily="34" charset="0"/>
                <a:ea typeface="Calibri" pitchFamily="34" charset="-122"/>
                <a:cs typeface="Calibri" pitchFamily="34" charset="-120"/>
              </a:rPr>
              <a:t>14</a:t>
            </a:r>
            <a:endParaRPr lang="en-US" sz="1000" dirty="0"/>
          </a:p>
        </p:txBody>
      </p:sp>
      <p:sp>
        <p:nvSpPr>
          <p:cNvPr id="19" name="Shape 17"/>
          <p:cNvSpPr/>
          <p:nvPr/>
        </p:nvSpPr>
        <p:spPr>
          <a:xfrm>
            <a:off x="8412480" y="1600200"/>
            <a:ext cx="0" cy="2377440"/>
          </a:xfrm>
          <a:prstGeom prst="line">
            <a:avLst/>
          </a:prstGeom>
          <a:noFill/>
          <a:ln w="9525">
            <a:solidFill>
              <a:srgbClr val="21406A"/>
            </a:solidFill>
            <a:prstDash val="solid"/>
          </a:ln>
        </p:spPr>
        <p:txBody>
          <a:bodyPr/>
          <a:lstStyle/>
          <a:p>
            <a:endParaRPr lang="en-ZA"/>
          </a:p>
        </p:txBody>
      </p:sp>
      <p:sp>
        <p:nvSpPr>
          <p:cNvPr id="20" name="Text 18"/>
          <p:cNvSpPr txBox="1"/>
          <p:nvPr/>
        </p:nvSpPr>
        <p:spPr>
          <a:xfrm>
            <a:off x="8138160" y="1325880"/>
            <a:ext cx="548640" cy="274320"/>
          </a:xfrm>
          <a:prstGeom prst="rect">
            <a:avLst/>
          </a:prstGeom>
          <a:noFill/>
          <a:ln/>
        </p:spPr>
        <p:txBody>
          <a:bodyPr wrap="square" lIns="0" tIns="0" rIns="0" bIns="0" rtlCol="0" anchor="t"/>
          <a:lstStyle/>
          <a:p>
            <a:pPr marL="0" indent="0" algn="ctr">
              <a:spcAft>
                <a:spcPts val="300"/>
              </a:spcAft>
              <a:buNone/>
            </a:pPr>
            <a:r>
              <a:rPr lang="en-US" sz="1000" dirty="0">
                <a:solidFill>
                  <a:srgbClr val="93ACC6"/>
                </a:solidFill>
                <a:latin typeface="Calibri" pitchFamily="34" charset="0"/>
                <a:ea typeface="Calibri" pitchFamily="34" charset="-122"/>
                <a:cs typeface="Calibri" pitchFamily="34" charset="-120"/>
              </a:rPr>
              <a:t>15</a:t>
            </a:r>
            <a:endParaRPr lang="en-US" sz="1000" dirty="0"/>
          </a:p>
        </p:txBody>
      </p:sp>
      <p:sp>
        <p:nvSpPr>
          <p:cNvPr id="21" name="Shape 19"/>
          <p:cNvSpPr/>
          <p:nvPr/>
        </p:nvSpPr>
        <p:spPr>
          <a:xfrm>
            <a:off x="9235440" y="1600200"/>
            <a:ext cx="0" cy="2377440"/>
          </a:xfrm>
          <a:prstGeom prst="line">
            <a:avLst/>
          </a:prstGeom>
          <a:noFill/>
          <a:ln w="9525">
            <a:solidFill>
              <a:srgbClr val="21406A"/>
            </a:solidFill>
            <a:prstDash val="solid"/>
          </a:ln>
        </p:spPr>
        <p:txBody>
          <a:bodyPr/>
          <a:lstStyle/>
          <a:p>
            <a:endParaRPr lang="en-ZA"/>
          </a:p>
        </p:txBody>
      </p:sp>
      <p:sp>
        <p:nvSpPr>
          <p:cNvPr id="22" name="Text 20"/>
          <p:cNvSpPr txBox="1"/>
          <p:nvPr/>
        </p:nvSpPr>
        <p:spPr>
          <a:xfrm>
            <a:off x="8961120" y="1325880"/>
            <a:ext cx="548640" cy="274320"/>
          </a:xfrm>
          <a:prstGeom prst="rect">
            <a:avLst/>
          </a:prstGeom>
          <a:noFill/>
          <a:ln/>
        </p:spPr>
        <p:txBody>
          <a:bodyPr wrap="square" lIns="0" tIns="0" rIns="0" bIns="0" rtlCol="0" anchor="t"/>
          <a:lstStyle/>
          <a:p>
            <a:pPr marL="0" indent="0" algn="ctr">
              <a:spcAft>
                <a:spcPts val="300"/>
              </a:spcAft>
              <a:buNone/>
            </a:pPr>
            <a:r>
              <a:rPr lang="en-US" sz="1000" dirty="0">
                <a:solidFill>
                  <a:srgbClr val="93ACC6"/>
                </a:solidFill>
                <a:latin typeface="Calibri" pitchFamily="34" charset="0"/>
                <a:ea typeface="Calibri" pitchFamily="34" charset="-122"/>
                <a:cs typeface="Calibri" pitchFamily="34" charset="-120"/>
              </a:rPr>
              <a:t>16</a:t>
            </a:r>
            <a:endParaRPr lang="en-US" sz="1000" dirty="0"/>
          </a:p>
        </p:txBody>
      </p:sp>
      <p:sp>
        <p:nvSpPr>
          <p:cNvPr id="23" name="Shape 21"/>
          <p:cNvSpPr/>
          <p:nvPr/>
        </p:nvSpPr>
        <p:spPr>
          <a:xfrm>
            <a:off x="10058400" y="1600200"/>
            <a:ext cx="0" cy="2377440"/>
          </a:xfrm>
          <a:prstGeom prst="line">
            <a:avLst/>
          </a:prstGeom>
          <a:noFill/>
          <a:ln w="9525">
            <a:solidFill>
              <a:srgbClr val="21406A"/>
            </a:solidFill>
            <a:prstDash val="solid"/>
          </a:ln>
        </p:spPr>
        <p:txBody>
          <a:bodyPr/>
          <a:lstStyle/>
          <a:p>
            <a:endParaRPr lang="en-ZA"/>
          </a:p>
        </p:txBody>
      </p:sp>
      <p:sp>
        <p:nvSpPr>
          <p:cNvPr id="24" name="Text 22"/>
          <p:cNvSpPr txBox="1"/>
          <p:nvPr/>
        </p:nvSpPr>
        <p:spPr>
          <a:xfrm>
            <a:off x="9784080" y="1325880"/>
            <a:ext cx="548640" cy="274320"/>
          </a:xfrm>
          <a:prstGeom prst="rect">
            <a:avLst/>
          </a:prstGeom>
          <a:noFill/>
          <a:ln/>
        </p:spPr>
        <p:txBody>
          <a:bodyPr wrap="square" lIns="0" tIns="0" rIns="0" bIns="0" rtlCol="0" anchor="t"/>
          <a:lstStyle/>
          <a:p>
            <a:pPr marL="0" indent="0" algn="ctr">
              <a:spcAft>
                <a:spcPts val="300"/>
              </a:spcAft>
              <a:buNone/>
            </a:pPr>
            <a:r>
              <a:rPr lang="en-US" sz="1000" dirty="0">
                <a:solidFill>
                  <a:srgbClr val="93ACC6"/>
                </a:solidFill>
                <a:latin typeface="Calibri" pitchFamily="34" charset="0"/>
                <a:ea typeface="Calibri" pitchFamily="34" charset="-122"/>
                <a:cs typeface="Calibri" pitchFamily="34" charset="-120"/>
              </a:rPr>
              <a:t>17</a:t>
            </a:r>
            <a:endParaRPr lang="en-US" sz="1000" dirty="0"/>
          </a:p>
        </p:txBody>
      </p:sp>
      <p:sp>
        <p:nvSpPr>
          <p:cNvPr id="25" name="Text 23"/>
          <p:cNvSpPr txBox="1"/>
          <p:nvPr/>
        </p:nvSpPr>
        <p:spPr>
          <a:xfrm>
            <a:off x="548640" y="1737360"/>
            <a:ext cx="2011680" cy="548640"/>
          </a:xfrm>
          <a:prstGeom prst="rect">
            <a:avLst/>
          </a:prstGeom>
          <a:noFill/>
          <a:ln/>
        </p:spPr>
        <p:txBody>
          <a:bodyPr wrap="square" lIns="0" tIns="0" rIns="0" bIns="0" rtlCol="0" anchor="ctr"/>
          <a:lstStyle/>
          <a:p>
            <a:pPr marL="0" indent="0" algn="l">
              <a:spcAft>
                <a:spcPts val="300"/>
              </a:spcAft>
              <a:buNone/>
            </a:pPr>
            <a:r>
              <a:rPr lang="en-US" sz="1300" b="1" dirty="0">
                <a:solidFill>
                  <a:srgbClr val="FFFFFF"/>
                </a:solidFill>
                <a:latin typeface="Calibri" pitchFamily="34" charset="0"/>
                <a:ea typeface="Calibri" pitchFamily="34" charset="-122"/>
                <a:cs typeface="Calibri" pitchFamily="34" charset="-120"/>
              </a:rPr>
              <a:t>Morning</a:t>
            </a:r>
            <a:endParaRPr lang="en-US" sz="1300" dirty="0"/>
          </a:p>
          <a:p>
            <a:pPr marL="0" indent="0" algn="l">
              <a:spcAft>
                <a:spcPts val="300"/>
              </a:spcAft>
              <a:buNone/>
            </a:pPr>
            <a:r>
              <a:rPr lang="en-US" sz="950" dirty="0">
                <a:solidFill>
                  <a:srgbClr val="93ACC6"/>
                </a:solidFill>
                <a:latin typeface="Courier New" pitchFamily="34" charset="0"/>
                <a:ea typeface="Courier New" pitchFamily="34" charset="-122"/>
                <a:cs typeface="Courier New" pitchFamily="34" charset="-120"/>
              </a:rPr>
              <a:t>08:00-13:00</a:t>
            </a:r>
            <a:endParaRPr lang="en-US" sz="1300" dirty="0"/>
          </a:p>
        </p:txBody>
      </p:sp>
      <p:sp>
        <p:nvSpPr>
          <p:cNvPr id="26" name="Shape 24"/>
          <p:cNvSpPr/>
          <p:nvPr/>
        </p:nvSpPr>
        <p:spPr>
          <a:xfrm>
            <a:off x="2651760" y="1810512"/>
            <a:ext cx="4114800" cy="420624"/>
          </a:xfrm>
          <a:prstGeom prst="roundRect">
            <a:avLst>
              <a:gd name="adj" fmla="val 17391"/>
            </a:avLst>
          </a:prstGeom>
          <a:solidFill>
            <a:srgbClr val="5ED3C6"/>
          </a:solidFill>
          <a:ln w="12700">
            <a:solidFill>
              <a:srgbClr val="5ED3C6"/>
            </a:solidFill>
            <a:prstDash val="solid"/>
          </a:ln>
        </p:spPr>
        <p:txBody>
          <a:bodyPr/>
          <a:lstStyle/>
          <a:p>
            <a:endParaRPr lang="en-ZA"/>
          </a:p>
        </p:txBody>
      </p:sp>
      <p:sp>
        <p:nvSpPr>
          <p:cNvPr id="27" name="Text 25"/>
          <p:cNvSpPr txBox="1"/>
          <p:nvPr/>
        </p:nvSpPr>
        <p:spPr>
          <a:xfrm>
            <a:off x="10241280" y="1737360"/>
            <a:ext cx="1371600" cy="548640"/>
          </a:xfrm>
          <a:prstGeom prst="rect">
            <a:avLst/>
          </a:prstGeom>
          <a:noFill/>
          <a:ln/>
        </p:spPr>
        <p:txBody>
          <a:bodyPr wrap="square" lIns="0" tIns="0" rIns="0" bIns="0" rtlCol="0" anchor="ctr"/>
          <a:lstStyle/>
          <a:p>
            <a:pPr marL="0" indent="0" algn="l">
              <a:spcAft>
                <a:spcPts val="300"/>
              </a:spcAft>
              <a:buNone/>
            </a:pPr>
            <a:r>
              <a:rPr lang="en-US" sz="2400" b="1" dirty="0">
                <a:solidFill>
                  <a:srgbClr val="5ED3C6"/>
                </a:solidFill>
                <a:latin typeface="Calibri" pitchFamily="34" charset="0"/>
                <a:ea typeface="Calibri" pitchFamily="34" charset="-122"/>
                <a:cs typeface="Calibri" pitchFamily="34" charset="-120"/>
              </a:rPr>
              <a:t>5 h</a:t>
            </a:r>
            <a:endParaRPr lang="en-US" sz="2400" dirty="0"/>
          </a:p>
        </p:txBody>
      </p:sp>
      <p:sp>
        <p:nvSpPr>
          <p:cNvPr id="28" name="Text 26"/>
          <p:cNvSpPr txBox="1"/>
          <p:nvPr/>
        </p:nvSpPr>
        <p:spPr>
          <a:xfrm>
            <a:off x="548640" y="2487168"/>
            <a:ext cx="2011680" cy="548640"/>
          </a:xfrm>
          <a:prstGeom prst="rect">
            <a:avLst/>
          </a:prstGeom>
          <a:noFill/>
          <a:ln/>
        </p:spPr>
        <p:txBody>
          <a:bodyPr wrap="square" lIns="0" tIns="0" rIns="0" bIns="0" rtlCol="0" anchor="ctr"/>
          <a:lstStyle/>
          <a:p>
            <a:pPr marL="0" indent="0" algn="l">
              <a:spcAft>
                <a:spcPts val="300"/>
              </a:spcAft>
              <a:buNone/>
            </a:pPr>
            <a:r>
              <a:rPr lang="en-US" sz="1300" b="1" dirty="0">
                <a:solidFill>
                  <a:srgbClr val="FFFFFF"/>
                </a:solidFill>
                <a:latin typeface="Calibri" pitchFamily="34" charset="0"/>
                <a:ea typeface="Calibri" pitchFamily="34" charset="-122"/>
                <a:cs typeface="Calibri" pitchFamily="34" charset="-120"/>
              </a:rPr>
              <a:t>Afternoon</a:t>
            </a:r>
            <a:endParaRPr lang="en-US" sz="1300" dirty="0"/>
          </a:p>
          <a:p>
            <a:pPr marL="0" indent="0" algn="l">
              <a:spcAft>
                <a:spcPts val="300"/>
              </a:spcAft>
              <a:buNone/>
            </a:pPr>
            <a:r>
              <a:rPr lang="en-US" sz="950" dirty="0">
                <a:solidFill>
                  <a:srgbClr val="93ACC6"/>
                </a:solidFill>
                <a:latin typeface="Courier New" pitchFamily="34" charset="0"/>
                <a:ea typeface="Courier New" pitchFamily="34" charset="-122"/>
                <a:cs typeface="Courier New" pitchFamily="34" charset="-120"/>
              </a:rPr>
              <a:t>14:00-17:00</a:t>
            </a:r>
            <a:endParaRPr lang="en-US" sz="1300" dirty="0"/>
          </a:p>
        </p:txBody>
      </p:sp>
      <p:sp>
        <p:nvSpPr>
          <p:cNvPr id="29" name="Shape 27"/>
          <p:cNvSpPr/>
          <p:nvPr/>
        </p:nvSpPr>
        <p:spPr>
          <a:xfrm>
            <a:off x="7589520" y="2560320"/>
            <a:ext cx="2468880" cy="420624"/>
          </a:xfrm>
          <a:prstGeom prst="roundRect">
            <a:avLst>
              <a:gd name="adj" fmla="val 17391"/>
            </a:avLst>
          </a:prstGeom>
          <a:solidFill>
            <a:srgbClr val="F6AE2D"/>
          </a:solidFill>
          <a:ln w="12700">
            <a:solidFill>
              <a:srgbClr val="F6AE2D"/>
            </a:solidFill>
            <a:prstDash val="solid"/>
          </a:ln>
        </p:spPr>
        <p:txBody>
          <a:bodyPr/>
          <a:lstStyle/>
          <a:p>
            <a:endParaRPr lang="en-ZA"/>
          </a:p>
        </p:txBody>
      </p:sp>
      <p:sp>
        <p:nvSpPr>
          <p:cNvPr id="30" name="Text 28"/>
          <p:cNvSpPr txBox="1"/>
          <p:nvPr/>
        </p:nvSpPr>
        <p:spPr>
          <a:xfrm>
            <a:off x="10241280" y="2487168"/>
            <a:ext cx="1371600" cy="548640"/>
          </a:xfrm>
          <a:prstGeom prst="rect">
            <a:avLst/>
          </a:prstGeom>
          <a:noFill/>
          <a:ln/>
        </p:spPr>
        <p:txBody>
          <a:bodyPr wrap="square" lIns="0" tIns="0" rIns="0" bIns="0" rtlCol="0" anchor="ctr"/>
          <a:lstStyle/>
          <a:p>
            <a:pPr marL="0" indent="0" algn="l">
              <a:spcAft>
                <a:spcPts val="300"/>
              </a:spcAft>
              <a:buNone/>
            </a:pPr>
            <a:r>
              <a:rPr lang="en-US" sz="2400" b="1" dirty="0">
                <a:solidFill>
                  <a:srgbClr val="F6AE2D"/>
                </a:solidFill>
                <a:latin typeface="Calibri" pitchFamily="34" charset="0"/>
                <a:ea typeface="Calibri" pitchFamily="34" charset="-122"/>
                <a:cs typeface="Calibri" pitchFamily="34" charset="-120"/>
              </a:rPr>
              <a:t>3 h</a:t>
            </a:r>
            <a:endParaRPr lang="en-US" sz="2400" dirty="0"/>
          </a:p>
        </p:txBody>
      </p:sp>
      <p:sp>
        <p:nvSpPr>
          <p:cNvPr id="31" name="Text 29"/>
          <p:cNvSpPr txBox="1"/>
          <p:nvPr/>
        </p:nvSpPr>
        <p:spPr>
          <a:xfrm>
            <a:off x="548640" y="3236976"/>
            <a:ext cx="2011680" cy="548640"/>
          </a:xfrm>
          <a:prstGeom prst="rect">
            <a:avLst/>
          </a:prstGeom>
          <a:noFill/>
          <a:ln/>
        </p:spPr>
        <p:txBody>
          <a:bodyPr wrap="square" lIns="0" tIns="0" rIns="0" bIns="0" rtlCol="0" anchor="ctr"/>
          <a:lstStyle/>
          <a:p>
            <a:pPr marL="0" indent="0" algn="l">
              <a:spcAft>
                <a:spcPts val="300"/>
              </a:spcAft>
              <a:buNone/>
            </a:pPr>
            <a:r>
              <a:rPr lang="en-US" sz="1300" b="1" dirty="0">
                <a:solidFill>
                  <a:srgbClr val="FFFFFF"/>
                </a:solidFill>
                <a:latin typeface="Calibri" pitchFamily="34" charset="0"/>
                <a:ea typeface="Calibri" pitchFamily="34" charset="-122"/>
                <a:cs typeface="Calibri" pitchFamily="34" charset="-120"/>
              </a:rPr>
              <a:t>Full day</a:t>
            </a:r>
            <a:endParaRPr lang="en-US" sz="1300" dirty="0"/>
          </a:p>
          <a:p>
            <a:pPr marL="0" indent="0" algn="l">
              <a:spcAft>
                <a:spcPts val="300"/>
              </a:spcAft>
              <a:buNone/>
            </a:pPr>
            <a:r>
              <a:rPr lang="en-US" sz="950" dirty="0">
                <a:solidFill>
                  <a:srgbClr val="93ACC6"/>
                </a:solidFill>
                <a:latin typeface="Courier New" pitchFamily="34" charset="0"/>
                <a:ea typeface="Courier New" pitchFamily="34" charset="-122"/>
                <a:cs typeface="Courier New" pitchFamily="34" charset="-120"/>
              </a:rPr>
              <a:t>08:00-17:00</a:t>
            </a:r>
            <a:endParaRPr lang="en-US" sz="1300" dirty="0"/>
          </a:p>
        </p:txBody>
      </p:sp>
      <p:sp>
        <p:nvSpPr>
          <p:cNvPr id="32" name="Shape 30"/>
          <p:cNvSpPr/>
          <p:nvPr/>
        </p:nvSpPr>
        <p:spPr>
          <a:xfrm>
            <a:off x="2651760" y="3310128"/>
            <a:ext cx="7406640" cy="420624"/>
          </a:xfrm>
          <a:prstGeom prst="roundRect">
            <a:avLst>
              <a:gd name="adj" fmla="val 17391"/>
            </a:avLst>
          </a:prstGeom>
          <a:solidFill>
            <a:srgbClr val="B39DDB"/>
          </a:solidFill>
          <a:ln w="12700">
            <a:solidFill>
              <a:srgbClr val="B39DDB"/>
            </a:solidFill>
            <a:prstDash val="solid"/>
          </a:ln>
        </p:spPr>
        <p:txBody>
          <a:bodyPr/>
          <a:lstStyle/>
          <a:p>
            <a:endParaRPr lang="en-ZA"/>
          </a:p>
        </p:txBody>
      </p:sp>
      <p:sp>
        <p:nvSpPr>
          <p:cNvPr id="33" name="Text 31"/>
          <p:cNvSpPr txBox="1"/>
          <p:nvPr/>
        </p:nvSpPr>
        <p:spPr>
          <a:xfrm>
            <a:off x="10241280" y="3236976"/>
            <a:ext cx="1371600" cy="548640"/>
          </a:xfrm>
          <a:prstGeom prst="rect">
            <a:avLst/>
          </a:prstGeom>
          <a:noFill/>
          <a:ln/>
        </p:spPr>
        <p:txBody>
          <a:bodyPr wrap="square" lIns="0" tIns="0" rIns="0" bIns="0" rtlCol="0" anchor="ctr"/>
          <a:lstStyle/>
          <a:p>
            <a:pPr marL="0" indent="0" algn="l">
              <a:spcAft>
                <a:spcPts val="300"/>
              </a:spcAft>
              <a:buNone/>
            </a:pPr>
            <a:r>
              <a:rPr lang="en-US" sz="2400" b="1" dirty="0">
                <a:solidFill>
                  <a:srgbClr val="B39DDB"/>
                </a:solidFill>
                <a:latin typeface="Calibri" pitchFamily="34" charset="0"/>
                <a:ea typeface="Calibri" pitchFamily="34" charset="-122"/>
                <a:cs typeface="Calibri" pitchFamily="34" charset="-120"/>
              </a:rPr>
              <a:t>9 h</a:t>
            </a:r>
            <a:endParaRPr lang="en-US" sz="2400" dirty="0"/>
          </a:p>
        </p:txBody>
      </p:sp>
      <p:sp>
        <p:nvSpPr>
          <p:cNvPr id="34" name="Shape 32"/>
          <p:cNvSpPr/>
          <p:nvPr/>
        </p:nvSpPr>
        <p:spPr>
          <a:xfrm>
            <a:off x="548640" y="4206240"/>
            <a:ext cx="3515258" cy="1051560"/>
          </a:xfrm>
          <a:prstGeom prst="roundRect">
            <a:avLst>
              <a:gd name="adj" fmla="val 8696"/>
            </a:avLst>
          </a:prstGeom>
          <a:solidFill>
            <a:srgbClr val="13304F"/>
          </a:solidFill>
          <a:ln w="12700">
            <a:solidFill>
              <a:srgbClr val="13304F"/>
            </a:solidFill>
            <a:prstDash val="solid"/>
          </a:ln>
        </p:spPr>
        <p:txBody>
          <a:bodyPr/>
          <a:lstStyle/>
          <a:p>
            <a:endParaRPr lang="en-ZA"/>
          </a:p>
        </p:txBody>
      </p:sp>
      <p:sp>
        <p:nvSpPr>
          <p:cNvPr id="35" name="Text 33"/>
          <p:cNvSpPr txBox="1"/>
          <p:nvPr/>
        </p:nvSpPr>
        <p:spPr>
          <a:xfrm>
            <a:off x="777240" y="4297680"/>
            <a:ext cx="3058058" cy="914400"/>
          </a:xfrm>
          <a:prstGeom prst="rect">
            <a:avLst/>
          </a:prstGeom>
          <a:noFill/>
          <a:ln/>
        </p:spPr>
        <p:txBody>
          <a:bodyPr wrap="square" lIns="0" tIns="0" rIns="0" bIns="0" rtlCol="0" anchor="t"/>
          <a:lstStyle/>
          <a:p>
            <a:pPr marL="0" indent="0" algn="l">
              <a:spcAft>
                <a:spcPts val="300"/>
              </a:spcAft>
              <a:buNone/>
            </a:pPr>
            <a:r>
              <a:rPr lang="en-US" sz="1400" b="1" dirty="0">
                <a:solidFill>
                  <a:srgbClr val="FFFFFF"/>
                </a:solidFill>
                <a:latin typeface="Calibri" pitchFamily="34" charset="0"/>
                <a:ea typeface="Calibri" pitchFamily="34" charset="-122"/>
                <a:cs typeface="Calibri" pitchFamily="34" charset="-120"/>
              </a:rPr>
              <a:t>Attended or missed</a:t>
            </a:r>
            <a:endParaRPr lang="en-US" sz="1300" dirty="0"/>
          </a:p>
          <a:p>
            <a:pPr marL="0" indent="0" algn="l">
              <a:spcAft>
                <a:spcPts val="300"/>
              </a:spcAft>
              <a:buNone/>
            </a:pPr>
            <a:r>
              <a:rPr lang="en-US" sz="1200" dirty="0">
                <a:solidFill>
                  <a:srgbClr val="93ACC6"/>
                </a:solidFill>
                <a:latin typeface="Calibri" pitchFamily="34" charset="0"/>
                <a:ea typeface="Calibri" pitchFamily="34" charset="-122"/>
                <a:cs typeface="Calibri" pitchFamily="34" charset="-120"/>
              </a:rPr>
              <a:t>Attended gets the slot's hours, missed gets 0.</a:t>
            </a:r>
            <a:endParaRPr lang="en-US" sz="1300" dirty="0"/>
          </a:p>
        </p:txBody>
      </p:sp>
      <p:sp>
        <p:nvSpPr>
          <p:cNvPr id="36" name="Shape 34"/>
          <p:cNvSpPr/>
          <p:nvPr/>
        </p:nvSpPr>
        <p:spPr>
          <a:xfrm>
            <a:off x="4338218" y="4206240"/>
            <a:ext cx="3515258" cy="1051560"/>
          </a:xfrm>
          <a:prstGeom prst="roundRect">
            <a:avLst>
              <a:gd name="adj" fmla="val 8696"/>
            </a:avLst>
          </a:prstGeom>
          <a:solidFill>
            <a:srgbClr val="13304F"/>
          </a:solidFill>
          <a:ln w="12700">
            <a:solidFill>
              <a:srgbClr val="13304F"/>
            </a:solidFill>
            <a:prstDash val="solid"/>
          </a:ln>
        </p:spPr>
        <p:txBody>
          <a:bodyPr/>
          <a:lstStyle/>
          <a:p>
            <a:endParaRPr lang="en-ZA"/>
          </a:p>
        </p:txBody>
      </p:sp>
      <p:sp>
        <p:nvSpPr>
          <p:cNvPr id="37" name="Text 35"/>
          <p:cNvSpPr txBox="1"/>
          <p:nvPr/>
        </p:nvSpPr>
        <p:spPr>
          <a:xfrm>
            <a:off x="4566818" y="4297680"/>
            <a:ext cx="3058058" cy="914400"/>
          </a:xfrm>
          <a:prstGeom prst="rect">
            <a:avLst/>
          </a:prstGeom>
          <a:noFill/>
          <a:ln/>
        </p:spPr>
        <p:txBody>
          <a:bodyPr wrap="square" lIns="0" tIns="0" rIns="0" bIns="0" rtlCol="0" anchor="t"/>
          <a:lstStyle/>
          <a:p>
            <a:pPr marL="0" indent="0" algn="l">
              <a:spcAft>
                <a:spcPts val="300"/>
              </a:spcAft>
              <a:buNone/>
            </a:pPr>
            <a:r>
              <a:rPr lang="en-US" sz="1400" b="1" dirty="0">
                <a:solidFill>
                  <a:srgbClr val="FFFFFF"/>
                </a:solidFill>
                <a:latin typeface="Calibri" pitchFamily="34" charset="0"/>
                <a:ea typeface="Calibri" pitchFamily="34" charset="-122"/>
                <a:cs typeface="Calibri" pitchFamily="34" charset="-120"/>
              </a:rPr>
              <a:t>One row per assignment</a:t>
            </a:r>
            <a:endParaRPr lang="en-US" sz="1300" dirty="0"/>
          </a:p>
          <a:p>
            <a:pPr marL="0" indent="0" algn="l">
              <a:spcAft>
                <a:spcPts val="300"/>
              </a:spcAft>
              <a:buNone/>
            </a:pPr>
            <a:r>
              <a:rPr lang="en-US" sz="1200" dirty="0">
                <a:solidFill>
                  <a:srgbClr val="93ACC6"/>
                </a:solidFill>
                <a:latin typeface="Calibri" pitchFamily="34" charset="0"/>
                <a:ea typeface="Calibri" pitchFamily="34" charset="-122"/>
                <a:cs typeface="Calibri" pitchFamily="34" charset="-120"/>
              </a:rPr>
              <a:t>Marking again updates the row instead of adding another.</a:t>
            </a:r>
            <a:endParaRPr lang="en-US" sz="1300" dirty="0"/>
          </a:p>
        </p:txBody>
      </p:sp>
      <p:sp>
        <p:nvSpPr>
          <p:cNvPr id="38" name="Shape 36"/>
          <p:cNvSpPr/>
          <p:nvPr/>
        </p:nvSpPr>
        <p:spPr>
          <a:xfrm>
            <a:off x="8127797" y="4206240"/>
            <a:ext cx="3515258" cy="1051560"/>
          </a:xfrm>
          <a:prstGeom prst="roundRect">
            <a:avLst>
              <a:gd name="adj" fmla="val 8696"/>
            </a:avLst>
          </a:prstGeom>
          <a:solidFill>
            <a:srgbClr val="13304F"/>
          </a:solidFill>
          <a:ln w="12700">
            <a:solidFill>
              <a:srgbClr val="13304F"/>
            </a:solidFill>
            <a:prstDash val="solid"/>
          </a:ln>
        </p:spPr>
        <p:txBody>
          <a:bodyPr/>
          <a:lstStyle/>
          <a:p>
            <a:endParaRPr lang="en-ZA"/>
          </a:p>
        </p:txBody>
      </p:sp>
      <p:sp>
        <p:nvSpPr>
          <p:cNvPr id="39" name="Text 37"/>
          <p:cNvSpPr txBox="1"/>
          <p:nvPr/>
        </p:nvSpPr>
        <p:spPr>
          <a:xfrm>
            <a:off x="8356397" y="4297680"/>
            <a:ext cx="3058058" cy="914400"/>
          </a:xfrm>
          <a:prstGeom prst="rect">
            <a:avLst/>
          </a:prstGeom>
          <a:noFill/>
          <a:ln/>
        </p:spPr>
        <p:txBody>
          <a:bodyPr wrap="square" lIns="0" tIns="0" rIns="0" bIns="0" rtlCol="0" anchor="t"/>
          <a:lstStyle/>
          <a:p>
            <a:pPr marL="0" indent="0" algn="l">
              <a:spcAft>
                <a:spcPts val="300"/>
              </a:spcAft>
              <a:buNone/>
            </a:pPr>
            <a:r>
              <a:rPr lang="en-US" sz="1400" b="1" dirty="0">
                <a:solidFill>
                  <a:srgbClr val="FFFFFF"/>
                </a:solidFill>
                <a:latin typeface="Calibri" pitchFamily="34" charset="0"/>
                <a:ea typeface="Calibri" pitchFamily="34" charset="-122"/>
                <a:cs typeface="Calibri" pitchFamily="34" charset="-120"/>
              </a:rPr>
              <a:t>Admins only</a:t>
            </a:r>
            <a:endParaRPr lang="en-US" sz="1300" dirty="0"/>
          </a:p>
          <a:p>
            <a:pPr marL="0" indent="0" algn="l">
              <a:spcAft>
                <a:spcPts val="300"/>
              </a:spcAft>
              <a:buNone/>
            </a:pPr>
            <a:r>
              <a:rPr lang="en-US" sz="1200" dirty="0">
                <a:solidFill>
                  <a:srgbClr val="93ACC6"/>
                </a:solidFill>
                <a:latin typeface="Calibri" pitchFamily="34" charset="0"/>
                <a:ea typeface="Calibri" pitchFamily="34" charset="-122"/>
                <a:cs typeface="Calibri" pitchFamily="34" charset="-120"/>
              </a:rPr>
              <a:t>Only admins can mark attendance; volunteers see their own hours.</a:t>
            </a:r>
            <a:endParaRPr lang="en-US" sz="1300" dirty="0"/>
          </a:p>
        </p:txBody>
      </p:sp>
      <p:sp>
        <p:nvSpPr>
          <p:cNvPr id="40" name="Shape 38"/>
          <p:cNvSpPr/>
          <p:nvPr/>
        </p:nvSpPr>
        <p:spPr>
          <a:xfrm>
            <a:off x="548640" y="5486400"/>
            <a:ext cx="11094415" cy="502920"/>
          </a:xfrm>
          <a:prstGeom prst="roundRect">
            <a:avLst>
              <a:gd name="adj" fmla="val 10909"/>
            </a:avLst>
          </a:prstGeom>
          <a:solidFill>
            <a:srgbClr val="1E1E1E"/>
          </a:solidFill>
          <a:ln w="9525">
            <a:solidFill>
              <a:srgbClr val="333337"/>
            </a:solidFill>
            <a:prstDash val="solid"/>
          </a:ln>
        </p:spPr>
        <p:txBody>
          <a:bodyPr/>
          <a:lstStyle/>
          <a:p>
            <a:endParaRPr lang="en-ZA"/>
          </a:p>
        </p:txBody>
      </p:sp>
      <p:sp>
        <p:nvSpPr>
          <p:cNvPr id="41" name="Text 39"/>
          <p:cNvSpPr txBox="1"/>
          <p:nvPr/>
        </p:nvSpPr>
        <p:spPr>
          <a:xfrm>
            <a:off x="713232" y="5486400"/>
            <a:ext cx="10820095" cy="502920"/>
          </a:xfrm>
          <a:prstGeom prst="rect">
            <a:avLst/>
          </a:prstGeom>
          <a:noFill/>
          <a:ln/>
        </p:spPr>
        <p:txBody>
          <a:bodyPr wrap="square" lIns="0" tIns="0" rIns="0" bIns="0" rtlCol="0" anchor="ctr"/>
          <a:lstStyle/>
          <a:p>
            <a:pPr marL="0" indent="0">
              <a:buNone/>
            </a:pPr>
            <a:r>
              <a:rPr lang="en-US" sz="1250" dirty="0">
                <a:solidFill>
                  <a:srgbClr val="569CD6"/>
                </a:solidFill>
                <a:latin typeface="Courier New" pitchFamily="34" charset="0"/>
                <a:ea typeface="Courier New" pitchFamily="34" charset="-122"/>
                <a:cs typeface="Courier New" pitchFamily="34" charset="-120"/>
              </a:rPr>
              <a:t>decimal</a:t>
            </a:r>
            <a:r>
              <a:rPr lang="en-US" sz="1250" dirty="0">
                <a:solidFill>
                  <a:srgbClr val="D4D4D4"/>
                </a:solidFill>
                <a:latin typeface="Courier New" pitchFamily="34" charset="0"/>
                <a:ea typeface="Courier New" pitchFamily="34" charset="-122"/>
                <a:cs typeface="Courier New" pitchFamily="34" charset="-120"/>
              </a:rPr>
              <a:t> </a:t>
            </a:r>
            <a:r>
              <a:rPr lang="en-US" sz="1250" dirty="0">
                <a:solidFill>
                  <a:srgbClr val="9CDCFE"/>
                </a:solidFill>
                <a:latin typeface="Courier New" pitchFamily="34" charset="0"/>
                <a:ea typeface="Courier New" pitchFamily="34" charset="-122"/>
                <a:cs typeface="Courier New" pitchFamily="34" charset="-120"/>
              </a:rPr>
              <a:t>hoursWorked</a:t>
            </a:r>
            <a:r>
              <a:rPr lang="en-US" sz="1250" dirty="0">
                <a:solidFill>
                  <a:srgbClr val="D4D4D4"/>
                </a:solidFill>
                <a:latin typeface="Courier New" pitchFamily="34" charset="0"/>
                <a:ea typeface="Courier New" pitchFamily="34" charset="-122"/>
                <a:cs typeface="Courier New" pitchFamily="34" charset="-120"/>
              </a:rPr>
              <a:t> = </a:t>
            </a:r>
            <a:r>
              <a:rPr lang="en-US" sz="1250" dirty="0">
                <a:solidFill>
                  <a:srgbClr val="9CDCFE"/>
                </a:solidFill>
                <a:latin typeface="Courier New" pitchFamily="34" charset="0"/>
                <a:ea typeface="Courier New" pitchFamily="34" charset="-122"/>
                <a:cs typeface="Courier New" pitchFamily="34" charset="-120"/>
              </a:rPr>
              <a:t>dto</a:t>
            </a:r>
            <a:r>
              <a:rPr lang="en-US" sz="1250" dirty="0">
                <a:solidFill>
                  <a:srgbClr val="D4D4D4"/>
                </a:solidFill>
                <a:latin typeface="Courier New" pitchFamily="34" charset="0"/>
                <a:ea typeface="Courier New" pitchFamily="34" charset="-122"/>
                <a:cs typeface="Courier New" pitchFamily="34" charset="-120"/>
              </a:rPr>
              <a:t>.</a:t>
            </a:r>
            <a:r>
              <a:rPr lang="en-US" sz="1250" dirty="0">
                <a:solidFill>
                  <a:srgbClr val="4EC9B0"/>
                </a:solidFill>
                <a:latin typeface="Courier New" pitchFamily="34" charset="0"/>
                <a:ea typeface="Courier New" pitchFamily="34" charset="-122"/>
                <a:cs typeface="Courier New" pitchFamily="34" charset="-120"/>
              </a:rPr>
              <a:t>Attended</a:t>
            </a:r>
            <a:r>
              <a:rPr lang="en-US" sz="1250" dirty="0">
                <a:solidFill>
                  <a:srgbClr val="D4D4D4"/>
                </a:solidFill>
                <a:latin typeface="Courier New" pitchFamily="34" charset="0"/>
                <a:ea typeface="Courier New" pitchFamily="34" charset="-122"/>
                <a:cs typeface="Courier New" pitchFamily="34" charset="-120"/>
              </a:rPr>
              <a:t> ? </a:t>
            </a:r>
            <a:r>
              <a:rPr lang="en-US" sz="1250" dirty="0">
                <a:solidFill>
                  <a:srgbClr val="DCDCAA"/>
                </a:solidFill>
                <a:latin typeface="Courier New" pitchFamily="34" charset="0"/>
                <a:ea typeface="Courier New" pitchFamily="34" charset="-122"/>
                <a:cs typeface="Courier New" pitchFamily="34" charset="-120"/>
              </a:rPr>
              <a:t>GetShiftHours</a:t>
            </a:r>
            <a:r>
              <a:rPr lang="en-US" sz="1250" dirty="0">
                <a:solidFill>
                  <a:srgbClr val="D4D4D4"/>
                </a:solidFill>
                <a:latin typeface="Courier New" pitchFamily="34" charset="0"/>
                <a:ea typeface="Courier New" pitchFamily="34" charset="-122"/>
                <a:cs typeface="Courier New" pitchFamily="34" charset="-120"/>
              </a:rPr>
              <a:t>(</a:t>
            </a:r>
            <a:r>
              <a:rPr lang="en-US" sz="1250" dirty="0">
                <a:solidFill>
                  <a:srgbClr val="9CDCFE"/>
                </a:solidFill>
                <a:latin typeface="Courier New" pitchFamily="34" charset="0"/>
                <a:ea typeface="Courier New" pitchFamily="34" charset="-122"/>
                <a:cs typeface="Courier New" pitchFamily="34" charset="-120"/>
              </a:rPr>
              <a:t>rosterAssignment</a:t>
            </a:r>
            <a:r>
              <a:rPr lang="en-US" sz="1250" dirty="0">
                <a:solidFill>
                  <a:srgbClr val="D4D4D4"/>
                </a:solidFill>
                <a:latin typeface="Courier New" pitchFamily="34" charset="0"/>
                <a:ea typeface="Courier New" pitchFamily="34" charset="-122"/>
                <a:cs typeface="Courier New" pitchFamily="34" charset="-120"/>
              </a:rPr>
              <a:t>.</a:t>
            </a:r>
            <a:r>
              <a:rPr lang="en-US" sz="1250" dirty="0">
                <a:solidFill>
                  <a:srgbClr val="4EC9B0"/>
                </a:solidFill>
                <a:latin typeface="Courier New" pitchFamily="34" charset="0"/>
                <a:ea typeface="Courier New" pitchFamily="34" charset="-122"/>
                <a:cs typeface="Courier New" pitchFamily="34" charset="-120"/>
              </a:rPr>
              <a:t>Shift</a:t>
            </a:r>
            <a:r>
              <a:rPr lang="en-US" sz="1250" dirty="0">
                <a:solidFill>
                  <a:srgbClr val="D4D4D4"/>
                </a:solidFill>
                <a:latin typeface="Courier New" pitchFamily="34" charset="0"/>
                <a:ea typeface="Courier New" pitchFamily="34" charset="-122"/>
                <a:cs typeface="Courier New" pitchFamily="34" charset="-120"/>
              </a:rPr>
              <a:t>.</a:t>
            </a:r>
            <a:r>
              <a:rPr lang="en-US" sz="1250" dirty="0">
                <a:solidFill>
                  <a:srgbClr val="4EC9B0"/>
                </a:solidFill>
                <a:latin typeface="Courier New" pitchFamily="34" charset="0"/>
                <a:ea typeface="Courier New" pitchFamily="34" charset="-122"/>
                <a:cs typeface="Courier New" pitchFamily="34" charset="-120"/>
              </a:rPr>
              <a:t>TimeSlot</a:t>
            </a:r>
            <a:r>
              <a:rPr lang="en-US" sz="1250" dirty="0">
                <a:solidFill>
                  <a:srgbClr val="D4D4D4"/>
                </a:solidFill>
                <a:latin typeface="Courier New" pitchFamily="34" charset="0"/>
                <a:ea typeface="Courier New" pitchFamily="34" charset="-122"/>
                <a:cs typeface="Courier New" pitchFamily="34" charset="-120"/>
              </a:rPr>
              <a:t>) : </a:t>
            </a:r>
            <a:r>
              <a:rPr lang="en-US" sz="1250" dirty="0">
                <a:solidFill>
                  <a:srgbClr val="B5CEA8"/>
                </a:solidFill>
                <a:latin typeface="Courier New" pitchFamily="34" charset="0"/>
                <a:ea typeface="Courier New" pitchFamily="34" charset="-122"/>
                <a:cs typeface="Courier New" pitchFamily="34" charset="-120"/>
              </a:rPr>
              <a:t>0</a:t>
            </a:r>
            <a:r>
              <a:rPr lang="en-US" sz="1250" dirty="0">
                <a:solidFill>
                  <a:srgbClr val="D4D4D4"/>
                </a:solidFill>
                <a:latin typeface="Courier New" pitchFamily="34" charset="0"/>
                <a:ea typeface="Courier New" pitchFamily="34" charset="-122"/>
                <a:cs typeface="Courier New" pitchFamily="34" charset="-120"/>
              </a:rPr>
              <a:t>;</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bg>
      <p:bgPr>
        <a:solidFill>
          <a:srgbClr val="0B1D33"/>
        </a:solidFill>
        <a:effectLst/>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B39DDB"/>
          </a:solidFill>
          <a:ln w="12700">
            <a:solidFill>
              <a:srgbClr val="B39DDB"/>
            </a:solidFill>
            <a:prstDash val="solid"/>
          </a:ln>
        </p:spPr>
        <p:txBody>
          <a:bodyPr/>
          <a:lstStyle/>
          <a:p>
            <a:endParaRPr lang="en-ZA"/>
          </a:p>
        </p:txBody>
      </p:sp>
      <p:sp>
        <p:nvSpPr>
          <p:cNvPr id="3" name="Text 1"/>
          <p:cNvSpPr txBox="1"/>
          <p:nvPr/>
        </p:nvSpPr>
        <p:spPr>
          <a:xfrm>
            <a:off x="548640" y="384048"/>
            <a:ext cx="8229600" cy="274320"/>
          </a:xfrm>
          <a:prstGeom prst="rect">
            <a:avLst/>
          </a:prstGeom>
          <a:noFill/>
          <a:ln/>
        </p:spPr>
        <p:txBody>
          <a:bodyPr wrap="square" lIns="0" tIns="0" rIns="0" bIns="0" rtlCol="0" anchor="ctr"/>
          <a:lstStyle/>
          <a:p>
            <a:pPr marL="0" indent="0">
              <a:buNone/>
            </a:pPr>
            <a:r>
              <a:rPr lang="en-US" sz="1100" b="1" kern="0" spc="400" dirty="0">
                <a:solidFill>
                  <a:srgbClr val="B39DDB"/>
                </a:solidFill>
                <a:latin typeface="Calibri" pitchFamily="34" charset="0"/>
                <a:ea typeface="Calibri" pitchFamily="34" charset="-122"/>
                <a:cs typeface="Calibri" pitchFamily="34" charset="-120"/>
              </a:rPr>
              <a:t>TRAINER ACCESS AND TRAINING</a:t>
            </a:r>
            <a:endParaRPr lang="en-US" sz="1100" dirty="0"/>
          </a:p>
        </p:txBody>
      </p:sp>
      <p:sp>
        <p:nvSpPr>
          <p:cNvPr id="4" name="Text 2"/>
          <p:cNvSpPr txBox="1"/>
          <p:nvPr/>
        </p:nvSpPr>
        <p:spPr>
          <a:xfrm>
            <a:off x="548640" y="658368"/>
            <a:ext cx="11094415" cy="566928"/>
          </a:xfrm>
          <a:prstGeom prst="rect">
            <a:avLst/>
          </a:prstGeom>
          <a:noFill/>
          <a:ln/>
        </p:spPr>
        <p:txBody>
          <a:bodyPr wrap="square" lIns="0" tIns="0" rIns="0" bIns="0"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A shared tablet, and skills signed off in order</a:t>
            </a:r>
            <a:endParaRPr lang="en-US" sz="3000" dirty="0"/>
          </a:p>
        </p:txBody>
      </p:sp>
      <p:sp>
        <p:nvSpPr>
          <p:cNvPr id="5" name="Shape 3"/>
          <p:cNvSpPr/>
          <p:nvPr/>
        </p:nvSpPr>
        <p:spPr>
          <a:xfrm>
            <a:off x="548640" y="1417320"/>
            <a:ext cx="5394960" cy="1024128"/>
          </a:xfrm>
          <a:prstGeom prst="roundRect">
            <a:avLst>
              <a:gd name="adj" fmla="val 8929"/>
            </a:avLst>
          </a:prstGeom>
          <a:solidFill>
            <a:srgbClr val="13304F"/>
          </a:solidFill>
          <a:ln w="12700">
            <a:solidFill>
              <a:srgbClr val="13304F"/>
            </a:solidFill>
            <a:prstDash val="solid"/>
          </a:ln>
        </p:spPr>
        <p:txBody>
          <a:bodyPr/>
          <a:lstStyle/>
          <a:p>
            <a:endParaRPr lang="en-ZA"/>
          </a:p>
        </p:txBody>
      </p:sp>
      <p:sp>
        <p:nvSpPr>
          <p:cNvPr id="6" name="Shape 4"/>
          <p:cNvSpPr/>
          <p:nvPr/>
        </p:nvSpPr>
        <p:spPr>
          <a:xfrm>
            <a:off x="731520" y="1636776"/>
            <a:ext cx="585216" cy="585216"/>
          </a:xfrm>
          <a:prstGeom prst="ellipse">
            <a:avLst/>
          </a:prstGeom>
          <a:solidFill>
            <a:srgbClr val="0B1D33"/>
          </a:solidFill>
          <a:ln w="12700">
            <a:solidFill>
              <a:srgbClr val="0B1D33"/>
            </a:solidFill>
            <a:prstDash val="solid"/>
          </a:ln>
        </p:spPr>
        <p:txBody>
          <a:bodyPr/>
          <a:lstStyle/>
          <a:p>
            <a:endParaRPr lang="en-ZA"/>
          </a:p>
        </p:txBody>
      </p:sp>
      <p:pic>
        <p:nvPicPr>
          <p:cNvPr id="7" name="Image 0" descr="preencoded.png"/>
          <p:cNvPicPr>
            <a:picLocks noChangeAspect="1"/>
          </p:cNvPicPr>
          <p:nvPr/>
        </p:nvPicPr>
        <p:blipFill>
          <a:blip r:embed="rId3"/>
          <a:stretch>
            <a:fillRect/>
          </a:stretch>
        </p:blipFill>
        <p:spPr>
          <a:xfrm>
            <a:off x="877824" y="1783080"/>
            <a:ext cx="292608" cy="292608"/>
          </a:xfrm>
          <a:prstGeom prst="rect">
            <a:avLst/>
          </a:prstGeom>
        </p:spPr>
      </p:pic>
      <p:sp>
        <p:nvSpPr>
          <p:cNvPr id="8" name="Text 5"/>
          <p:cNvSpPr txBox="1"/>
          <p:nvPr/>
        </p:nvSpPr>
        <p:spPr>
          <a:xfrm>
            <a:off x="1508760" y="1490472"/>
            <a:ext cx="4297680" cy="877824"/>
          </a:xfrm>
          <a:prstGeom prst="rect">
            <a:avLst/>
          </a:prstGeom>
          <a:noFill/>
          <a:ln/>
        </p:spPr>
        <p:txBody>
          <a:bodyPr wrap="square" lIns="0" tIns="0" rIns="0" bIns="0" rtlCol="0" anchor="ctr"/>
          <a:lstStyle/>
          <a:p>
            <a:pPr marL="0" indent="0" algn="l">
              <a:spcAft>
                <a:spcPts val="300"/>
              </a:spcAft>
              <a:buNone/>
            </a:pPr>
            <a:r>
              <a:rPr lang="en-US" sz="1450" b="1" dirty="0">
                <a:solidFill>
                  <a:srgbClr val="FFFFFF"/>
                </a:solidFill>
                <a:latin typeface="Calibri" pitchFamily="34" charset="0"/>
                <a:ea typeface="Calibri" pitchFamily="34" charset="-122"/>
                <a:cs typeface="Calibri" pitchFamily="34" charset="-120"/>
              </a:rPr>
              <a:t>Enter the shared PIN</a:t>
            </a:r>
            <a:endParaRPr lang="en-US" sz="1300" dirty="0"/>
          </a:p>
          <a:p>
            <a:pPr marL="0" indent="0" algn="l">
              <a:spcAft>
                <a:spcPts val="300"/>
              </a:spcAft>
              <a:buNone/>
            </a:pPr>
            <a:r>
              <a:rPr lang="en-US" sz="1200" dirty="0">
                <a:solidFill>
                  <a:srgbClr val="93ACC6"/>
                </a:solidFill>
                <a:latin typeface="Calibri" pitchFamily="34" charset="0"/>
                <a:ea typeface="Calibri" pitchFamily="34" charset="-122"/>
                <a:cs typeface="Calibri" pitchFamily="34" charset="-120"/>
              </a:rPr>
              <a:t>Checked against configuration, never stored in code.</a:t>
            </a:r>
            <a:endParaRPr lang="en-US" sz="1300" dirty="0"/>
          </a:p>
        </p:txBody>
      </p:sp>
      <p:sp>
        <p:nvSpPr>
          <p:cNvPr id="9" name="Shape 6"/>
          <p:cNvSpPr/>
          <p:nvPr/>
        </p:nvSpPr>
        <p:spPr>
          <a:xfrm>
            <a:off x="1024128" y="2441448"/>
            <a:ext cx="914" cy="192024"/>
          </a:xfrm>
          <a:prstGeom prst="line">
            <a:avLst/>
          </a:prstGeom>
          <a:noFill/>
          <a:ln w="19050">
            <a:solidFill>
              <a:srgbClr val="B39DDB"/>
            </a:solidFill>
            <a:prstDash val="solid"/>
            <a:tailEnd type="triangle"/>
          </a:ln>
        </p:spPr>
        <p:txBody>
          <a:bodyPr/>
          <a:lstStyle/>
          <a:p>
            <a:endParaRPr lang="en-ZA"/>
          </a:p>
        </p:txBody>
      </p:sp>
      <p:sp>
        <p:nvSpPr>
          <p:cNvPr id="10" name="Shape 7"/>
          <p:cNvSpPr/>
          <p:nvPr/>
        </p:nvSpPr>
        <p:spPr>
          <a:xfrm>
            <a:off x="548640" y="2633472"/>
            <a:ext cx="5394960" cy="1024128"/>
          </a:xfrm>
          <a:prstGeom prst="roundRect">
            <a:avLst>
              <a:gd name="adj" fmla="val 8929"/>
            </a:avLst>
          </a:prstGeom>
          <a:solidFill>
            <a:srgbClr val="13304F"/>
          </a:solidFill>
          <a:ln w="12700">
            <a:solidFill>
              <a:srgbClr val="13304F"/>
            </a:solidFill>
            <a:prstDash val="solid"/>
          </a:ln>
        </p:spPr>
        <p:txBody>
          <a:bodyPr/>
          <a:lstStyle/>
          <a:p>
            <a:endParaRPr lang="en-ZA"/>
          </a:p>
        </p:txBody>
      </p:sp>
      <p:sp>
        <p:nvSpPr>
          <p:cNvPr id="11" name="Shape 8"/>
          <p:cNvSpPr/>
          <p:nvPr/>
        </p:nvSpPr>
        <p:spPr>
          <a:xfrm>
            <a:off x="731520" y="2852928"/>
            <a:ext cx="585216" cy="585216"/>
          </a:xfrm>
          <a:prstGeom prst="ellipse">
            <a:avLst/>
          </a:prstGeom>
          <a:solidFill>
            <a:srgbClr val="0B1D33"/>
          </a:solidFill>
          <a:ln w="12700">
            <a:solidFill>
              <a:srgbClr val="0B1D33"/>
            </a:solidFill>
            <a:prstDash val="solid"/>
          </a:ln>
        </p:spPr>
        <p:txBody>
          <a:bodyPr/>
          <a:lstStyle/>
          <a:p>
            <a:endParaRPr lang="en-ZA"/>
          </a:p>
        </p:txBody>
      </p:sp>
      <p:pic>
        <p:nvPicPr>
          <p:cNvPr id="12" name="Image 1" descr="preencoded.png"/>
          <p:cNvPicPr>
            <a:picLocks noChangeAspect="1"/>
          </p:cNvPicPr>
          <p:nvPr/>
        </p:nvPicPr>
        <p:blipFill>
          <a:blip r:embed="rId4"/>
          <a:stretch>
            <a:fillRect/>
          </a:stretch>
        </p:blipFill>
        <p:spPr>
          <a:xfrm>
            <a:off x="877824" y="2999232"/>
            <a:ext cx="292608" cy="292608"/>
          </a:xfrm>
          <a:prstGeom prst="rect">
            <a:avLst/>
          </a:prstGeom>
        </p:spPr>
      </p:pic>
      <p:sp>
        <p:nvSpPr>
          <p:cNvPr id="13" name="Text 9"/>
          <p:cNvSpPr txBox="1"/>
          <p:nvPr/>
        </p:nvSpPr>
        <p:spPr>
          <a:xfrm>
            <a:off x="1508760" y="2706624"/>
            <a:ext cx="4297680" cy="877824"/>
          </a:xfrm>
          <a:prstGeom prst="rect">
            <a:avLst/>
          </a:prstGeom>
          <a:noFill/>
          <a:ln/>
        </p:spPr>
        <p:txBody>
          <a:bodyPr wrap="square" lIns="0" tIns="0" rIns="0" bIns="0" rtlCol="0" anchor="ctr"/>
          <a:lstStyle/>
          <a:p>
            <a:pPr marL="0" indent="0" algn="l">
              <a:spcAft>
                <a:spcPts val="300"/>
              </a:spcAft>
              <a:buNone/>
            </a:pPr>
            <a:r>
              <a:rPr lang="en-US" sz="1450" b="1" dirty="0">
                <a:solidFill>
                  <a:srgbClr val="FFFFFF"/>
                </a:solidFill>
                <a:latin typeface="Calibri" pitchFamily="34" charset="0"/>
                <a:ea typeface="Calibri" pitchFamily="34" charset="-122"/>
                <a:cs typeface="Calibri" pitchFamily="34" charset="-120"/>
              </a:rPr>
              <a:t>Get a 4-hour token</a:t>
            </a:r>
            <a:endParaRPr lang="en-US" sz="1300" dirty="0"/>
          </a:p>
          <a:p>
            <a:pPr marL="0" indent="0" algn="l">
              <a:spcAft>
                <a:spcPts val="300"/>
              </a:spcAft>
              <a:buNone/>
            </a:pPr>
            <a:r>
              <a:rPr lang="en-US" sz="1200" dirty="0">
                <a:solidFill>
                  <a:srgbClr val="93ACC6"/>
                </a:solidFill>
                <a:latin typeface="Calibri" pitchFamily="34" charset="0"/>
                <a:ea typeface="Calibri" pitchFamily="34" charset="-122"/>
                <a:cs typeface="Calibri" pitchFamily="34" charset="-120"/>
              </a:rPr>
              <a:t>Role Trainer, with access_type=trainer.</a:t>
            </a:r>
            <a:endParaRPr lang="en-US" sz="1300" dirty="0"/>
          </a:p>
        </p:txBody>
      </p:sp>
      <p:sp>
        <p:nvSpPr>
          <p:cNvPr id="14" name="Shape 10"/>
          <p:cNvSpPr/>
          <p:nvPr/>
        </p:nvSpPr>
        <p:spPr>
          <a:xfrm>
            <a:off x="1024128" y="3657600"/>
            <a:ext cx="914" cy="192024"/>
          </a:xfrm>
          <a:prstGeom prst="line">
            <a:avLst/>
          </a:prstGeom>
          <a:noFill/>
          <a:ln w="19050">
            <a:solidFill>
              <a:srgbClr val="B39DDB"/>
            </a:solidFill>
            <a:prstDash val="solid"/>
            <a:tailEnd type="triangle"/>
          </a:ln>
        </p:spPr>
        <p:txBody>
          <a:bodyPr/>
          <a:lstStyle/>
          <a:p>
            <a:endParaRPr lang="en-ZA"/>
          </a:p>
        </p:txBody>
      </p:sp>
      <p:sp>
        <p:nvSpPr>
          <p:cNvPr id="15" name="Shape 11"/>
          <p:cNvSpPr/>
          <p:nvPr/>
        </p:nvSpPr>
        <p:spPr>
          <a:xfrm>
            <a:off x="548640" y="3849624"/>
            <a:ext cx="5394960" cy="1024128"/>
          </a:xfrm>
          <a:prstGeom prst="roundRect">
            <a:avLst>
              <a:gd name="adj" fmla="val 8929"/>
            </a:avLst>
          </a:prstGeom>
          <a:solidFill>
            <a:srgbClr val="13304F"/>
          </a:solidFill>
          <a:ln w="12700">
            <a:solidFill>
              <a:srgbClr val="13304F"/>
            </a:solidFill>
            <a:prstDash val="solid"/>
          </a:ln>
        </p:spPr>
        <p:txBody>
          <a:bodyPr/>
          <a:lstStyle/>
          <a:p>
            <a:endParaRPr lang="en-ZA"/>
          </a:p>
        </p:txBody>
      </p:sp>
      <p:sp>
        <p:nvSpPr>
          <p:cNvPr id="16" name="Shape 12"/>
          <p:cNvSpPr/>
          <p:nvPr/>
        </p:nvSpPr>
        <p:spPr>
          <a:xfrm>
            <a:off x="731520" y="4069080"/>
            <a:ext cx="585216" cy="585216"/>
          </a:xfrm>
          <a:prstGeom prst="ellipse">
            <a:avLst/>
          </a:prstGeom>
          <a:solidFill>
            <a:srgbClr val="0B1D33"/>
          </a:solidFill>
          <a:ln w="12700">
            <a:solidFill>
              <a:srgbClr val="0B1D33"/>
            </a:solidFill>
            <a:prstDash val="solid"/>
          </a:ln>
        </p:spPr>
        <p:txBody>
          <a:bodyPr/>
          <a:lstStyle/>
          <a:p>
            <a:endParaRPr lang="en-ZA"/>
          </a:p>
        </p:txBody>
      </p:sp>
      <p:pic>
        <p:nvPicPr>
          <p:cNvPr id="17" name="Image 2" descr="preencoded.png"/>
          <p:cNvPicPr>
            <a:picLocks noChangeAspect="1"/>
          </p:cNvPicPr>
          <p:nvPr/>
        </p:nvPicPr>
        <p:blipFill>
          <a:blip r:embed="rId5"/>
          <a:stretch>
            <a:fillRect/>
          </a:stretch>
        </p:blipFill>
        <p:spPr>
          <a:xfrm>
            <a:off x="877824" y="4215384"/>
            <a:ext cx="292608" cy="292608"/>
          </a:xfrm>
          <a:prstGeom prst="rect">
            <a:avLst/>
          </a:prstGeom>
        </p:spPr>
      </p:pic>
      <p:sp>
        <p:nvSpPr>
          <p:cNvPr id="18" name="Text 13"/>
          <p:cNvSpPr txBox="1"/>
          <p:nvPr/>
        </p:nvSpPr>
        <p:spPr>
          <a:xfrm>
            <a:off x="1508760" y="3922776"/>
            <a:ext cx="4297680" cy="877824"/>
          </a:xfrm>
          <a:prstGeom prst="rect">
            <a:avLst/>
          </a:prstGeom>
          <a:noFill/>
          <a:ln/>
        </p:spPr>
        <p:txBody>
          <a:bodyPr wrap="square" lIns="0" tIns="0" rIns="0" bIns="0" rtlCol="0" anchor="ctr"/>
          <a:lstStyle/>
          <a:p>
            <a:pPr marL="0" indent="0" algn="l">
              <a:spcAft>
                <a:spcPts val="300"/>
              </a:spcAft>
              <a:buNone/>
            </a:pPr>
            <a:r>
              <a:rPr lang="en-US" sz="1450" b="1" dirty="0">
                <a:solidFill>
                  <a:srgbClr val="FFFFFF"/>
                </a:solidFill>
                <a:latin typeface="Calibri" pitchFamily="34" charset="0"/>
                <a:ea typeface="Calibri" pitchFamily="34" charset="-122"/>
                <a:cs typeface="Calibri" pitchFamily="34" charset="-120"/>
              </a:rPr>
              <a:t>"TrainerAccess" policy</a:t>
            </a:r>
            <a:endParaRPr lang="en-US" sz="1300" dirty="0"/>
          </a:p>
          <a:p>
            <a:pPr marL="0" indent="0" algn="l">
              <a:spcAft>
                <a:spcPts val="300"/>
              </a:spcAft>
              <a:buNone/>
            </a:pPr>
            <a:r>
              <a:rPr lang="en-US" sz="1200" dirty="0">
                <a:solidFill>
                  <a:srgbClr val="93ACC6"/>
                </a:solidFill>
                <a:latin typeface="Calibri" pitchFamily="34" charset="0"/>
                <a:ea typeface="Calibri" pitchFamily="34" charset="-122"/>
                <a:cs typeface="Calibri" pitchFamily="34" charset="-120"/>
              </a:rPr>
              <a:t>Only trainer tokens reach trainer endpoints.</a:t>
            </a:r>
            <a:endParaRPr lang="en-US" sz="1300" dirty="0"/>
          </a:p>
        </p:txBody>
      </p:sp>
      <p:sp>
        <p:nvSpPr>
          <p:cNvPr id="19" name="Shape 14"/>
          <p:cNvSpPr/>
          <p:nvPr/>
        </p:nvSpPr>
        <p:spPr>
          <a:xfrm>
            <a:off x="1024128" y="4873752"/>
            <a:ext cx="914" cy="192024"/>
          </a:xfrm>
          <a:prstGeom prst="line">
            <a:avLst/>
          </a:prstGeom>
          <a:noFill/>
          <a:ln w="19050">
            <a:solidFill>
              <a:srgbClr val="B39DDB"/>
            </a:solidFill>
            <a:prstDash val="solid"/>
            <a:tailEnd type="triangle"/>
          </a:ln>
        </p:spPr>
        <p:txBody>
          <a:bodyPr/>
          <a:lstStyle/>
          <a:p>
            <a:endParaRPr lang="en-ZA"/>
          </a:p>
        </p:txBody>
      </p:sp>
      <p:sp>
        <p:nvSpPr>
          <p:cNvPr id="20" name="Shape 15"/>
          <p:cNvSpPr/>
          <p:nvPr/>
        </p:nvSpPr>
        <p:spPr>
          <a:xfrm>
            <a:off x="548640" y="5065776"/>
            <a:ext cx="5394960" cy="1024128"/>
          </a:xfrm>
          <a:prstGeom prst="roundRect">
            <a:avLst>
              <a:gd name="adj" fmla="val 8929"/>
            </a:avLst>
          </a:prstGeom>
          <a:solidFill>
            <a:srgbClr val="13304F"/>
          </a:solidFill>
          <a:ln w="12700">
            <a:solidFill>
              <a:srgbClr val="13304F"/>
            </a:solidFill>
            <a:prstDash val="solid"/>
          </a:ln>
        </p:spPr>
        <p:txBody>
          <a:bodyPr/>
          <a:lstStyle/>
          <a:p>
            <a:endParaRPr lang="en-ZA"/>
          </a:p>
        </p:txBody>
      </p:sp>
      <p:sp>
        <p:nvSpPr>
          <p:cNvPr id="21" name="Shape 16"/>
          <p:cNvSpPr/>
          <p:nvPr/>
        </p:nvSpPr>
        <p:spPr>
          <a:xfrm>
            <a:off x="731520" y="5285232"/>
            <a:ext cx="585216" cy="585216"/>
          </a:xfrm>
          <a:prstGeom prst="ellipse">
            <a:avLst/>
          </a:prstGeom>
          <a:solidFill>
            <a:srgbClr val="0B1D33"/>
          </a:solidFill>
          <a:ln w="12700">
            <a:solidFill>
              <a:srgbClr val="0B1D33"/>
            </a:solidFill>
            <a:prstDash val="solid"/>
          </a:ln>
        </p:spPr>
        <p:txBody>
          <a:bodyPr/>
          <a:lstStyle/>
          <a:p>
            <a:endParaRPr lang="en-ZA"/>
          </a:p>
        </p:txBody>
      </p:sp>
      <p:pic>
        <p:nvPicPr>
          <p:cNvPr id="22" name="Image 3" descr="preencoded.png"/>
          <p:cNvPicPr>
            <a:picLocks noChangeAspect="1"/>
          </p:cNvPicPr>
          <p:nvPr/>
        </p:nvPicPr>
        <p:blipFill>
          <a:blip r:embed="rId6"/>
          <a:stretch>
            <a:fillRect/>
          </a:stretch>
        </p:blipFill>
        <p:spPr>
          <a:xfrm>
            <a:off x="877824" y="5431536"/>
            <a:ext cx="292608" cy="292608"/>
          </a:xfrm>
          <a:prstGeom prst="rect">
            <a:avLst/>
          </a:prstGeom>
        </p:spPr>
      </p:pic>
      <p:sp>
        <p:nvSpPr>
          <p:cNvPr id="23" name="Text 17"/>
          <p:cNvSpPr txBox="1"/>
          <p:nvPr/>
        </p:nvSpPr>
        <p:spPr>
          <a:xfrm>
            <a:off x="1508760" y="5138928"/>
            <a:ext cx="4297680" cy="877824"/>
          </a:xfrm>
          <a:prstGeom prst="rect">
            <a:avLst/>
          </a:prstGeom>
          <a:noFill/>
          <a:ln/>
        </p:spPr>
        <p:txBody>
          <a:bodyPr wrap="square" lIns="0" tIns="0" rIns="0" bIns="0" rtlCol="0" anchor="ctr"/>
          <a:lstStyle/>
          <a:p>
            <a:pPr marL="0" indent="0" algn="l">
              <a:spcAft>
                <a:spcPts val="300"/>
              </a:spcAft>
              <a:buNone/>
            </a:pPr>
            <a:r>
              <a:rPr lang="en-US" sz="1450" b="1" dirty="0">
                <a:solidFill>
                  <a:srgbClr val="FFFFFF"/>
                </a:solidFill>
                <a:latin typeface="Calibri" pitchFamily="34" charset="0"/>
                <a:ea typeface="Calibri" pitchFamily="34" charset="-122"/>
                <a:cs typeface="Calibri" pitchFamily="34" charset="-120"/>
              </a:rPr>
              <a:t>Sign off a skill</a:t>
            </a:r>
            <a:endParaRPr lang="en-US" sz="1300" dirty="0"/>
          </a:p>
          <a:p>
            <a:pPr marL="0" indent="0" algn="l">
              <a:spcAft>
                <a:spcPts val="300"/>
              </a:spcAft>
              <a:buNone/>
            </a:pPr>
            <a:r>
              <a:rPr lang="en-US" sz="1200" dirty="0">
                <a:solidFill>
                  <a:srgbClr val="93ACC6"/>
                </a:solidFill>
                <a:latin typeface="Calibri" pitchFamily="34" charset="0"/>
                <a:ea typeface="Calibri" pitchFamily="34" charset="-122"/>
                <a:cs typeface="Calibri" pitchFamily="34" charset="-120"/>
              </a:rPr>
              <a:t>Recorded against the trainer.</a:t>
            </a:r>
            <a:endParaRPr lang="en-US" sz="1300" dirty="0"/>
          </a:p>
        </p:txBody>
      </p:sp>
      <p:sp>
        <p:nvSpPr>
          <p:cNvPr id="24" name="Shape 18"/>
          <p:cNvSpPr/>
          <p:nvPr/>
        </p:nvSpPr>
        <p:spPr>
          <a:xfrm>
            <a:off x="6400800" y="1417320"/>
            <a:ext cx="5242255" cy="1234440"/>
          </a:xfrm>
          <a:prstGeom prst="roundRect">
            <a:avLst>
              <a:gd name="adj" fmla="val 7407"/>
            </a:avLst>
          </a:prstGeom>
          <a:solidFill>
            <a:srgbClr val="1A3D63"/>
          </a:solidFill>
          <a:ln w="15875">
            <a:solidFill>
              <a:srgbClr val="5ED3C6"/>
            </a:solidFill>
            <a:prstDash val="solid"/>
          </a:ln>
        </p:spPr>
        <p:txBody>
          <a:bodyPr/>
          <a:lstStyle/>
          <a:p>
            <a:endParaRPr lang="en-ZA"/>
          </a:p>
        </p:txBody>
      </p:sp>
      <p:sp>
        <p:nvSpPr>
          <p:cNvPr id="25" name="Text 19"/>
          <p:cNvSpPr txBox="1"/>
          <p:nvPr/>
        </p:nvSpPr>
        <p:spPr>
          <a:xfrm>
            <a:off x="6675120" y="1508760"/>
            <a:ext cx="4693615" cy="1051560"/>
          </a:xfrm>
          <a:prstGeom prst="rect">
            <a:avLst/>
          </a:prstGeom>
          <a:noFill/>
          <a:ln/>
        </p:spPr>
        <p:txBody>
          <a:bodyPr wrap="square" lIns="0" tIns="0" rIns="0" bIns="0" rtlCol="0" anchor="ctr"/>
          <a:lstStyle/>
          <a:p>
            <a:pPr marL="0" indent="0" algn="l">
              <a:spcAft>
                <a:spcPts val="300"/>
              </a:spcAft>
              <a:buNone/>
            </a:pPr>
            <a:r>
              <a:rPr lang="en-US" sz="1200" b="1" dirty="0">
                <a:solidFill>
                  <a:srgbClr val="5ED3C6"/>
                </a:solidFill>
                <a:latin typeface="Calibri" pitchFamily="34" charset="0"/>
                <a:ea typeface="Calibri" pitchFamily="34" charset="-122"/>
                <a:cs typeface="Calibri" pitchFamily="34" charset="-120"/>
              </a:rPr>
              <a:t>SUPPORTING AREAS</a:t>
            </a:r>
            <a:endParaRPr lang="en-US" sz="1300" dirty="0"/>
          </a:p>
          <a:p>
            <a:pPr marL="0" indent="0" algn="l">
              <a:spcAft>
                <a:spcPts val="300"/>
              </a:spcAft>
              <a:buNone/>
            </a:pPr>
            <a:r>
              <a:rPr lang="en-US" sz="1700" b="1" dirty="0">
                <a:solidFill>
                  <a:srgbClr val="FFFFFF"/>
                </a:solidFill>
                <a:latin typeface="Calibri" pitchFamily="34" charset="0"/>
                <a:ea typeface="Calibri" pitchFamily="34" charset="-122"/>
                <a:cs typeface="Calibri" pitchFamily="34" charset="-120"/>
              </a:rPr>
              <a:t>Every one signed off first</a:t>
            </a:r>
            <a:endParaRPr lang="en-US" sz="1300" dirty="0"/>
          </a:p>
        </p:txBody>
      </p:sp>
      <p:sp>
        <p:nvSpPr>
          <p:cNvPr id="26" name="Shape 20"/>
          <p:cNvSpPr/>
          <p:nvPr/>
        </p:nvSpPr>
        <p:spPr>
          <a:xfrm>
            <a:off x="9021928" y="2697480"/>
            <a:ext cx="914" cy="457200"/>
          </a:xfrm>
          <a:prstGeom prst="line">
            <a:avLst/>
          </a:prstGeom>
          <a:noFill/>
          <a:ln w="25400">
            <a:solidFill>
              <a:srgbClr val="B39DDB"/>
            </a:solidFill>
            <a:prstDash val="solid"/>
            <a:tailEnd type="triangle"/>
          </a:ln>
        </p:spPr>
        <p:txBody>
          <a:bodyPr/>
          <a:lstStyle/>
          <a:p>
            <a:endParaRPr lang="en-ZA"/>
          </a:p>
        </p:txBody>
      </p:sp>
      <p:sp>
        <p:nvSpPr>
          <p:cNvPr id="27" name="Text 21"/>
          <p:cNvSpPr txBox="1"/>
          <p:nvPr/>
        </p:nvSpPr>
        <p:spPr>
          <a:xfrm>
            <a:off x="9159088" y="2743200"/>
            <a:ext cx="1371600" cy="365760"/>
          </a:xfrm>
          <a:prstGeom prst="rect">
            <a:avLst/>
          </a:prstGeom>
          <a:noFill/>
          <a:ln/>
        </p:spPr>
        <p:txBody>
          <a:bodyPr wrap="square" lIns="0" tIns="0" rIns="0" bIns="0" rtlCol="0" anchor="t"/>
          <a:lstStyle/>
          <a:p>
            <a:pPr marL="0" indent="0" algn="l">
              <a:spcAft>
                <a:spcPts val="300"/>
              </a:spcAft>
              <a:buNone/>
            </a:pPr>
            <a:r>
              <a:rPr lang="en-US" sz="1100" i="1" dirty="0">
                <a:solidFill>
                  <a:srgbClr val="93ACC6"/>
                </a:solidFill>
                <a:latin typeface="Calibri" pitchFamily="34" charset="0"/>
                <a:ea typeface="Calibri" pitchFamily="34" charset="-122"/>
                <a:cs typeface="Calibri" pitchFamily="34" charset="-120"/>
              </a:rPr>
              <a:t>unlocks</a:t>
            </a:r>
            <a:endParaRPr lang="en-US" sz="1100" dirty="0"/>
          </a:p>
        </p:txBody>
      </p:sp>
      <p:sp>
        <p:nvSpPr>
          <p:cNvPr id="28" name="Shape 22"/>
          <p:cNvSpPr/>
          <p:nvPr/>
        </p:nvSpPr>
        <p:spPr>
          <a:xfrm>
            <a:off x="6400800" y="3200400"/>
            <a:ext cx="2483968" cy="960120"/>
          </a:xfrm>
          <a:prstGeom prst="roundRect">
            <a:avLst>
              <a:gd name="adj" fmla="val 9524"/>
            </a:avLst>
          </a:prstGeom>
          <a:solidFill>
            <a:srgbClr val="13304F"/>
          </a:solidFill>
          <a:ln w="15875">
            <a:solidFill>
              <a:srgbClr val="F6AE2D"/>
            </a:solidFill>
            <a:prstDash val="solid"/>
          </a:ln>
        </p:spPr>
        <p:txBody>
          <a:bodyPr/>
          <a:lstStyle/>
          <a:p>
            <a:endParaRPr lang="en-ZA"/>
          </a:p>
        </p:txBody>
      </p:sp>
      <p:sp>
        <p:nvSpPr>
          <p:cNvPr id="29" name="Text 23"/>
          <p:cNvSpPr txBox="1"/>
          <p:nvPr/>
        </p:nvSpPr>
        <p:spPr>
          <a:xfrm>
            <a:off x="6400800" y="3200400"/>
            <a:ext cx="2483968" cy="960120"/>
          </a:xfrm>
          <a:prstGeom prst="rect">
            <a:avLst/>
          </a:prstGeom>
          <a:noFill/>
          <a:ln/>
        </p:spPr>
        <p:txBody>
          <a:bodyPr wrap="square" lIns="0" tIns="0" rIns="0" bIns="0" rtlCol="0" anchor="ctr"/>
          <a:lstStyle/>
          <a:p>
            <a:pPr marL="0" indent="0" algn="ctr">
              <a:spcAft>
                <a:spcPts val="300"/>
              </a:spcAft>
              <a:buNone/>
            </a:pPr>
            <a:r>
              <a:rPr lang="en-US" sz="1500" b="1" dirty="0">
                <a:solidFill>
                  <a:srgbClr val="F6AE2D"/>
                </a:solidFill>
                <a:latin typeface="Calibri" pitchFamily="34" charset="0"/>
                <a:ea typeface="Calibri" pitchFamily="34" charset="-122"/>
                <a:cs typeface="Calibri" pitchFamily="34" charset="-120"/>
              </a:rPr>
              <a:t>PEN ROUTINES</a:t>
            </a:r>
            <a:endParaRPr lang="en-US" sz="1500" dirty="0"/>
          </a:p>
        </p:txBody>
      </p:sp>
      <p:sp>
        <p:nvSpPr>
          <p:cNvPr id="30" name="Shape 24"/>
          <p:cNvSpPr/>
          <p:nvPr/>
        </p:nvSpPr>
        <p:spPr>
          <a:xfrm>
            <a:off x="9159088" y="3200400"/>
            <a:ext cx="2483968" cy="960120"/>
          </a:xfrm>
          <a:prstGeom prst="roundRect">
            <a:avLst>
              <a:gd name="adj" fmla="val 9524"/>
            </a:avLst>
          </a:prstGeom>
          <a:solidFill>
            <a:srgbClr val="13304F"/>
          </a:solidFill>
          <a:ln w="15875">
            <a:solidFill>
              <a:srgbClr val="F07167"/>
            </a:solidFill>
            <a:prstDash val="solid"/>
          </a:ln>
        </p:spPr>
        <p:txBody>
          <a:bodyPr/>
          <a:lstStyle/>
          <a:p>
            <a:endParaRPr lang="en-ZA"/>
          </a:p>
        </p:txBody>
      </p:sp>
      <p:sp>
        <p:nvSpPr>
          <p:cNvPr id="31" name="Text 25"/>
          <p:cNvSpPr txBox="1"/>
          <p:nvPr/>
        </p:nvSpPr>
        <p:spPr>
          <a:xfrm>
            <a:off x="9159088" y="3200400"/>
            <a:ext cx="2483968" cy="960120"/>
          </a:xfrm>
          <a:prstGeom prst="rect">
            <a:avLst/>
          </a:prstGeom>
          <a:noFill/>
          <a:ln/>
        </p:spPr>
        <p:txBody>
          <a:bodyPr wrap="square" lIns="0" tIns="0" rIns="0" bIns="0" rtlCol="0" anchor="ctr"/>
          <a:lstStyle/>
          <a:p>
            <a:pPr marL="0" indent="0" algn="ctr">
              <a:spcAft>
                <a:spcPts val="300"/>
              </a:spcAft>
              <a:buNone/>
            </a:pPr>
            <a:r>
              <a:rPr lang="en-US" sz="1500" b="1" dirty="0">
                <a:solidFill>
                  <a:srgbClr val="F07167"/>
                </a:solidFill>
                <a:latin typeface="Calibri" pitchFamily="34" charset="0"/>
                <a:ea typeface="Calibri" pitchFamily="34" charset="-122"/>
                <a:cs typeface="Calibri" pitchFamily="34" charset="-120"/>
              </a:rPr>
              <a:t>SEASONAL</a:t>
            </a:r>
            <a:endParaRPr lang="en-US" sz="1500" dirty="0"/>
          </a:p>
        </p:txBody>
      </p:sp>
      <p:sp>
        <p:nvSpPr>
          <p:cNvPr id="32" name="Text 26"/>
          <p:cNvSpPr txBox="1"/>
          <p:nvPr/>
        </p:nvSpPr>
        <p:spPr>
          <a:xfrm>
            <a:off x="6400800" y="4434840"/>
            <a:ext cx="5242255" cy="320040"/>
          </a:xfrm>
          <a:prstGeom prst="rect">
            <a:avLst/>
          </a:prstGeom>
          <a:noFill/>
          <a:ln/>
        </p:spPr>
        <p:txBody>
          <a:bodyPr wrap="square" lIns="0" tIns="0" rIns="0" bIns="0" rtlCol="0" anchor="t"/>
          <a:lstStyle/>
          <a:p>
            <a:pPr marL="0" indent="0" algn="l">
              <a:spcAft>
                <a:spcPts val="300"/>
              </a:spcAft>
              <a:buNone/>
            </a:pPr>
            <a:r>
              <a:rPr lang="en-US" sz="1200" dirty="0">
                <a:solidFill>
                  <a:srgbClr val="93ACC6"/>
                </a:solidFill>
                <a:latin typeface="Calibri" pitchFamily="34" charset="0"/>
                <a:ea typeface="Calibri" pitchFamily="34" charset="-122"/>
                <a:cs typeface="Calibri" pitchFamily="34" charset="-120"/>
              </a:rPr>
              <a:t>Trying earlier gets a clear refusal:</a:t>
            </a:r>
            <a:endParaRPr lang="en-US" sz="1200" dirty="0"/>
          </a:p>
        </p:txBody>
      </p:sp>
      <p:sp>
        <p:nvSpPr>
          <p:cNvPr id="33" name="Shape 27"/>
          <p:cNvSpPr/>
          <p:nvPr/>
        </p:nvSpPr>
        <p:spPr>
          <a:xfrm>
            <a:off x="6400800" y="4800600"/>
            <a:ext cx="5242255" cy="502920"/>
          </a:xfrm>
          <a:prstGeom prst="roundRect">
            <a:avLst>
              <a:gd name="adj" fmla="val 10909"/>
            </a:avLst>
          </a:prstGeom>
          <a:solidFill>
            <a:srgbClr val="1E1E1E"/>
          </a:solidFill>
          <a:ln w="9525">
            <a:solidFill>
              <a:srgbClr val="333337"/>
            </a:solidFill>
            <a:prstDash val="solid"/>
          </a:ln>
        </p:spPr>
        <p:txBody>
          <a:bodyPr/>
          <a:lstStyle/>
          <a:p>
            <a:endParaRPr lang="en-ZA"/>
          </a:p>
        </p:txBody>
      </p:sp>
      <p:sp>
        <p:nvSpPr>
          <p:cNvPr id="34" name="Text 28"/>
          <p:cNvSpPr txBox="1"/>
          <p:nvPr/>
        </p:nvSpPr>
        <p:spPr>
          <a:xfrm>
            <a:off x="6565392" y="4800600"/>
            <a:ext cx="4967935" cy="502920"/>
          </a:xfrm>
          <a:prstGeom prst="rect">
            <a:avLst/>
          </a:prstGeom>
          <a:noFill/>
          <a:ln/>
        </p:spPr>
        <p:txBody>
          <a:bodyPr wrap="square" lIns="0" tIns="0" rIns="0" bIns="0" rtlCol="0" anchor="ctr"/>
          <a:lstStyle/>
          <a:p>
            <a:pPr marL="0" indent="0">
              <a:buNone/>
            </a:pPr>
            <a:r>
              <a:rPr lang="en-US" sz="880" dirty="0">
                <a:solidFill>
                  <a:srgbClr val="CE9178"/>
                </a:solidFill>
                <a:latin typeface="Courier New" pitchFamily="34" charset="0"/>
                <a:ea typeface="Courier New" pitchFamily="34" charset="-122"/>
                <a:cs typeface="Courier New" pitchFamily="34" charset="-120"/>
              </a:rPr>
              <a:t>"All Supporting Areas must be completed before a Pen Routine can be signed off."</a:t>
            </a:r>
            <a:endParaRPr lang="en-US" sz="880" dirty="0"/>
          </a:p>
        </p:txBody>
      </p:sp>
      <p:sp>
        <p:nvSpPr>
          <p:cNvPr id="35" name="Text 29"/>
          <p:cNvSpPr txBox="1"/>
          <p:nvPr/>
        </p:nvSpPr>
        <p:spPr>
          <a:xfrm>
            <a:off x="6400800" y="5486400"/>
            <a:ext cx="5242255" cy="365760"/>
          </a:xfrm>
          <a:prstGeom prst="rect">
            <a:avLst/>
          </a:prstGeom>
          <a:noFill/>
          <a:ln/>
        </p:spPr>
        <p:txBody>
          <a:bodyPr wrap="square" lIns="0" tIns="0" rIns="0" bIns="0" rtlCol="0" anchor="t"/>
          <a:lstStyle/>
          <a:p>
            <a:pPr marL="0" indent="0" algn="l">
              <a:spcAft>
                <a:spcPts val="300"/>
              </a:spcAft>
              <a:buNone/>
            </a:pPr>
            <a:r>
              <a:rPr lang="en-US" sz="1250" i="1" dirty="0">
                <a:solidFill>
                  <a:srgbClr val="E3ECF6"/>
                </a:solidFill>
                <a:latin typeface="Calibri" pitchFamily="34" charset="0"/>
                <a:ea typeface="Calibri" pitchFamily="34" charset="-122"/>
                <a:cs typeface="Calibri" pitchFamily="34" charset="-120"/>
              </a:rPr>
              <a:t>And a skill can't be signed off twice.</a:t>
            </a:r>
            <a:endParaRPr lang="en-US" sz="12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bg>
      <p:bgPr>
        <a:solidFill>
          <a:srgbClr val="0B1D33"/>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1695" cy="6858000"/>
          </a:xfrm>
          <a:prstGeom prst="rect">
            <a:avLst/>
          </a:prstGeom>
        </p:spPr>
      </p:pic>
      <p:sp>
        <p:nvSpPr>
          <p:cNvPr id="3" name="Text 0"/>
          <p:cNvSpPr txBox="1"/>
          <p:nvPr/>
        </p:nvSpPr>
        <p:spPr>
          <a:xfrm>
            <a:off x="731520" y="731520"/>
            <a:ext cx="5486400" cy="320040"/>
          </a:xfrm>
          <a:prstGeom prst="rect">
            <a:avLst/>
          </a:prstGeom>
          <a:noFill/>
          <a:ln/>
        </p:spPr>
        <p:txBody>
          <a:bodyPr wrap="square" lIns="0" tIns="0" rIns="0" bIns="0" rtlCol="0" anchor="ctr"/>
          <a:lstStyle/>
          <a:p>
            <a:pPr marL="0" indent="0">
              <a:buNone/>
            </a:pPr>
            <a:r>
              <a:rPr lang="en-US" sz="1300" b="1" kern="0" spc="500" dirty="0">
                <a:solidFill>
                  <a:srgbClr val="5ED3C6"/>
                </a:solidFill>
                <a:latin typeface="Calibri" pitchFamily="34" charset="0"/>
                <a:ea typeface="Calibri" pitchFamily="34" charset="-122"/>
                <a:cs typeface="Calibri" pitchFamily="34" charset="-120"/>
              </a:rPr>
              <a:t>WHAT'S NEXT</a:t>
            </a:r>
            <a:endParaRPr lang="en-US" sz="1300" dirty="0"/>
          </a:p>
        </p:txBody>
      </p:sp>
      <p:sp>
        <p:nvSpPr>
          <p:cNvPr id="4" name="Text 1"/>
          <p:cNvSpPr txBox="1"/>
          <p:nvPr/>
        </p:nvSpPr>
        <p:spPr>
          <a:xfrm>
            <a:off x="731520" y="1051560"/>
            <a:ext cx="10515600" cy="731520"/>
          </a:xfrm>
          <a:prstGeom prst="rect">
            <a:avLst/>
          </a:prstGeom>
          <a:noFill/>
          <a:ln/>
        </p:spPr>
        <p:txBody>
          <a:bodyPr wrap="square" lIns="0" tIns="0" rIns="0" bIns="0" rtlCol="0" anchor="ctr"/>
          <a:lstStyle/>
          <a:p>
            <a:pPr marL="0" indent="0">
              <a:buNone/>
            </a:pPr>
            <a:r>
              <a:rPr lang="en-US" sz="3600" b="1" dirty="0">
                <a:solidFill>
                  <a:srgbClr val="FFFFFF"/>
                </a:solidFill>
                <a:latin typeface="Calibri" pitchFamily="34" charset="0"/>
                <a:ea typeface="Calibri" pitchFamily="34" charset="-122"/>
                <a:cs typeface="Calibri" pitchFamily="34" charset="-120"/>
              </a:rPr>
              <a:t>Rules the roster can trust</a:t>
            </a:r>
            <a:endParaRPr lang="en-US" sz="3600" dirty="0"/>
          </a:p>
        </p:txBody>
      </p:sp>
      <p:sp>
        <p:nvSpPr>
          <p:cNvPr id="5" name="Shape 2"/>
          <p:cNvSpPr/>
          <p:nvPr/>
        </p:nvSpPr>
        <p:spPr>
          <a:xfrm>
            <a:off x="731520" y="2148840"/>
            <a:ext cx="3429000" cy="1325880"/>
          </a:xfrm>
          <a:prstGeom prst="roundRect">
            <a:avLst>
              <a:gd name="adj" fmla="val 8276"/>
            </a:avLst>
          </a:prstGeom>
          <a:solidFill>
            <a:srgbClr val="13304F"/>
          </a:solidFill>
          <a:ln w="12700">
            <a:solidFill>
              <a:srgbClr val="13304F"/>
            </a:solidFill>
            <a:prstDash val="solid"/>
          </a:ln>
        </p:spPr>
        <p:txBody>
          <a:bodyPr/>
          <a:lstStyle/>
          <a:p>
            <a:endParaRPr lang="en-ZA"/>
          </a:p>
        </p:txBody>
      </p:sp>
      <p:sp>
        <p:nvSpPr>
          <p:cNvPr id="6" name="Shape 3"/>
          <p:cNvSpPr/>
          <p:nvPr/>
        </p:nvSpPr>
        <p:spPr>
          <a:xfrm>
            <a:off x="932688" y="2496312"/>
            <a:ext cx="621792" cy="621792"/>
          </a:xfrm>
          <a:prstGeom prst="ellipse">
            <a:avLst/>
          </a:prstGeom>
          <a:solidFill>
            <a:srgbClr val="0B1D33"/>
          </a:solidFill>
          <a:ln w="12700">
            <a:solidFill>
              <a:srgbClr val="0B1D33"/>
            </a:solidFill>
            <a:prstDash val="solid"/>
          </a:ln>
        </p:spPr>
        <p:txBody>
          <a:bodyPr/>
          <a:lstStyle/>
          <a:p>
            <a:endParaRPr lang="en-ZA"/>
          </a:p>
        </p:txBody>
      </p:sp>
      <p:pic>
        <p:nvPicPr>
          <p:cNvPr id="7" name="Image 1" descr="preencoded.png"/>
          <p:cNvPicPr>
            <a:picLocks noChangeAspect="1"/>
          </p:cNvPicPr>
          <p:nvPr/>
        </p:nvPicPr>
        <p:blipFill>
          <a:blip r:embed="rId4"/>
          <a:stretch>
            <a:fillRect/>
          </a:stretch>
        </p:blipFill>
        <p:spPr>
          <a:xfrm>
            <a:off x="1088136" y="2651760"/>
            <a:ext cx="310896" cy="310896"/>
          </a:xfrm>
          <a:prstGeom prst="rect">
            <a:avLst/>
          </a:prstGeom>
        </p:spPr>
      </p:pic>
      <p:sp>
        <p:nvSpPr>
          <p:cNvPr id="8" name="Text 4"/>
          <p:cNvSpPr txBox="1"/>
          <p:nvPr/>
        </p:nvSpPr>
        <p:spPr>
          <a:xfrm>
            <a:off x="1719072" y="2258568"/>
            <a:ext cx="2286000" cy="1097280"/>
          </a:xfrm>
          <a:prstGeom prst="rect">
            <a:avLst/>
          </a:prstGeom>
          <a:noFill/>
          <a:ln/>
        </p:spPr>
        <p:txBody>
          <a:bodyPr wrap="square" lIns="0" tIns="0" rIns="0" bIns="0" rtlCol="0" anchor="ctr"/>
          <a:lstStyle/>
          <a:p>
            <a:pPr marL="0" indent="0">
              <a:spcAft>
                <a:spcPts val="300"/>
              </a:spcAft>
              <a:buNone/>
            </a:pPr>
            <a:r>
              <a:rPr lang="en-US" sz="1500" b="1" dirty="0">
                <a:solidFill>
                  <a:srgbClr val="FFFFFF"/>
                </a:solidFill>
                <a:latin typeface="Calibri" pitchFamily="34" charset="0"/>
                <a:ea typeface="Calibri" pitchFamily="34" charset="-122"/>
                <a:cs typeface="Calibri" pitchFamily="34" charset="-120"/>
              </a:rPr>
              <a:t>Fairer rosters</a:t>
            </a:r>
            <a:endParaRPr lang="en-US" sz="1500" dirty="0"/>
          </a:p>
          <a:p>
            <a:pPr marL="0" indent="0">
              <a:spcAft>
                <a:spcPts val="300"/>
              </a:spcAft>
              <a:buNone/>
            </a:pPr>
            <a:r>
              <a:rPr lang="en-US" sz="1250" dirty="0">
                <a:solidFill>
                  <a:srgbClr val="93ACC6"/>
                </a:solidFill>
                <a:latin typeface="Calibri" pitchFamily="34" charset="0"/>
                <a:ea typeface="Calibri" pitchFamily="34" charset="-122"/>
                <a:cs typeface="Calibri" pitchFamily="34" charset="-120"/>
              </a:rPr>
              <a:t>Rotate who gets tried first, instead of always the same volunteers</a:t>
            </a:r>
            <a:endParaRPr lang="en-US" sz="1500" dirty="0"/>
          </a:p>
        </p:txBody>
      </p:sp>
      <p:sp>
        <p:nvSpPr>
          <p:cNvPr id="9" name="Shape 5"/>
          <p:cNvSpPr/>
          <p:nvPr/>
        </p:nvSpPr>
        <p:spPr>
          <a:xfrm>
            <a:off x="4434840" y="2148840"/>
            <a:ext cx="3429000" cy="1325880"/>
          </a:xfrm>
          <a:prstGeom prst="roundRect">
            <a:avLst>
              <a:gd name="adj" fmla="val 8276"/>
            </a:avLst>
          </a:prstGeom>
          <a:solidFill>
            <a:srgbClr val="13304F"/>
          </a:solidFill>
          <a:ln w="12700">
            <a:solidFill>
              <a:srgbClr val="13304F"/>
            </a:solidFill>
            <a:prstDash val="solid"/>
          </a:ln>
        </p:spPr>
        <p:txBody>
          <a:bodyPr/>
          <a:lstStyle/>
          <a:p>
            <a:endParaRPr lang="en-ZA"/>
          </a:p>
        </p:txBody>
      </p:sp>
      <p:sp>
        <p:nvSpPr>
          <p:cNvPr id="10" name="Shape 6"/>
          <p:cNvSpPr/>
          <p:nvPr/>
        </p:nvSpPr>
        <p:spPr>
          <a:xfrm>
            <a:off x="4636008" y="2496312"/>
            <a:ext cx="621792" cy="621792"/>
          </a:xfrm>
          <a:prstGeom prst="ellipse">
            <a:avLst/>
          </a:prstGeom>
          <a:solidFill>
            <a:srgbClr val="0B1D33"/>
          </a:solidFill>
          <a:ln w="12700">
            <a:solidFill>
              <a:srgbClr val="0B1D33"/>
            </a:solidFill>
            <a:prstDash val="solid"/>
          </a:ln>
        </p:spPr>
        <p:txBody>
          <a:bodyPr/>
          <a:lstStyle/>
          <a:p>
            <a:endParaRPr lang="en-ZA"/>
          </a:p>
        </p:txBody>
      </p:sp>
      <p:pic>
        <p:nvPicPr>
          <p:cNvPr id="11" name="Image 2" descr="preencoded.png"/>
          <p:cNvPicPr>
            <a:picLocks noChangeAspect="1"/>
          </p:cNvPicPr>
          <p:nvPr/>
        </p:nvPicPr>
        <p:blipFill>
          <a:blip r:embed="rId5"/>
          <a:stretch>
            <a:fillRect/>
          </a:stretch>
        </p:blipFill>
        <p:spPr>
          <a:xfrm>
            <a:off x="4791456" y="2651760"/>
            <a:ext cx="310896" cy="310896"/>
          </a:xfrm>
          <a:prstGeom prst="rect">
            <a:avLst/>
          </a:prstGeom>
        </p:spPr>
      </p:pic>
      <p:sp>
        <p:nvSpPr>
          <p:cNvPr id="12" name="Text 7"/>
          <p:cNvSpPr txBox="1"/>
          <p:nvPr/>
        </p:nvSpPr>
        <p:spPr>
          <a:xfrm>
            <a:off x="5422392" y="2258568"/>
            <a:ext cx="2286000" cy="1097280"/>
          </a:xfrm>
          <a:prstGeom prst="rect">
            <a:avLst/>
          </a:prstGeom>
          <a:noFill/>
          <a:ln/>
        </p:spPr>
        <p:txBody>
          <a:bodyPr wrap="square" lIns="0" tIns="0" rIns="0" bIns="0" rtlCol="0" anchor="ctr"/>
          <a:lstStyle/>
          <a:p>
            <a:pPr marL="0" indent="0">
              <a:spcAft>
                <a:spcPts val="300"/>
              </a:spcAft>
              <a:buNone/>
            </a:pPr>
            <a:r>
              <a:rPr lang="en-US" sz="1500" b="1" dirty="0">
                <a:solidFill>
                  <a:srgbClr val="FFFFFF"/>
                </a:solidFill>
                <a:latin typeface="Calibri" pitchFamily="34" charset="0"/>
                <a:ea typeface="Calibri" pitchFamily="34" charset="-122"/>
                <a:cs typeface="Calibri" pitchFamily="34" charset="-120"/>
              </a:rPr>
              <a:t>South African time</a:t>
            </a:r>
            <a:endParaRPr lang="en-US" sz="1500" dirty="0"/>
          </a:p>
          <a:p>
            <a:pPr marL="0" indent="0">
              <a:spcAft>
                <a:spcPts val="300"/>
              </a:spcAft>
              <a:buNone/>
            </a:pPr>
            <a:r>
              <a:rPr lang="en-US" sz="1250" dirty="0">
                <a:solidFill>
                  <a:srgbClr val="93ACC6"/>
                </a:solidFill>
                <a:latin typeface="Calibri" pitchFamily="34" charset="0"/>
                <a:ea typeface="Calibri" pitchFamily="34" charset="-122"/>
                <a:cs typeface="Calibri" pitchFamily="34" charset="-120"/>
              </a:rPr>
              <a:t>Run the 18:00 reminders in local time, not server UTC</a:t>
            </a:r>
            <a:endParaRPr lang="en-US" sz="1500" dirty="0"/>
          </a:p>
        </p:txBody>
      </p:sp>
      <p:sp>
        <p:nvSpPr>
          <p:cNvPr id="13" name="Shape 8"/>
          <p:cNvSpPr/>
          <p:nvPr/>
        </p:nvSpPr>
        <p:spPr>
          <a:xfrm>
            <a:off x="8138160" y="2148840"/>
            <a:ext cx="3429000" cy="1325880"/>
          </a:xfrm>
          <a:prstGeom prst="roundRect">
            <a:avLst>
              <a:gd name="adj" fmla="val 8276"/>
            </a:avLst>
          </a:prstGeom>
          <a:solidFill>
            <a:srgbClr val="13304F"/>
          </a:solidFill>
          <a:ln w="12700">
            <a:solidFill>
              <a:srgbClr val="13304F"/>
            </a:solidFill>
            <a:prstDash val="solid"/>
          </a:ln>
        </p:spPr>
        <p:txBody>
          <a:bodyPr/>
          <a:lstStyle/>
          <a:p>
            <a:endParaRPr lang="en-ZA"/>
          </a:p>
        </p:txBody>
      </p:sp>
      <p:sp>
        <p:nvSpPr>
          <p:cNvPr id="14" name="Shape 9"/>
          <p:cNvSpPr/>
          <p:nvPr/>
        </p:nvSpPr>
        <p:spPr>
          <a:xfrm>
            <a:off x="8339328" y="2496312"/>
            <a:ext cx="621792" cy="621792"/>
          </a:xfrm>
          <a:prstGeom prst="ellipse">
            <a:avLst/>
          </a:prstGeom>
          <a:solidFill>
            <a:srgbClr val="0B1D33"/>
          </a:solidFill>
          <a:ln w="12700">
            <a:solidFill>
              <a:srgbClr val="0B1D33"/>
            </a:solidFill>
            <a:prstDash val="solid"/>
          </a:ln>
        </p:spPr>
        <p:txBody>
          <a:bodyPr/>
          <a:lstStyle/>
          <a:p>
            <a:endParaRPr lang="en-ZA"/>
          </a:p>
        </p:txBody>
      </p:sp>
      <p:pic>
        <p:nvPicPr>
          <p:cNvPr id="15" name="Image 3" descr="preencoded.png"/>
          <p:cNvPicPr>
            <a:picLocks noChangeAspect="1"/>
          </p:cNvPicPr>
          <p:nvPr/>
        </p:nvPicPr>
        <p:blipFill>
          <a:blip r:embed="rId6"/>
          <a:stretch>
            <a:fillRect/>
          </a:stretch>
        </p:blipFill>
        <p:spPr>
          <a:xfrm>
            <a:off x="8494776" y="2651760"/>
            <a:ext cx="310896" cy="310896"/>
          </a:xfrm>
          <a:prstGeom prst="rect">
            <a:avLst/>
          </a:prstGeom>
        </p:spPr>
      </p:pic>
      <p:sp>
        <p:nvSpPr>
          <p:cNvPr id="16" name="Text 10"/>
          <p:cNvSpPr txBox="1"/>
          <p:nvPr/>
        </p:nvSpPr>
        <p:spPr>
          <a:xfrm>
            <a:off x="9125712" y="2258568"/>
            <a:ext cx="2286000" cy="1097280"/>
          </a:xfrm>
          <a:prstGeom prst="rect">
            <a:avLst/>
          </a:prstGeom>
          <a:noFill/>
          <a:ln/>
        </p:spPr>
        <p:txBody>
          <a:bodyPr wrap="square" lIns="0" tIns="0" rIns="0" bIns="0" rtlCol="0" anchor="ctr"/>
          <a:lstStyle/>
          <a:p>
            <a:pPr marL="0" indent="0">
              <a:spcAft>
                <a:spcPts val="300"/>
              </a:spcAft>
              <a:buNone/>
            </a:pPr>
            <a:r>
              <a:rPr lang="en-US" sz="1500" b="1" dirty="0">
                <a:solidFill>
                  <a:srgbClr val="FFFFFF"/>
                </a:solidFill>
                <a:latin typeface="Calibri" pitchFamily="34" charset="0"/>
                <a:ea typeface="Calibri" pitchFamily="34" charset="-122"/>
                <a:cs typeface="Calibri" pitchFamily="34" charset="-120"/>
              </a:rPr>
              <a:t>One bird ratio</a:t>
            </a:r>
            <a:endParaRPr lang="en-US" sz="1500" dirty="0"/>
          </a:p>
          <a:p>
            <a:pPr marL="0" indent="0">
              <a:spcAft>
                <a:spcPts val="300"/>
              </a:spcAft>
              <a:buNone/>
            </a:pPr>
            <a:r>
              <a:rPr lang="en-US" sz="1250" dirty="0">
                <a:solidFill>
                  <a:srgbClr val="93ACC6"/>
                </a:solidFill>
                <a:latin typeface="Calibri" pitchFamily="34" charset="0"/>
                <a:ea typeface="Calibri" pitchFamily="34" charset="-122"/>
                <a:cs typeface="Calibri" pitchFamily="34" charset="-120"/>
              </a:rPr>
              <a:t>Agree on 25 or 30 across the web form and the API</a:t>
            </a:r>
            <a:endParaRPr lang="en-US" sz="1500" dirty="0"/>
          </a:p>
        </p:txBody>
      </p:sp>
      <p:sp>
        <p:nvSpPr>
          <p:cNvPr id="17" name="Text 11"/>
          <p:cNvSpPr txBox="1"/>
          <p:nvPr/>
        </p:nvSpPr>
        <p:spPr>
          <a:xfrm>
            <a:off x="731520" y="3840480"/>
            <a:ext cx="5486400" cy="548640"/>
          </a:xfrm>
          <a:prstGeom prst="rect">
            <a:avLst/>
          </a:prstGeom>
          <a:noFill/>
          <a:ln/>
        </p:spPr>
        <p:txBody>
          <a:bodyPr wrap="square" lIns="0" tIns="0" rIns="0" bIns="0" rtlCol="0" anchor="ctr"/>
          <a:lstStyle/>
          <a:p>
            <a:pPr marL="0" indent="0">
              <a:buNone/>
            </a:pPr>
            <a:r>
              <a:rPr lang="en-US" sz="2400" dirty="0">
                <a:solidFill>
                  <a:srgbClr val="E3ECF6"/>
                </a:solidFill>
                <a:latin typeface="Calibri" pitchFamily="34" charset="0"/>
                <a:ea typeface="Calibri" pitchFamily="34" charset="-122"/>
                <a:cs typeface="Calibri" pitchFamily="34" charset="-120"/>
              </a:rPr>
              <a:t>Thank you</a:t>
            </a:r>
            <a:endParaRPr lang="en-US" sz="2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479</TotalTime>
  <Words>1919</Words>
  <Application>Microsoft Office PowerPoint</Application>
  <PresentationFormat>Widescreen</PresentationFormat>
  <Paragraphs>388</Paragraphs>
  <Slides>16</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Under the Hood: Shifts, Rosters and Training</dc:title>
  <dc:subject>PptxGenJS Presentation</dc:subject>
  <dc:creator>PptxGenJS</dc:creator>
  <cp:lastModifiedBy>max harvey</cp:lastModifiedBy>
  <cp:revision>2</cp:revision>
  <cp:lastPrinted>2026-10-04T17:28:06Z</cp:lastPrinted>
  <dcterms:created xsi:type="dcterms:W3CDTF">2026-10-03T07:38:33Z</dcterms:created>
  <dcterms:modified xsi:type="dcterms:W3CDTF">2026-10-04T22:08:24Z</dcterms:modified>
</cp:coreProperties>
</file>